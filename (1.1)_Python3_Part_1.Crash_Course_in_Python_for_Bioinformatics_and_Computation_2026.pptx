
<file path=[Content_Types].xml><?xml version="1.0" encoding="utf-8"?>
<Types xmlns="http://schemas.openxmlformats.org/package/2006/content-types">
  <Default Extension="xml" ContentType="application/xml"/>
  <Default Extension="svg" ContentType="image/svg+xml"/>
  <Default Extension="jpeg" ContentType="image/jpeg"/>
  <Default Extension="wmf" ContentType="image/x-wmf"/>
  <Default Extension="png" ContentType="image/png"/>
  <Default Extension="rels" ContentType="application/vnd.openxmlformats-package.relationships+xml"/>
  <Default Extension="jpg" ContentType="image/jpeg"/>
  <Default Extension="bin" ContentType="application/vnd.openxmlformats-officedocument.oleObject"/>
  <Override PartName="/ppt/notesSlides/notesSlide82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2.xml" ContentType="application/vnd.openxmlformats-officedocument.presentationml.notesSlide+xml"/>
  <Override PartName="/ppt/slides/slide83.xml" ContentType="application/vnd.openxmlformats-officedocument.presentationml.slide+xml"/>
  <Override PartName="/ppt/slides/slide82.xml" ContentType="application/vnd.openxmlformats-officedocument.presentationml.slide+xml"/>
  <Override PartName="/ppt/slides/slide81.xml" ContentType="application/vnd.openxmlformats-officedocument.presentationml.slide+xml"/>
  <Override PartName="/ppt/notesSlides/notesSlide58.xml" ContentType="application/vnd.openxmlformats-officedocument.presentationml.notesSlide+xml"/>
  <Override PartName="/ppt/notesSlides/notesSlide24.xml" ContentType="application/vnd.openxmlformats-officedocument.presentationml.notesSlide+xml"/>
  <Override PartName="/ppt/slides/slide80.xml" ContentType="application/vnd.openxmlformats-officedocument.presentationml.slide+xml"/>
  <Override PartName="/ppt/slides/slide78.xml" ContentType="application/vnd.openxmlformats-officedocument.presentationml.slide+xml"/>
  <Override PartName="/ppt/slides/slide77.xml" ContentType="application/vnd.openxmlformats-officedocument.presentationml.slide+xml"/>
  <Override PartName="/ppt/notesSlides/notesSlide76.xml" ContentType="application/vnd.openxmlformats-officedocument.presentationml.notesSlide+xml"/>
  <Override PartName="/ppt/slides/slide54.xml" ContentType="application/vnd.openxmlformats-officedocument.presentationml.slide+xml"/>
  <Override PartName="/ppt/slides/slide74.xml" ContentType="application/vnd.openxmlformats-officedocument.presentationml.slide+xml"/>
  <Override PartName="/ppt/slides/slide73.xml" ContentType="application/vnd.openxmlformats-officedocument.presentationml.slide+xml"/>
  <Override PartName="/ppt/slides/slide70.xml" ContentType="application/vnd.openxmlformats-officedocument.presentationml.slide+xml"/>
  <Override PartName="/ppt/slides/slide64.xml" ContentType="application/vnd.openxmlformats-officedocument.presentationml.slide+xml"/>
  <Override PartName="/ppt/slides/slide66.xml" ContentType="application/vnd.openxmlformats-officedocument.presentationml.slide+xml"/>
  <Override PartName="/ppt/notesSlides/notesSlide61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61.xml" ContentType="application/vnd.openxmlformats-officedocument.presentationml.slide+xml"/>
  <Override PartName="/ppt/slides/slide60.xml" ContentType="application/vnd.openxmlformats-officedocument.presentationml.slide+xml"/>
  <Override PartName="/ppt/notesSlides/notesSlide68.xml" ContentType="application/vnd.openxmlformats-officedocument.presentationml.notesSlide+xml"/>
  <Override PartName="/ppt/notesSlides/notesSlide11.xml" ContentType="application/vnd.openxmlformats-officedocument.presentationml.notesSlide+xml"/>
  <Override PartName="/ppt/slides/slide4.xml" ContentType="application/vnd.openxmlformats-officedocument.presentationml.slide+xml"/>
  <Override PartName="/ppt/slides/slide58.xml" ContentType="application/vnd.openxmlformats-officedocument.presentationml.slide+xml"/>
  <Override PartName="/ppt/slides/slide56.xml" ContentType="application/vnd.openxmlformats-officedocument.presentationml.slide+xml"/>
  <Override PartName="/ppt/notesSlides/notesSlide78.xml" ContentType="application/vnd.openxmlformats-officedocument.presentationml.notesSlide+xml"/>
  <Override PartName="/ppt/notesSlides/notesSlide45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s/slide53.xml" ContentType="application/vnd.openxmlformats-officedocument.presentationml.slide+xml"/>
  <Override PartName="/ppt/slides/slide17.xml" ContentType="application/vnd.openxmlformats-officedocument.presentationml.slide+xml"/>
  <Override PartName="/ppt/slides/slide50.xml" ContentType="application/vnd.openxmlformats-officedocument.presentationml.slide+xml"/>
  <Override PartName="/ppt/slides/slide59.xml" ContentType="application/vnd.openxmlformats-officedocument.presentationml.slide+xml"/>
  <Override PartName="/ppt/slides/slide48.xml" ContentType="application/vnd.openxmlformats-officedocument.presentationml.slide+xml"/>
  <Override PartName="/ppt/slides/slide79.xml" ContentType="application/vnd.openxmlformats-officedocument.presentationml.slide+xml"/>
  <Override PartName="/ppt/slides/slide76.xml" ContentType="application/vnd.openxmlformats-officedocument.presentationml.slide+xml"/>
  <Override PartName="/ppt/slides/slide47.xml" ContentType="application/vnd.openxmlformats-officedocument.presentationml.slide+xml"/>
  <Override PartName="/ppt/slides/slide46.xml" ContentType="application/vnd.openxmlformats-officedocument.presentationml.slide+xml"/>
  <Override PartName="/ppt/slideLayouts/slideLayout1.xml" ContentType="application/vnd.openxmlformats-officedocument.presentationml.slideLayout+xml"/>
  <Override PartName="/ppt/slides/slide44.xml" ContentType="application/vnd.openxmlformats-officedocument.presentationml.slide+xml"/>
  <Override PartName="/ppt/notesSlides/notesSlide25.xml" ContentType="application/vnd.openxmlformats-officedocument.presentationml.notesSlide+xml"/>
  <Override PartName="/ppt/slideLayouts/slideLayout10.xml" ContentType="application/vnd.openxmlformats-officedocument.presentationml.slideLayout+xml"/>
  <Override PartName="/ppt/slides/slide43.xml" ContentType="application/vnd.openxmlformats-officedocument.presentationml.slide+xml"/>
  <Override PartName="/ppt/slides/slide72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21.xml" ContentType="application/vnd.openxmlformats-officedocument.presentationml.slide+xml"/>
  <Override PartName="/ppt/slides/slide55.xml" ContentType="application/vnd.openxmlformats-officedocument.presentationml.slide+xml"/>
  <Override PartName="/ppt/slides/slide33.xml" ContentType="application/vnd.openxmlformats-officedocument.presentationml.slide+xml"/>
  <Override PartName="/ppt/slides/slide52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slides/slide41.xml" ContentType="application/vnd.openxmlformats-officedocument.presentationml.slide+xml"/>
  <Override PartName="/ppt/slides/slide27.xml" ContentType="application/vnd.openxmlformats-officedocument.presentationml.slide+xml"/>
  <Override PartName="/ppt/slides/slide40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38.xml" ContentType="application/vnd.openxmlformats-officedocument.presentationml.slide+xml"/>
  <Override PartName="/ppt/slides/slide35.xml" ContentType="application/vnd.openxmlformats-officedocument.presentationml.slide+xml"/>
  <Override PartName="/ppt/slides/slide69.xml" ContentType="application/vnd.openxmlformats-officedocument.presentationml.slide+xml"/>
  <Override PartName="/ppt/slides/slide34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32.xml" ContentType="application/vnd.openxmlformats-officedocument.presentationml.slide+xml"/>
  <Override PartName="/ppt/slides/slide31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39.xml" ContentType="application/vnd.openxmlformats-officedocument.presentationml.slide+xml"/>
  <Override PartName="/ppt/slides/slide30.xml" ContentType="application/vnd.openxmlformats-officedocument.presentationml.slide+xml"/>
  <Override PartName="/ppt/slides/slide29.xml" ContentType="application/vnd.openxmlformats-officedocument.presentationml.slide+xml"/>
  <Override PartName="/ppt/slides/slide26.xml" ContentType="application/vnd.openxmlformats-officedocument.presentationml.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68.xml" ContentType="application/vnd.openxmlformats-officedocument.presentationml.slide+xml"/>
  <Override PartName="/ppt/slides/slide65.xml" ContentType="application/vnd.openxmlformats-officedocument.presentationml.slide+xml"/>
  <Override PartName="/ppt/notesSlides/notesSlide73.xml" ContentType="application/vnd.openxmlformats-officedocument.presentationml.notesSlide+xml"/>
  <Override PartName="/ppt/notesSlides/notesSlide65.xml" ContentType="application/vnd.openxmlformats-officedocument.presentationml.notesSlide+xml"/>
  <Override PartName="/ppt/slides/slide63.xml" ContentType="application/vnd.openxmlformats-officedocument.presentationml.slide+xml"/>
  <Override PartName="/ppt/slides/slide22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20.xml" ContentType="application/vnd.openxmlformats-officedocument.presentationml.slide+xml"/>
  <Override PartName="/ppt/slides/slide19.xml" ContentType="application/vnd.openxmlformats-officedocument.presentationml.slide+xml"/>
  <Override PartName="/ppt/slides/slide16.xml" ContentType="application/vnd.openxmlformats-officedocument.presentationml.slide+xml"/>
  <Override PartName="/ppt/tableStyles.xml" ContentType="application/vnd.openxmlformats-officedocument.presentationml.tableStyles+xml"/>
  <Override PartName="/ppt/slides/slide71.xml" ContentType="application/vnd.openxmlformats-officedocument.presentationml.slide+xml"/>
  <Override PartName="/ppt/slides/slide13.xml" ContentType="application/vnd.openxmlformats-officedocument.presentationml.slide+xml"/>
  <Override PartName="/docProps/custom.xml" ContentType="application/vnd.openxmlformats-officedocument.custom-properties+xml"/>
  <Override PartName="/ppt/slides/slide11.xml" ContentType="application/vnd.openxmlformats-officedocument.presentationml.slide+xml"/>
  <Override PartName="/ppt/slides/slide49.xml" ContentType="application/vnd.openxmlformats-officedocument.presentationml.slide+xml"/>
  <Override PartName="/ppt/slides/slide9.xml" ContentType="application/vnd.openxmlformats-officedocument.presentationml.slide+xml"/>
  <Override PartName="/ppt/slides/slide67.xml" ContentType="application/vnd.openxmlformats-officedocument.presentationml.slide+xml"/>
  <Override PartName="/ppt/slides/slide15.xml" ContentType="application/vnd.openxmlformats-officedocument.presentationml.slide+xml"/>
  <Override PartName="/ppt/slides/slide8.xml" ContentType="application/vnd.openxmlformats-officedocument.presentationml.slide+xml"/>
  <Override PartName="/ppt/slideLayouts/slideLayout2.xml" ContentType="application/vnd.openxmlformats-officedocument.presentationml.slideLayout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notesSlides/notesSlide48.xml" ContentType="application/vnd.openxmlformats-officedocument.presentationml.notesSlide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notesSlides/notesSlide47.xml" ContentType="application/vnd.openxmlformats-officedocument.presentationml.notesSlide+xml"/>
  <Override PartName="/ppt/notesSlides/notesSlide41.xml" ContentType="application/vnd.openxmlformats-officedocument.presentationml.notes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8.xml" ContentType="application/vnd.openxmlformats-officedocument.presentationml.slide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ppt/viewProps.xml" ContentType="application/vnd.openxmlformats-officedocument.presentationml.viewProps+xml"/>
  <Override PartName="/ppt/notesSlides/notesSlide27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10.xml" ContentType="application/vnd.openxmlformats-officedocument.presentationml.slide+xml"/>
  <Override PartName="/ppt/slideLayouts/slideLayout9.xml" ContentType="application/vnd.openxmlformats-officedocument.presentationml.slideLayout+xml"/>
  <Override PartName="/ppt/notesSlides/notesSlide53.xml" ContentType="application/vnd.openxmlformats-officedocument.presentationml.notesSlide+xml"/>
  <Override PartName="/ppt/notesSlides/notesSlide38.xml" ContentType="application/vnd.openxmlformats-officedocument.presentationml.notesSlide+xml"/>
  <Override PartName="/ppt/slides/slide45.xml" ContentType="application/vnd.openxmlformats-officedocument.presentationml.slide+xml"/>
  <Override PartName="/docProps/app.xml" ContentType="application/vnd.openxmlformats-officedocument.extended-properties+xml"/>
  <Override PartName="/ppt/slides/slide62.xml" ContentType="application/vnd.openxmlformats-officedocument.presentationml.slide+xml"/>
  <Override PartName="/ppt/slides/slide12.xml" ContentType="application/vnd.openxmlformats-officedocument.presentationml.slide+xml"/>
  <Override PartName="/ppt/notesSlides/notesSlide81.xml" ContentType="application/vnd.openxmlformats-officedocument.presentationml.notesSlide+xml"/>
  <Override PartName="/ppt/theme/theme1.xml" ContentType="application/vnd.openxmlformats-officedocument.theme+xml"/>
  <Override PartName="/ppt/slides/slide75.xml" ContentType="application/vnd.openxmlformats-officedocument.presentationml.slide+xml"/>
  <Override PartName="/ppt/notesSlides/notesSlide26.xml" ContentType="application/vnd.openxmlformats-officedocument.presentationml.notesSlide+xml"/>
  <Override PartName="/ppt/slideLayouts/slideLayout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36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slide14.xml" ContentType="application/vnd.openxmlformats-officedocument.presentationml.slid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notesSlides/notesSlide54.xml" ContentType="application/vnd.openxmlformats-officedocument.presentationml.notesSlide+xml"/>
  <Override PartName="/ppt/notesSlides/notesSlide37.xml" ContentType="application/vnd.openxmlformats-officedocument.presentationml.notesSlide+xml"/>
  <Override PartName="/ppt/slides/slide57.xml" ContentType="application/vnd.openxmlformats-officedocument.presentationml.slide+xml"/>
  <Override PartName="/ppt/slides/slide51.xml" ContentType="application/vnd.openxmlformats-officedocument.presentationml.slide+xml"/>
  <Override PartName="/ppt/slides/slide37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87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  <p:sldId id="326" r:id="rId74"/>
    <p:sldId id="327" r:id="rId75"/>
    <p:sldId id="328" r:id="rId76"/>
    <p:sldId id="329" r:id="rId77"/>
    <p:sldId id="330" r:id="rId78"/>
    <p:sldId id="331" r:id="rId79"/>
    <p:sldId id="332" r:id="rId80"/>
    <p:sldId id="333" r:id="rId81"/>
    <p:sldId id="334" r:id="rId82"/>
    <p:sldId id="335" r:id="rId83"/>
    <p:sldId id="336" r:id="rId84"/>
    <p:sldId id="337" r:id="rId85"/>
    <p:sldId id="338" r:id="rId86"/>
  </p:sldIdLst>
  <p:sldSz cx="9144000" cy="6858000" type="screen4x3"/>
  <p:notesSz cx="6858000" cy="9144000"/>
  <p:defaultTextStyle>
    <a:defPPr>
      <a:defRPr lang="en-US"/>
    </a:defPPr>
    <a:lvl1pPr marL="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7DF18680-E054-41AD-8BC1-D1AEF772440D}"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  <a:fill>
          <a:solidFill>
            <a:schemeClr val="accent5">
              <a:tint val="40000"/>
            </a:schemeClr>
          </a:solidFill>
        </a:fill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82" d="100"/>
          <a:sy n="82" d="100"/>
        </p:scale>
        <p:origin x="1968" y="168"/>
      </p:cViewPr>
      <p:guideLst>
        <p:guide pos="2880"/>
        <p:guide pos="216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slide" Target="slides/slide61.xml"/><Relationship Id="rId65" Type="http://schemas.openxmlformats.org/officeDocument/2006/relationships/slide" Target="slides/slide62.xml"/><Relationship Id="rId66" Type="http://schemas.openxmlformats.org/officeDocument/2006/relationships/slide" Target="slides/slide63.xml"/><Relationship Id="rId67" Type="http://schemas.openxmlformats.org/officeDocument/2006/relationships/slide" Target="slides/slide64.xml"/><Relationship Id="rId68" Type="http://schemas.openxmlformats.org/officeDocument/2006/relationships/slide" Target="slides/slide65.xml"/><Relationship Id="rId69" Type="http://schemas.openxmlformats.org/officeDocument/2006/relationships/slide" Target="slides/slide66.xml"/><Relationship Id="rId70" Type="http://schemas.openxmlformats.org/officeDocument/2006/relationships/slide" Target="slides/slide67.xml"/><Relationship Id="rId71" Type="http://schemas.openxmlformats.org/officeDocument/2006/relationships/slide" Target="slides/slide68.xml"/><Relationship Id="rId72" Type="http://schemas.openxmlformats.org/officeDocument/2006/relationships/slide" Target="slides/slide69.xml"/><Relationship Id="rId73" Type="http://schemas.openxmlformats.org/officeDocument/2006/relationships/slide" Target="slides/slide70.xml"/><Relationship Id="rId74" Type="http://schemas.openxmlformats.org/officeDocument/2006/relationships/slide" Target="slides/slide71.xml"/><Relationship Id="rId75" Type="http://schemas.openxmlformats.org/officeDocument/2006/relationships/slide" Target="slides/slide72.xml"/><Relationship Id="rId76" Type="http://schemas.openxmlformats.org/officeDocument/2006/relationships/slide" Target="slides/slide73.xml"/><Relationship Id="rId77" Type="http://schemas.openxmlformats.org/officeDocument/2006/relationships/slide" Target="slides/slide74.xml"/><Relationship Id="rId78" Type="http://schemas.openxmlformats.org/officeDocument/2006/relationships/slide" Target="slides/slide75.xml"/><Relationship Id="rId79" Type="http://schemas.openxmlformats.org/officeDocument/2006/relationships/slide" Target="slides/slide76.xml"/><Relationship Id="rId80" Type="http://schemas.openxmlformats.org/officeDocument/2006/relationships/slide" Target="slides/slide77.xml"/><Relationship Id="rId81" Type="http://schemas.openxmlformats.org/officeDocument/2006/relationships/slide" Target="slides/slide78.xml"/><Relationship Id="rId82" Type="http://schemas.openxmlformats.org/officeDocument/2006/relationships/slide" Target="slides/slide79.xml"/><Relationship Id="rId83" Type="http://schemas.openxmlformats.org/officeDocument/2006/relationships/slide" Target="slides/slide80.xml"/><Relationship Id="rId84" Type="http://schemas.openxmlformats.org/officeDocument/2006/relationships/slide" Target="slides/slide81.xml"/><Relationship Id="rId85" Type="http://schemas.openxmlformats.org/officeDocument/2006/relationships/slide" Target="slides/slide82.xml"/><Relationship Id="rId86" Type="http://schemas.openxmlformats.org/officeDocument/2006/relationships/slide" Target="slides/slide83.xml"/><Relationship Id="rId87" Type="http://schemas.openxmlformats.org/officeDocument/2006/relationships/notesMaster" Target="notesMasters/notesMaster1.xml"/><Relationship Id="rId88" Type="http://schemas.openxmlformats.org/officeDocument/2006/relationships/presProps" Target="presProps.xml" /><Relationship Id="rId89" Type="http://schemas.openxmlformats.org/officeDocument/2006/relationships/tableStyles" Target="tableStyles.xml" /><Relationship Id="rId90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3095903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238487730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ACFF9DE6-3DB2-5C4A-8EA0-0F0EDC8D34F2}" type="datetimeFigureOut">
              <a:rPr/>
              <a:t>6/2/25</a:t>
            </a:fld>
            <a:endParaRPr/>
          </a:p>
        </p:txBody>
      </p:sp>
      <p:sp>
        <p:nvSpPr>
          <p:cNvPr id="734828077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824957134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575240398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865889813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A10053E9-E61A-9247-B5E2-BF461398A154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 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 ?>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 ?>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 ?>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 ?>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 ?>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 ?>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 ?>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 ?>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 ?>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 ?>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 ?>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 ?>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 ?>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 ?>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 ?>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 ?>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 ?>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 ?>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 ?>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 ?>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 ?>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 ?>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 ?>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 ?>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 ?>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 ?>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 ?>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 ?>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 ?>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 ?>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 ?>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 ?>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 ?>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 ?>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 ?>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 ?>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 ?>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 ?>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 ?>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 ?>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 ?>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 ?>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 ?>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 ?>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 ?>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 ?>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 ?>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 ?>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 ?>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 ?>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 ?>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 ?>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 ?>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 ?>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 ?>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6577844" name="Rectangle 7"/>
          <p:cNvSpPr>
            <a:spLocks noChangeArrowheads="1" noGrp="1"/>
          </p:cNvSpPr>
          <p:nvPr>
            <p:ph type="sldNum" sz="quarter" idx="5"/>
          </p:nvPr>
        </p:nvSpPr>
        <p:spPr bwMode="auto">
          <a:prstGeom prst="rect">
            <a:avLst/>
          </a:prstGeom>
          <a:noFill/>
          <a:ln/>
        </p:spPr>
        <p:txBody>
          <a:bodyPr/>
          <a:lstStyle>
            <a:lvl1pPr>
              <a:spcBef>
                <a:spcPts val="0"/>
              </a:spcBef>
              <a:defRPr sz="1200">
                <a:solidFill>
                  <a:schemeClr val="tx1"/>
                </a:solidFill>
                <a:latin typeface="Times New Roman"/>
              </a:defRPr>
            </a:lvl1pPr>
            <a:lvl2pPr marL="742950" indent="-285750">
              <a:spcBef>
                <a:spcPts val="0"/>
              </a:spcBef>
              <a:defRPr sz="1200">
                <a:solidFill>
                  <a:schemeClr val="tx1"/>
                </a:solidFill>
                <a:latin typeface="Times New Roman"/>
              </a:defRPr>
            </a:lvl2pPr>
            <a:lvl3pPr marL="1143000" indent="-228600">
              <a:spcBef>
                <a:spcPts val="0"/>
              </a:spcBef>
              <a:defRPr sz="1200">
                <a:solidFill>
                  <a:schemeClr val="tx1"/>
                </a:solidFill>
                <a:latin typeface="Times New Roman"/>
              </a:defRPr>
            </a:lvl3pPr>
            <a:lvl4pPr marL="1600200" indent="-228600">
              <a:spcBef>
                <a:spcPts val="0"/>
              </a:spcBef>
              <a:defRPr sz="1200">
                <a:solidFill>
                  <a:schemeClr val="tx1"/>
                </a:solidFill>
                <a:latin typeface="Times New Roman"/>
              </a:defRPr>
            </a:lvl4pPr>
            <a:lvl5pPr marL="2057400" indent="-228600">
              <a:spcBef>
                <a:spcPts val="0"/>
              </a:spcBef>
              <a:defRPr sz="1200">
                <a:solidFill>
                  <a:schemeClr val="tx1"/>
                </a:solidFill>
                <a:latin typeface="Times New Roman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Times New Roman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Times New Roman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Times New Roman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  <a:latin typeface="Times New Roman"/>
              </a:defRPr>
            </a:lvl9pPr>
          </a:lstStyle>
          <a:p>
            <a:pPr>
              <a:spcBef>
                <a:spcPts val="0"/>
              </a:spcBef>
              <a:defRPr/>
            </a:pPr>
            <a:fld id="{6ED9112D-A6CC-439E-AA39-87A0F5AC98CE}" type="slidenum">
              <a:rPr lang="es-ES"/>
              <a:t>1</a:t>
            </a:fld>
            <a:endParaRPr lang="es-ES"/>
          </a:p>
        </p:txBody>
      </p:sp>
      <p:sp>
        <p:nvSpPr>
          <p:cNvPr id="665963010" name="Rectangle 2"/>
          <p:cNvSpPr>
            <a:spLocks noChangeArrowheads="1" noChangeAspect="1" noGrp="1" noRot="1" noTextEdit="1"/>
          </p:cNvSpPr>
          <p:nvPr>
            <p:ph type="sldImg"/>
          </p:nvPr>
        </p:nvSpPr>
        <p:spPr bwMode="auto">
          <a:ln/>
        </p:spPr>
      </p:sp>
      <p:sp>
        <p:nvSpPr>
          <p:cNvPr id="498899867" name="Rectangle 3"/>
          <p:cNvSpPr>
            <a:spLocks noChangeArrowheads="1" noGrp="1"/>
          </p:cNvSpPr>
          <p:nvPr>
            <p:ph type="body" idx="1"/>
          </p:nvPr>
        </p:nvSpPr>
        <p:spPr bwMode="auto">
          <a:prstGeom prst="rect">
            <a:avLst/>
          </a:prstGeom>
          <a:noFill/>
          <a:ln/>
        </p:spPr>
        <p:txBody>
          <a:bodyPr/>
          <a:lstStyle/>
          <a:p>
            <a:pPr>
              <a:defRPr/>
            </a:pPr>
            <a:endParaRPr lang="es-E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7D61C81-626D-6005-9E9A-19E813CCE15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3F55D87-BB58-C545-9C67-3AAE9399F43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FCA2629-2A6D-632A-87A1-6A4A5ED100B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3DE541-B6CE-745B-2C0F-24E097609B8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69CB44E-A4D5-727E-E56F-4A375EEB50A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195774F-DF43-3F39-8DD1-059662E2547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759C656-CE36-819A-DE8A-F36FC554B4A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0A0A59F-823B-FAB2-C709-4E840AAA654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DA2C88F-FCE7-7DDC-BA2F-5368FAA68F1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49B349B-70C4-7272-508B-00B678333CF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3437485-4011-EFFB-2BF8-62D3FA158A9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0788877-8B92-6D1A-94F3-C22722FB5C1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5A19F7A-82F4-0973-C95F-F6222338DE1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28C9E4E-0A18-63D5-9074-8D1CAC786BC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5F97564-4ED1-C58A-0089-9BB46043EAE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32D81C0-76C7-51AF-738C-A8893B677F1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FDF9F1C-8F50-5F55-3074-B2EF255FF6F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74354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24024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ways to reach the interpreter (command prompt, start menu on windows, shell),</a:t>
            </a:r>
            <a:endParaRPr/>
          </a:p>
        </p:txBody>
      </p:sp>
      <p:sp>
        <p:nvSpPr>
          <p:cNvPr id="1557656414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A10053E9-E61A-9247-B5E2-BF461398A154}" type="slidenum">
              <a:rPr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35801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264091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63017957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A10053E9-E61A-9247-B5E2-BF461398A154}" type="slidenum">
              <a:rPr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5569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111432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5730160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A10053E9-E61A-9247-B5E2-BF461398A154}" type="slidenum">
              <a:rPr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30153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33826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27707604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A10053E9-E61A-9247-B5E2-BF461398A154}" type="slidenum">
              <a:rPr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86828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955219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Discuss other ways to run.. Command enter (mac) others for </a:t>
            </a:r>
            <a:r>
              <a:rPr lang="en-US"/>
              <a:t>windowssd</a:t>
            </a:r>
            <a:endParaRPr lang="en-US"/>
          </a:p>
        </p:txBody>
      </p:sp>
      <p:sp>
        <p:nvSpPr>
          <p:cNvPr id="629428694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A10053E9-E61A-9247-B5E2-BF461398A154}" type="slidenum">
              <a:rPr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04486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080429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Discuss other ways to run.. Command enter (mac) others for </a:t>
            </a:r>
            <a:r>
              <a:rPr lang="en-US"/>
              <a:t>windowssd</a:t>
            </a:r>
            <a:endParaRPr lang="en-US"/>
          </a:p>
        </p:txBody>
      </p:sp>
      <p:sp>
        <p:nvSpPr>
          <p:cNvPr id="255703850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A10053E9-E61A-9247-B5E2-BF461398A154}" type="slidenum">
              <a:rPr/>
              <a:t>24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97323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82800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Discuss other ways to run.. Command enter (mac) others for </a:t>
            </a:r>
            <a:r>
              <a:rPr lang="en-US"/>
              <a:t>windowssd</a:t>
            </a:r>
            <a:endParaRPr lang="en-US"/>
          </a:p>
        </p:txBody>
      </p:sp>
      <p:sp>
        <p:nvSpPr>
          <p:cNvPr id="2110528070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A10053E9-E61A-9247-B5E2-BF461398A154}" type="slidenum">
              <a:rPr/>
              <a:t>25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96308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72867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Discuss other ways to run.. Command enter (mac) others for </a:t>
            </a:r>
            <a:r>
              <a:rPr lang="en-US"/>
              <a:t>windowssd</a:t>
            </a:r>
            <a:endParaRPr lang="en-US"/>
          </a:p>
        </p:txBody>
      </p:sp>
      <p:sp>
        <p:nvSpPr>
          <p:cNvPr id="356247425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A10053E9-E61A-9247-B5E2-BF461398A154}" type="slidenum">
              <a:rPr/>
              <a:t>26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31102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59075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Discuss other ways to run.. Command enter (mac) others for </a:t>
            </a:r>
            <a:r>
              <a:rPr lang="en-US"/>
              <a:t>windowssd</a:t>
            </a:r>
            <a:endParaRPr lang="en-US"/>
          </a:p>
        </p:txBody>
      </p:sp>
      <p:sp>
        <p:nvSpPr>
          <p:cNvPr id="753177816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A10053E9-E61A-9247-B5E2-BF461398A154}" type="slidenum">
              <a:rPr/>
              <a:t>27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7440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359681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Discuss other ways to run.. Command enter (mac) others for </a:t>
            </a:r>
            <a:r>
              <a:rPr lang="en-US"/>
              <a:t>windowssd</a:t>
            </a:r>
            <a:endParaRPr lang="en-US"/>
          </a:p>
        </p:txBody>
      </p:sp>
      <p:sp>
        <p:nvSpPr>
          <p:cNvPr id="1580945979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A10053E9-E61A-9247-B5E2-BF461398A154}" type="slidenum">
              <a:rPr/>
              <a:t>28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858467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447239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ways to reach the interpreter (command prompt, start menu on windows, shell),</a:t>
            </a:r>
            <a:endParaRPr/>
          </a:p>
        </p:txBody>
      </p:sp>
      <p:sp>
        <p:nvSpPr>
          <p:cNvPr id="1532001473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A10053E9-E61A-9247-B5E2-BF461398A154}" type="slidenum">
              <a:rPr/>
              <a:t>29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2405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861327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52105475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A10053E9-E61A-9247-B5E2-BF461398A154}" type="slidenum">
              <a:rPr/>
              <a:t>30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0638C0A-E212-17C7-E73B-0AD6F64CD8C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09264C-6D95-7578-948F-220F1562C39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D540C6-2856-1F6B-3757-42FE049CD7B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2BCAC90-F839-C51B-EF93-95BB2829227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94672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20075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78619799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A10053E9-E61A-9247-B5E2-BF461398A154}" type="slidenum">
              <a:rPr/>
              <a:t>35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34D515D-F485-E5A0-0038-B2F1CEA0DFF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2DFD24F-C1F9-B3FC-8D4E-A168147F528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577113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140159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50071942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A10053E9-E61A-9247-B5E2-BF461398A154}" type="slidenum">
              <a:rPr/>
              <a:t>38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34794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808101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13415606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A10053E9-E61A-9247-B5E2-BF461398A154}" type="slidenum">
              <a:rPr/>
              <a:t>39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79907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561410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41924411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A10053E9-E61A-9247-B5E2-BF461398A154}" type="slidenum">
              <a:rPr/>
              <a:t>40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97125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832335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68790755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A10053E9-E61A-9247-B5E2-BF461398A154}" type="slidenum">
              <a:rPr/>
              <a:t>41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355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70030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38787427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A10053E9-E61A-9247-B5E2-BF461398A154}" type="slidenum">
              <a:rPr/>
              <a:t>42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73312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26287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21959213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A10053E9-E61A-9247-B5E2-BF461398A154}" type="slidenum">
              <a:rPr/>
              <a:t>43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89431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749019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08719425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A10053E9-E61A-9247-B5E2-BF461398A154}" type="slidenum">
              <a:rPr/>
              <a:t>44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72424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369457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76749937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A10053E9-E61A-9247-B5E2-BF461398A154}" type="slidenum">
              <a:rPr/>
              <a:t>45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29398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539640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ways to reach the interpreter (command prompt, start menu on windows, shell),</a:t>
            </a:r>
            <a:endParaRPr/>
          </a:p>
        </p:txBody>
      </p:sp>
      <p:sp>
        <p:nvSpPr>
          <p:cNvPr id="1913883450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A10053E9-E61A-9247-B5E2-BF461398A154}" type="slidenum">
              <a:rPr/>
              <a:t>46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D0AB8CE-FCB1-53A2-5DF7-1CAE8DEA173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9F46BC-7DA4-5C0D-0B3A-EBEBB5D99E7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564F85-2665-F324-6BA6-141069FFC32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47C9401-A73E-9290-540C-F5A4DEA5E29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7EBC77A-44EE-59AC-2ED7-E3905DAED59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7CE6BA3-894F-B936-EA5B-8A41BD5FD4A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2120C0F-B78A-686C-76D1-8953A0FBFAE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82FA85-563C-98F1-B2AB-73BE1942C7E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012A1CB-C6B5-C9F7-8DA7-417A20EAA4D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BCF9759-AA1C-6E46-6E14-186D8930DF6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54957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136310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16153708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A10053E9-E61A-9247-B5E2-BF461398A154}" type="slidenum">
              <a:rPr/>
              <a:t>57</a:t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540016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354757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48450854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A10053E9-E61A-9247-B5E2-BF461398A154}" type="slidenum">
              <a:rPr/>
              <a:t>58</a:t>
            </a:fld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626081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428338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73517287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A10053E9-E61A-9247-B5E2-BF461398A154}" type="slidenum">
              <a:rPr/>
              <a:t>59</a:t>
            </a:fld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75004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183136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65174127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A10053E9-E61A-9247-B5E2-BF461398A154}" type="slidenum">
              <a:rPr/>
              <a:t>60</a:t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1650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084660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37860851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A10053E9-E61A-9247-B5E2-BF461398A154}" type="slidenum">
              <a:rPr/>
              <a:t>61</a:t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81433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308119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5551198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A10053E9-E61A-9247-B5E2-BF461398A154}" type="slidenum">
              <a:rPr/>
              <a:t>62</a:t>
            </a:fld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06160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283626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1083284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A10053E9-E61A-9247-B5E2-BF461398A154}" type="slidenum">
              <a:rPr/>
              <a:t>63</a:t>
            </a:fld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00270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935073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9578963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A10053E9-E61A-9247-B5E2-BF461398A154}" type="slidenum">
              <a:rPr/>
              <a:t>64</a:t>
            </a:fld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36786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903727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32355107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A10053E9-E61A-9247-B5E2-BF461398A154}" type="slidenum">
              <a:rPr/>
              <a:t>65</a:t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132638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239595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76084606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A10053E9-E61A-9247-B5E2-BF461398A154}" type="slidenum">
              <a:rPr/>
              <a:t>66</a:t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228836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587784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51059590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A10053E9-E61A-9247-B5E2-BF461398A154}" type="slidenum">
              <a:rPr/>
              <a:t>67</a:t>
            </a:fld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88712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494138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ways to reach the interpreter (command prompt, start menu on windows, shell),</a:t>
            </a:r>
            <a:endParaRPr/>
          </a:p>
        </p:txBody>
      </p:sp>
      <p:sp>
        <p:nvSpPr>
          <p:cNvPr id="1246290435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A10053E9-E61A-9247-B5E2-BF461398A154}" type="slidenum">
              <a:rPr/>
              <a:t>68</a:t>
            </a:fld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21651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904914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5903708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A10053E9-E61A-9247-B5E2-BF461398A154}" type="slidenum">
              <a:rPr/>
              <a:t>69</a:t>
            </a:fld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72995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166822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47514304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A10053E9-E61A-9247-B5E2-BF461398A154}" type="slidenum">
              <a:rPr/>
              <a:t>70</a:t>
            </a:fld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274947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403130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41060856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A10053E9-E61A-9247-B5E2-BF461398A154}" type="slidenum">
              <a:rPr/>
              <a:t>71</a:t>
            </a:fld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827902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98684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85645196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A10053E9-E61A-9247-B5E2-BF461398A154}" type="slidenum">
              <a:rPr/>
              <a:t>72</a:t>
            </a:fld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93996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195636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56301997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A10053E9-E61A-9247-B5E2-BF461398A154}" type="slidenum">
              <a:rPr/>
              <a:t>73</a:t>
            </a:fld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772249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926892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95812601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A10053E9-E61A-9247-B5E2-BF461398A154}" type="slidenum">
              <a:rPr/>
              <a:t>74</a:t>
            </a:fld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13052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714961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0643344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A10053E9-E61A-9247-B5E2-BF461398A154}" type="slidenum">
              <a:rPr/>
              <a:t>75</a:t>
            </a:fld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37368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228123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54142231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A10053E9-E61A-9247-B5E2-BF461398A154}" type="slidenum">
              <a:rPr/>
              <a:t>76</a:t>
            </a:fld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74744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611071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ways to reach the interpreter (command prompt, start menu on windows, shell),</a:t>
            </a:r>
            <a:endParaRPr/>
          </a:p>
        </p:txBody>
      </p:sp>
      <p:sp>
        <p:nvSpPr>
          <p:cNvPr id="2127627286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A10053E9-E61A-9247-B5E2-BF461398A154}" type="slidenum">
              <a:rPr/>
              <a:t>77</a:t>
            </a:fld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79279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815625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36719087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A10053E9-E61A-9247-B5E2-BF461398A154}" type="slidenum">
              <a:rPr/>
              <a:t>78</a:t>
            </a:fld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16316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291380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49769731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A10053E9-E61A-9247-B5E2-BF461398A154}" type="slidenum">
              <a:rPr/>
              <a:t>79</a:t>
            </a:fld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59566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830846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52651802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A10053E9-E61A-9247-B5E2-BF461398A154}" type="slidenum">
              <a:rPr/>
              <a:t>80</a:t>
            </a:fld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FD9773B-5DF4-0777-C427-083FD72C91E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1135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191356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If you remember from your general biology genetics and </a:t>
            </a:r>
            <a:r>
              <a:rPr lang="en-US"/>
              <a:t>moleular</a:t>
            </a:r>
            <a:r>
              <a:rPr lang="en-US"/>
              <a:t> courses you have to recall </a:t>
            </a:r>
            <a:r>
              <a:rPr lang="en-US"/>
              <a:t>thiss</a:t>
            </a:r>
            <a:r>
              <a:rPr lang="en-US"/>
              <a:t> knowledge in order to solve this problem</a:t>
            </a:r>
            <a:endParaRPr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If I know biology but I don’t know computer science, that is the case for all of you </a:t>
            </a:r>
            <a:r>
              <a:rPr lang="en-US"/>
              <a:t>theissue</a:t>
            </a:r>
            <a:r>
              <a:rPr lang="en-US"/>
              <a:t> I am teaching how to code but you have to recall on yourself your biological knowledge</a:t>
            </a:r>
            <a:endParaRPr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</p:txBody>
      </p:sp>
      <p:sp>
        <p:nvSpPr>
          <p:cNvPr id="1252067418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A10053E9-E61A-9247-B5E2-BF461398A154}" type="slidenum">
              <a:rPr/>
              <a:t>82</a:t>
            </a:fld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EF4AE7F-7165-1AD3-D271-10AA373849F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0279689" name="Title 1"/>
          <p:cNvSpPr>
            <a:spLocks noGrp="1"/>
          </p:cNvSpPr>
          <p:nvPr>
            <p:ph type="ctrTitle"/>
          </p:nvPr>
        </p:nvSpPr>
        <p:spPr bwMode="auto">
          <a:xfrm>
            <a:off x="685800" y="949325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46968843" name="Subtitle 2"/>
          <p:cNvSpPr>
            <a:spLocks noGrp="1"/>
          </p:cNvSpPr>
          <p:nvPr>
            <p:ph type="subTitle" idx="1"/>
          </p:nvPr>
        </p:nvSpPr>
        <p:spPr bwMode="auto">
          <a:xfrm>
            <a:off x="1143000" y="3429000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217354410" name="Date Placeholder 3"/>
          <p:cNvSpPr>
            <a:spLocks noGrp="1"/>
          </p:cNvSpPr>
          <p:nvPr>
            <p:ph type="dt" sz="half" idx="10"/>
          </p:nvPr>
        </p:nvSpPr>
        <p:spPr bwMode="auto">
          <a:xfrm>
            <a:off x="912428" y="6183313"/>
            <a:ext cx="2057400" cy="365125"/>
          </a:xfrm>
        </p:spPr>
        <p:txBody>
          <a:bodyPr/>
          <a:lstStyle/>
          <a:p>
            <a:pPr>
              <a:defRPr/>
            </a:pPr>
            <a:fld id="{BF5024E3-CA9B-3440-8B43-776B5A60D3DB}" type="datetime1">
              <a:rPr lang="en-US"/>
              <a:t>6/2/25</a:t>
            </a:fld>
            <a:endParaRPr lang="es-ES_tradnl"/>
          </a:p>
        </p:txBody>
      </p:sp>
      <p:sp>
        <p:nvSpPr>
          <p:cNvPr id="1701072479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3312728" y="6183313"/>
            <a:ext cx="3086100" cy="365125"/>
          </a:xfrm>
        </p:spPr>
        <p:txBody>
          <a:bodyPr/>
          <a:lstStyle/>
          <a:p>
            <a:pPr>
              <a:defRPr/>
            </a:pPr>
            <a:endParaRPr lang="es-ES_tradnl"/>
          </a:p>
        </p:txBody>
      </p:sp>
      <p:sp>
        <p:nvSpPr>
          <p:cNvPr id="462794539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6457950" y="6183313"/>
            <a:ext cx="20574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6A144BBB-DA99-4FDF-9E1F-B5EEC68D5D7C}" type="slidenum">
              <a:rPr lang="es-ES_tradnl"/>
              <a:t>‹#›</a:t>
            </a:fld>
            <a:endParaRPr lang="es-ES_tradnl"/>
          </a:p>
        </p:txBody>
      </p:sp>
      <p:pic>
        <p:nvPicPr>
          <p:cNvPr id="1642777866" name="Picture 2" descr="Python - Wikiversity"/>
          <p:cNvPicPr>
            <a:picLocks noChangeAspect="1" noChangeArrowheads="1"/>
          </p:cNvPicPr>
          <p:nvPr userDrawn="1"/>
        </p:nvPicPr>
        <p:blipFill rotWithShape="1">
          <a:blip r:embed="rId2"/>
          <a:stretch/>
        </p:blipFill>
        <p:spPr bwMode="auto">
          <a:xfrm>
            <a:off x="0" y="5544207"/>
            <a:ext cx="1313793" cy="1313793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088587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6407081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1675665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D4B1058-CE5C-9943-BE59-FCEFE3E3D37A}" type="datetime1">
              <a:rPr lang="en-US"/>
              <a:t>6/2/25</a:t>
            </a:fld>
            <a:endParaRPr lang="es-ES_tradnl"/>
          </a:p>
        </p:txBody>
      </p:sp>
      <p:sp>
        <p:nvSpPr>
          <p:cNvPr id="119491340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s-ES_tradnl"/>
          </a:p>
        </p:txBody>
      </p:sp>
      <p:sp>
        <p:nvSpPr>
          <p:cNvPr id="718431308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6A144BBB-DA99-4FDF-9E1F-B5EEC68D5D7C}" type="slidenum">
              <a:rPr lang="es-ES_tradnl"/>
              <a:t>‹#›</a:t>
            </a:fld>
            <a:endParaRPr lang="es-ES_tradnl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8524168" name="Title 1"/>
          <p:cNvSpPr>
            <a:spLocks noGrp="1"/>
          </p:cNvSpPr>
          <p:nvPr>
            <p:ph type="title"/>
          </p:nvPr>
        </p:nvSpPr>
        <p:spPr bwMode="auto">
          <a:xfrm>
            <a:off x="628650" y="1217501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7538445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28650" y="4097226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08271765" name="Date Placeholder 3"/>
          <p:cNvSpPr>
            <a:spLocks noGrp="1"/>
          </p:cNvSpPr>
          <p:nvPr>
            <p:ph type="dt" sz="half" idx="10"/>
          </p:nvPr>
        </p:nvSpPr>
        <p:spPr bwMode="auto">
          <a:xfrm>
            <a:off x="917190" y="5864113"/>
            <a:ext cx="2057400" cy="365125"/>
          </a:xfrm>
        </p:spPr>
        <p:txBody>
          <a:bodyPr/>
          <a:lstStyle/>
          <a:p>
            <a:pPr>
              <a:defRPr/>
            </a:pPr>
            <a:fld id="{BCB4C683-C46D-B942-9222-5D6ADCD54DC2}" type="datetime1">
              <a:rPr lang="en-US"/>
              <a:t>6/2/25</a:t>
            </a:fld>
            <a:endParaRPr lang="es-ES_tradnl"/>
          </a:p>
        </p:txBody>
      </p:sp>
      <p:sp>
        <p:nvSpPr>
          <p:cNvPr id="521220011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3317490" y="5864113"/>
            <a:ext cx="3086100" cy="365125"/>
          </a:xfrm>
        </p:spPr>
        <p:txBody>
          <a:bodyPr/>
          <a:lstStyle/>
          <a:p>
            <a:pPr>
              <a:defRPr/>
            </a:pPr>
            <a:endParaRPr lang="es-ES_tradnl"/>
          </a:p>
        </p:txBody>
      </p:sp>
      <p:sp>
        <p:nvSpPr>
          <p:cNvPr id="1677837475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6462712" y="5864113"/>
            <a:ext cx="20574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6A144BBB-DA99-4FDF-9E1F-B5EEC68D5D7C}" type="slidenum">
              <a:rPr lang="es-ES_tradnl"/>
              <a:t>‹#›</a:t>
            </a:fld>
            <a:endParaRPr lang="es-ES_tradnl"/>
          </a:p>
        </p:txBody>
      </p:sp>
      <p:pic>
        <p:nvPicPr>
          <p:cNvPr id="923505698" name="Picture 8" descr="logo_upr2.JPG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>
            <a:off x="0" y="0"/>
            <a:ext cx="762000" cy="7235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9450842" name="Title 1"/>
          <p:cNvSpPr>
            <a:spLocks noGrp="1"/>
          </p:cNvSpPr>
          <p:nvPr>
            <p:ph type="title"/>
          </p:nvPr>
        </p:nvSpPr>
        <p:spPr bwMode="auto">
          <a:xfrm>
            <a:off x="571500" y="814846"/>
            <a:ext cx="7886700" cy="789352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45493118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571500" y="1783586"/>
            <a:ext cx="38862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57746708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0" y="1783586"/>
            <a:ext cx="38862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38083819" name="Date Placeholder 4"/>
          <p:cNvSpPr>
            <a:spLocks noGrp="1"/>
          </p:cNvSpPr>
          <p:nvPr>
            <p:ph type="dt" sz="half" idx="10"/>
          </p:nvPr>
        </p:nvSpPr>
        <p:spPr bwMode="auto">
          <a:xfrm>
            <a:off x="855278" y="6314312"/>
            <a:ext cx="2057400" cy="365125"/>
          </a:xfrm>
        </p:spPr>
        <p:txBody>
          <a:bodyPr/>
          <a:lstStyle/>
          <a:p>
            <a:pPr>
              <a:defRPr/>
            </a:pPr>
            <a:fld id="{F7B0ACA1-B096-1742-9060-2EBFD839B8DE}" type="datetime1">
              <a:rPr lang="en-US"/>
              <a:t>6/2/25</a:t>
            </a:fld>
            <a:endParaRPr lang="es-ES_tradnl"/>
          </a:p>
        </p:txBody>
      </p:sp>
      <p:sp>
        <p:nvSpPr>
          <p:cNvPr id="1323862765" name="Footer Placeholder 5"/>
          <p:cNvSpPr>
            <a:spLocks noGrp="1"/>
          </p:cNvSpPr>
          <p:nvPr>
            <p:ph type="ftr" sz="quarter" idx="11"/>
          </p:nvPr>
        </p:nvSpPr>
        <p:spPr bwMode="auto">
          <a:xfrm>
            <a:off x="3255578" y="6314312"/>
            <a:ext cx="3086100" cy="365125"/>
          </a:xfrm>
        </p:spPr>
        <p:txBody>
          <a:bodyPr/>
          <a:lstStyle/>
          <a:p>
            <a:pPr>
              <a:defRPr/>
            </a:pPr>
            <a:endParaRPr lang="es-ES_tradnl"/>
          </a:p>
        </p:txBody>
      </p:sp>
      <p:sp>
        <p:nvSpPr>
          <p:cNvPr id="1931286429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6400800" y="6314312"/>
            <a:ext cx="20574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6A144BBB-DA99-4FDF-9E1F-B5EEC68D5D7C}" type="slidenum">
              <a:rPr lang="es-ES_tradnl"/>
              <a:t>‹#›</a:t>
            </a:fld>
            <a:endParaRPr lang="es-ES_tradnl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0204682" name="Title 1"/>
          <p:cNvSpPr>
            <a:spLocks noGrp="1"/>
          </p:cNvSpPr>
          <p:nvPr>
            <p:ph type="title"/>
          </p:nvPr>
        </p:nvSpPr>
        <p:spPr bwMode="auto">
          <a:xfrm>
            <a:off x="629841" y="533291"/>
            <a:ext cx="78867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71827527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29842" y="1849328"/>
            <a:ext cx="3868340" cy="823912"/>
          </a:xfrm>
        </p:spPr>
        <p:txBody>
          <a:bodyPr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70232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29842" y="2673240"/>
            <a:ext cx="3868340" cy="3684588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443935856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29150" y="1849328"/>
            <a:ext cx="38873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68185714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29150" y="2673240"/>
            <a:ext cx="3887391" cy="3684588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459665821" name="Date Placeholder 6"/>
          <p:cNvSpPr>
            <a:spLocks noGrp="1"/>
          </p:cNvSpPr>
          <p:nvPr>
            <p:ph type="dt" sz="half" idx="10"/>
          </p:nvPr>
        </p:nvSpPr>
        <p:spPr bwMode="auto">
          <a:xfrm>
            <a:off x="628650" y="6373596"/>
            <a:ext cx="2057400" cy="365125"/>
          </a:xfrm>
        </p:spPr>
        <p:txBody>
          <a:bodyPr/>
          <a:lstStyle/>
          <a:p>
            <a:pPr>
              <a:defRPr/>
            </a:pPr>
            <a:fld id="{764FDBB8-9DF3-F449-B9DC-D6EF6B718103}" type="datetime1">
              <a:rPr lang="en-US"/>
              <a:t>6/2/25</a:t>
            </a:fld>
            <a:endParaRPr lang="es-ES_tradnl"/>
          </a:p>
        </p:txBody>
      </p:sp>
      <p:sp>
        <p:nvSpPr>
          <p:cNvPr id="287729701" name="Footer Placeholder 7"/>
          <p:cNvSpPr>
            <a:spLocks noGrp="1"/>
          </p:cNvSpPr>
          <p:nvPr>
            <p:ph type="ftr" sz="quarter" idx="11"/>
          </p:nvPr>
        </p:nvSpPr>
        <p:spPr bwMode="auto">
          <a:xfrm>
            <a:off x="3028950" y="6373596"/>
            <a:ext cx="3086100" cy="365125"/>
          </a:xfrm>
        </p:spPr>
        <p:txBody>
          <a:bodyPr/>
          <a:lstStyle/>
          <a:p>
            <a:pPr>
              <a:defRPr/>
            </a:pPr>
            <a:endParaRPr lang="es-ES_tradnl"/>
          </a:p>
        </p:txBody>
      </p:sp>
      <p:sp>
        <p:nvSpPr>
          <p:cNvPr id="153656972" name="Slide Number Placeholder 8"/>
          <p:cNvSpPr>
            <a:spLocks noGrp="1"/>
          </p:cNvSpPr>
          <p:nvPr>
            <p:ph type="sldNum" sz="quarter" idx="12"/>
          </p:nvPr>
        </p:nvSpPr>
        <p:spPr bwMode="auto">
          <a:xfrm>
            <a:off x="6457950" y="6373595"/>
            <a:ext cx="20574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6A144BBB-DA99-4FDF-9E1F-B5EEC68D5D7C}" type="slidenum">
              <a:rPr lang="es-ES_tradnl"/>
              <a:t>‹#›</a:t>
            </a:fld>
            <a:endParaRPr lang="es-ES_tradnl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351938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66338209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CBD25468-72E8-4047-8A75-5906CDAE7BBE}" type="datetime1">
              <a:rPr lang="en-US"/>
              <a:t>6/2/25</a:t>
            </a:fld>
            <a:endParaRPr lang="es-ES_tradnl"/>
          </a:p>
        </p:txBody>
      </p:sp>
      <p:sp>
        <p:nvSpPr>
          <p:cNvPr id="741430286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s-ES_tradnl"/>
          </a:p>
        </p:txBody>
      </p:sp>
      <p:sp>
        <p:nvSpPr>
          <p:cNvPr id="586116614" name="Slide Number Placeholder 4"/>
          <p:cNvSpPr>
            <a:spLocks noGrp="1"/>
          </p:cNvSpPr>
          <p:nvPr>
            <p:ph type="sldNum" sz="quarter" idx="12"/>
          </p:nvPr>
        </p:nvSpPr>
        <p:spPr bwMode="auto">
          <a:xfrm>
            <a:off x="6457950" y="6205431"/>
            <a:ext cx="20574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6A144BBB-DA99-4FDF-9E1F-B5EEC68D5D7C}" type="slidenum">
              <a:rPr lang="es-ES_tradnl"/>
              <a:t>‹#›</a:t>
            </a:fld>
            <a:endParaRPr lang="es-ES_tradnl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9553855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2D5E325-2D05-1142-AB06-A82A31D181EE}" type="datetime1">
              <a:rPr lang="en-US"/>
              <a:t>6/2/25</a:t>
            </a:fld>
            <a:endParaRPr lang="es-ES_tradnl"/>
          </a:p>
        </p:txBody>
      </p:sp>
      <p:sp>
        <p:nvSpPr>
          <p:cNvPr id="312544353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s-ES_tradnl"/>
          </a:p>
        </p:txBody>
      </p:sp>
      <p:sp>
        <p:nvSpPr>
          <p:cNvPr id="834062186" name="Slide Number Placeholder 3"/>
          <p:cNvSpPr>
            <a:spLocks noGrp="1"/>
          </p:cNvSpPr>
          <p:nvPr>
            <p:ph type="sldNum" sz="quarter" idx="12"/>
          </p:nvPr>
        </p:nvSpPr>
        <p:spPr bwMode="auto">
          <a:xfrm>
            <a:off x="6457950" y="6205430"/>
            <a:ext cx="20574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6A144BBB-DA99-4FDF-9E1F-B5EEC68D5D7C}" type="slidenum">
              <a:rPr lang="es-ES_tradnl"/>
              <a:t>‹#›</a:t>
            </a:fld>
            <a:endParaRPr lang="es-ES_tradnl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5331492" name="Title 1"/>
          <p:cNvSpPr>
            <a:spLocks noGrp="1"/>
          </p:cNvSpPr>
          <p:nvPr>
            <p:ph type="title"/>
          </p:nvPr>
        </p:nvSpPr>
        <p:spPr bwMode="auto"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08585527" name="Content Placeholder 2"/>
          <p:cNvSpPr>
            <a:spLocks noGrp="1"/>
          </p:cNvSpPr>
          <p:nvPr>
            <p:ph idx="1"/>
          </p:nvPr>
        </p:nvSpPr>
        <p:spPr bwMode="auto"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689356386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55320160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F9218C4C-C8B2-B148-A441-0B4098C016BD}" type="datetime1">
              <a:rPr lang="en-US"/>
              <a:t>6/2/25</a:t>
            </a:fld>
            <a:endParaRPr lang="es-ES_tradnl"/>
          </a:p>
        </p:txBody>
      </p:sp>
      <p:sp>
        <p:nvSpPr>
          <p:cNvPr id="7923010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s-ES_tradnl"/>
          </a:p>
        </p:txBody>
      </p:sp>
      <p:sp>
        <p:nvSpPr>
          <p:cNvPr id="660518924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6457950" y="6213534"/>
            <a:ext cx="20574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6A144BBB-DA99-4FDF-9E1F-B5EEC68D5D7C}" type="slidenum">
              <a:rPr lang="es-ES_tradnl"/>
              <a:t>‹#›</a:t>
            </a:fld>
            <a:endParaRPr lang="es-ES_tradnl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010013" name="Title 1"/>
          <p:cNvSpPr>
            <a:spLocks noGrp="1"/>
          </p:cNvSpPr>
          <p:nvPr>
            <p:ph type="title"/>
          </p:nvPr>
        </p:nvSpPr>
        <p:spPr bwMode="auto"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78784138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/>
          </a:p>
        </p:txBody>
      </p:sp>
      <p:sp>
        <p:nvSpPr>
          <p:cNvPr id="105786979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28619839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360D781-385C-A244-90D6-31EDFA2A36FE}" type="datetime1">
              <a:rPr lang="en-US"/>
              <a:t>6/2/25</a:t>
            </a:fld>
            <a:endParaRPr lang="es-ES_tradnl"/>
          </a:p>
        </p:txBody>
      </p:sp>
      <p:sp>
        <p:nvSpPr>
          <p:cNvPr id="40404220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s-ES_tradnl"/>
          </a:p>
        </p:txBody>
      </p:sp>
      <p:sp>
        <p:nvSpPr>
          <p:cNvPr id="915629401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6A144BBB-DA99-4FDF-9E1F-B5EEC68D5D7C}" type="slidenum">
              <a:rPr lang="es-ES_tradnl"/>
              <a:t>‹#›</a:t>
            </a:fld>
            <a:endParaRPr lang="es-ES_tradnl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894228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75378449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4235874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82B3C5C-01CF-664B-AA75-F4DE9E84259F}" type="datetime1">
              <a:rPr lang="en-US"/>
              <a:t>6/2/25</a:t>
            </a:fld>
            <a:endParaRPr lang="es-ES_tradnl"/>
          </a:p>
        </p:txBody>
      </p:sp>
      <p:sp>
        <p:nvSpPr>
          <p:cNvPr id="191263166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s-ES_tradnl"/>
          </a:p>
        </p:txBody>
      </p:sp>
      <p:sp>
        <p:nvSpPr>
          <p:cNvPr id="619383123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6A144BBB-DA99-4FDF-9E1F-B5EEC68D5D7C}" type="slidenum">
              <a:rPr lang="es-ES_tradnl"/>
              <a:t>‹#›</a:t>
            </a:fld>
            <a:endParaRPr lang="es-ES_tradnl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8799693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543675" y="365125"/>
            <a:ext cx="1971675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36700818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628650" y="365125"/>
            <a:ext cx="5800725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3744670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FF5C700-4F4C-1544-B9C1-02F5105C5D6D}" type="datetime1">
              <a:rPr lang="en-US"/>
              <a:t>6/2/25</a:t>
            </a:fld>
            <a:endParaRPr lang="es-ES_tradnl"/>
          </a:p>
        </p:txBody>
      </p:sp>
      <p:sp>
        <p:nvSpPr>
          <p:cNvPr id="43398552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s-ES_tradnl"/>
          </a:p>
        </p:txBody>
      </p:sp>
      <p:sp>
        <p:nvSpPr>
          <p:cNvPr id="826274630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6A144BBB-DA99-4FDF-9E1F-B5EEC68D5D7C}" type="slidenum">
              <a:rPr lang="es-ES_tradnl"/>
              <a:t>‹#›</a:t>
            </a:fld>
            <a:endParaRPr lang="es-ES_tradnl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jpg"/><Relationship Id="rId15" Type="http://schemas.openxmlformats.org/officeDocument/2006/relationships/image" Target="../media/image3.jpg"/><Relationship Id="rId16" Type="http://schemas.openxmlformats.org/officeDocument/2006/relationships/image" Target="../media/image4.png"/><Relationship Id="rId17" Type="http://schemas.openxmlformats.org/officeDocument/2006/relationships/image" Target="../media/image5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02591" name="Title Placeholder 1"/>
          <p:cNvSpPr>
            <a:spLocks noGrp="1"/>
          </p:cNvSpPr>
          <p:nvPr>
            <p:ph type="title"/>
          </p:nvPr>
        </p:nvSpPr>
        <p:spPr bwMode="auto">
          <a:xfrm>
            <a:off x="628650" y="750417"/>
            <a:ext cx="7886700" cy="7893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10385194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28650" y="167470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59911555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628650" y="620543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84A1C1B7-C5C8-F345-B208-87B6430D4DE6}" type="datetime1">
              <a:rPr lang="en-US"/>
              <a:t>6/2/25</a:t>
            </a:fld>
            <a:endParaRPr lang="es-ES_tradnl"/>
          </a:p>
        </p:txBody>
      </p:sp>
      <p:sp>
        <p:nvSpPr>
          <p:cNvPr id="1822650931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028950" y="620543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1724248303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620543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6A144BBB-DA99-4FDF-9E1F-B5EEC68D5D7C}" type="slidenum">
              <a:rPr lang="es-ES_tradnl"/>
              <a:t>‹#›</a:t>
            </a:fld>
            <a:endParaRPr lang="es-ES_tradnl"/>
          </a:p>
        </p:txBody>
      </p:sp>
      <p:pic>
        <p:nvPicPr>
          <p:cNvPr id="767793918" name="Picture 2"/>
          <p:cNvPicPr>
            <a:picLocks noChangeAspect="1" noChangeArrowheads="1"/>
          </p:cNvPicPr>
          <p:nvPr userDrawn="1"/>
        </p:nvPicPr>
        <p:blipFill rotWithShape="1">
          <a:blip r:embed="rId13"/>
          <a:stretch/>
        </p:blipFill>
        <p:spPr bwMode="auto">
          <a:xfrm>
            <a:off x="762000" y="15999"/>
            <a:ext cx="691515" cy="69151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359789" name="Picture 8" descr="logo_upr2.JPG"/>
          <p:cNvPicPr>
            <a:picLocks noChangeAspect="1"/>
          </p:cNvPicPr>
          <p:nvPr userDrawn="1"/>
        </p:nvPicPr>
        <p:blipFill rotWithShape="1">
          <a:blip r:embed="rId14"/>
          <a:stretch/>
        </p:blipFill>
        <p:spPr bwMode="auto">
          <a:xfrm>
            <a:off x="0" y="0"/>
            <a:ext cx="762000" cy="723515"/>
          </a:xfrm>
          <a:prstGeom prst="rect">
            <a:avLst/>
          </a:prstGeom>
        </p:spPr>
      </p:pic>
      <p:pic>
        <p:nvPicPr>
          <p:cNvPr id="1919831962" name="Picture 2"/>
          <p:cNvPicPr>
            <a:picLocks noChangeAspect="1" noChangeArrowheads="1"/>
          </p:cNvPicPr>
          <p:nvPr userDrawn="1"/>
        </p:nvPicPr>
        <p:blipFill rotWithShape="1">
          <a:blip r:embed="rId15"/>
          <a:stretch/>
        </p:blipFill>
        <p:spPr bwMode="auto">
          <a:xfrm>
            <a:off x="1483995" y="-8005"/>
            <a:ext cx="731520" cy="731520"/>
          </a:xfrm>
          <a:prstGeom prst="rect">
            <a:avLst/>
          </a:prstGeom>
          <a:noFill/>
        </p:spPr>
      </p:pic>
      <p:pic>
        <p:nvPicPr>
          <p:cNvPr id="1918140334" name="Picture 6" descr="Huck Institute Logo"/>
          <p:cNvPicPr>
            <a:picLocks noChangeAspect="1" noChangeArrowheads="1"/>
          </p:cNvPicPr>
          <p:nvPr userDrawn="1"/>
        </p:nvPicPr>
        <p:blipFill rotWithShape="1">
          <a:blip r:embed="rId16"/>
          <a:stretch/>
        </p:blipFill>
        <p:spPr bwMode="auto">
          <a:xfrm>
            <a:off x="7068887" y="0"/>
            <a:ext cx="2057400" cy="734418"/>
          </a:xfrm>
          <a:prstGeom prst="rect">
            <a:avLst/>
          </a:prstGeom>
          <a:noFill/>
        </p:spPr>
      </p:pic>
      <p:pic>
        <p:nvPicPr>
          <p:cNvPr id="961028961" name="Picture 2" descr="Python - Wikiversity"/>
          <p:cNvPicPr>
            <a:picLocks noChangeAspect="1" noChangeArrowheads="1"/>
          </p:cNvPicPr>
          <p:nvPr userDrawn="1"/>
        </p:nvPicPr>
        <p:blipFill rotWithShape="1">
          <a:blip r:embed="rId17"/>
          <a:stretch/>
        </p:blipFill>
        <p:spPr bwMode="auto">
          <a:xfrm>
            <a:off x="0" y="5544207"/>
            <a:ext cx="1313793" cy="1313793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1"/>
  <p:txStyles>
    <p:titleStyle>
      <a:lvl1pPr algn="ctr" defTabSz="914400" rtl="0">
        <a:lnSpc>
          <a:spcPct val="90000"/>
        </a:lnSpc>
        <a:spcBef>
          <a:spcPts val="0"/>
        </a:spcBef>
        <a:buNone/>
        <a:defRPr sz="4400" b="1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Relationship Id="rId4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hyperlink" Target="http://inbre.hpcf.upr.edu/" TargetMode="External"/><Relationship Id="rId4" Type="http://schemas.openxmlformats.org/officeDocument/2006/relationships/image" Target="../media/image2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colab.research.google.com/" TargetMode="External"/><Relationship Id="rId4" Type="http://schemas.openxmlformats.org/officeDocument/2006/relationships/image" Target="../media/image7.jpg"/><Relationship Id="rId5" Type="http://schemas.openxmlformats.org/officeDocument/2006/relationships/image" Target="../media/image8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Relationship Id="rId4" Type="http://schemas.openxmlformats.org/officeDocument/2006/relationships/hyperlink" Target="https://github.com/bioinfwithjudith/PR-INBRE_Python_Workshop" TargetMode="Externa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6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7.pn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1.png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8.png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9.png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0.png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0.png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0.png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0.png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0.png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0.png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1.png"/></Relationships>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1.png"/></Relationships>
</file>

<file path=ppt/slides/_rels/slide3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1.png"/></Relationships>
</file>

<file path=ppt/slides/_rels/slide3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1.png"/></Relationships>
</file>

<file path=ppt/slides/_rels/slide3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2.png"/><Relationship Id="rId4" Type="http://schemas.openxmlformats.org/officeDocument/2006/relationships/image" Target="../media/image23.png"/></Relationships>
</file>

<file path=ppt/slides/_rels/slide3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4.png"/></Relationships>
</file>

<file path=ppt/slides/_rels/slide3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4.png"/></Relationships>
</file>

<file path=ppt/slides/_rels/slide3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5.png"/></Relationships>
</file>

<file path=ppt/slides/_rels/slide4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5.png"/></Relationships>
</file>

<file path=ppt/slides/_rels/slide4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5.png"/></Relationships>
</file>

<file path=ppt/slides/_rels/slide4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5.png"/></Relationships>
</file>

<file path=ppt/slides/_rels/slide4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5.png"/><Relationship Id="rId4" Type="http://schemas.openxmlformats.org/officeDocument/2006/relationships/image" Target="../media/image26.png"/></Relationships>
</file>

<file path=ppt/slides/_rels/slide4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7.png"/><Relationship Id="rId4" Type="http://schemas.openxmlformats.org/officeDocument/2006/relationships/image" Target="../media/image25.png"/></Relationships>
</file>

<file path=ppt/slides/_rels/slide4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28.png"/><Relationship Id="rId4" Type="http://schemas.openxmlformats.org/officeDocument/2006/relationships/image" Target="../media/image25.png"/></Relationships>
</file>

<file path=ppt/slides/_rels/slide4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29.png"/><Relationship Id="rId4" Type="http://schemas.openxmlformats.org/officeDocument/2006/relationships/hyperlink" Target="https://www.uniprot.org/" TargetMode="External"/><Relationship Id="rId5" Type="http://schemas.openxmlformats.org/officeDocument/2006/relationships/image" Target="../media/image30.png"/></Relationships>
</file>

<file path=ppt/slides/_rels/slide4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31.png"/><Relationship Id="rId4" Type="http://schemas.openxmlformats.org/officeDocument/2006/relationships/hyperlink" Target="https://www.uniprot.org/" TargetMode="External"/></Relationships>
</file>

<file path=ppt/slides/_rels/slide4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32.png"/></Relationships>
</file>

<file path=ppt/slides/_rels/slide5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33.png"/></Relationships>
</file>

<file path=ppt/slides/_rels/slide5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34.png"/></Relationships>
</file>

<file path=ppt/slides/_rels/slide5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35.png"/></Relationships>
</file>

<file path=ppt/slides/_rels/slide5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36.png"/></Relationships>
</file>

<file path=ppt/slides/_rels/slide5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37.png"/></Relationships>
</file>

<file path=ppt/slides/_rels/slide5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38.png"/></Relationships>
</file>

<file path=ppt/slides/_rels/slide5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39.png"/></Relationships>
</file>

<file path=ppt/slides/_rels/slide5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40.png"/></Relationships>
</file>

<file path=ppt/slides/_rels/slide5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40.png"/></Relationships>
</file>

<file path=ppt/slides/_rels/slide5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41.png"/></Relationships>
</file>

<file path=ppt/slides/_rels/slide6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42.png"/></Relationships>
</file>

<file path=ppt/slides/_rels/slide6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41.png"/></Relationships>
</file>

<file path=ppt/slides/_rels/slide6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41.png"/></Relationships>
</file>

<file path=ppt/slides/_rels/slide6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42.png"/></Relationships>
</file>

<file path=ppt/slides/_rels/slide6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43.png"/></Relationships>
</file>

<file path=ppt/slides/_rels/slide7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44.png"/></Relationships>
</file>

<file path=ppt/slides/_rels/slide7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44.png"/></Relationships>
</file>

<file path=ppt/slides/_rels/slide7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44.png"/></Relationships>
</file>

<file path=ppt/slides/_rels/slide7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44.png"/></Relationships>
</file>

<file path=ppt/slides/_rels/slide7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44.png"/></Relationships>
</file>

<file path=ppt/slides/_rels/slide7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7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7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45.png"/></Relationships>
</file>

<file path=ppt/slides/_rels/slide7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45.png"/></Relationships>
</file>

<file path=ppt/slides/_rels/slide8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46.png"/></Relationships>
</file>

<file path=ppt/slides/_rels/slide8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47.png"/><Relationship Id="rId4" Type="http://schemas.openxmlformats.org/officeDocument/2006/relationships/image" Target="../media/media1.svg"/></Relationships>
</file>

<file path=ppt/slides/_rels/slide8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4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6560099" name="Text Box 5"/>
          <p:cNvSpPr txBox="1">
            <a:spLocks noChangeArrowheads="1"/>
          </p:cNvSpPr>
          <p:nvPr/>
        </p:nvSpPr>
        <p:spPr bwMode="auto">
          <a:xfrm>
            <a:off x="-1" y="291405"/>
            <a:ext cx="9143999" cy="1292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2600" b="1" i="0" u="none" strike="noStrike" cap="none" spc="0">
                <a:ln>
                  <a:noFill/>
                </a:ln>
                <a:solidFill>
                  <a:srgbClr val="000000"/>
                </a:solidFill>
                <a:latin typeface="Times New Roman"/>
                <a:ea typeface="+mn-ea"/>
                <a:cs typeface="Times New Roman"/>
              </a:rPr>
              <a:t>University of Puerto Rico</a:t>
            </a:r>
            <a:endParaRPr/>
          </a:p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2600" b="1" i="0" u="none" strike="noStrike" cap="none" spc="0">
                <a:ln>
                  <a:noFill/>
                </a:ln>
                <a:solidFill>
                  <a:srgbClr val="000000"/>
                </a:solidFill>
                <a:latin typeface="Times New Roman"/>
                <a:ea typeface="+mn-ea"/>
                <a:cs typeface="Times New Roman"/>
              </a:rPr>
              <a:t>Puerto Rico - IDeA Networks of Biomedical Research Excellence</a:t>
            </a:r>
            <a:endParaRPr/>
          </a:p>
        </p:txBody>
      </p:sp>
      <p:pic>
        <p:nvPicPr>
          <p:cNvPr id="1755162169" name="Picture 11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050068" y="1598126"/>
            <a:ext cx="4762500" cy="952500"/>
          </a:xfrm>
          <a:prstGeom prst="rect">
            <a:avLst/>
          </a:prstGeom>
        </p:spPr>
      </p:pic>
      <p:pic>
        <p:nvPicPr>
          <p:cNvPr id="168342733" name="Picture 17" descr="logo_upr2.JP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0" y="0"/>
            <a:ext cx="762000" cy="723515"/>
          </a:xfrm>
          <a:prstGeom prst="rect">
            <a:avLst/>
          </a:prstGeom>
        </p:spPr>
      </p:pic>
      <p:sp>
        <p:nvSpPr>
          <p:cNvPr id="1747962586" name="Subtitle 1"/>
          <p:cNvSpPr>
            <a:spLocks noGrp="1"/>
          </p:cNvSpPr>
          <p:nvPr>
            <p:ph type="subTitle" idx="1"/>
          </p:nvPr>
        </p:nvSpPr>
        <p:spPr bwMode="auto">
          <a:xfrm>
            <a:off x="1474057" y="5259874"/>
            <a:ext cx="6195881" cy="1548272"/>
          </a:xfrm>
        </p:spPr>
        <p:txBody>
          <a:bodyPr anchor="ctr">
            <a:normAutofit fontScale="85000" lnSpcReduction="20000"/>
          </a:bodyPr>
          <a:lstStyle/>
          <a:p>
            <a:pPr lvl="1">
              <a:defRPr/>
            </a:pPr>
            <a:r>
              <a:rPr lang="en-US" sz="2400" b="1">
                <a:solidFill>
                  <a:schemeClr val="tx1"/>
                </a:solidFill>
                <a:latin typeface="Times New Roman"/>
                <a:cs typeface="Times New Roman"/>
              </a:rPr>
              <a:t>Prof. Judith S. Rodriguez-Martinez, MSc, PhD</a:t>
            </a:r>
            <a:endParaRPr/>
          </a:p>
          <a:p>
            <a:pPr lvl="1">
              <a:defRPr/>
            </a:pPr>
            <a:r>
              <a:rPr lang="en-US" sz="1800">
                <a:solidFill>
                  <a:schemeClr val="tx1"/>
                </a:solidFill>
                <a:latin typeface="Times New Roman"/>
                <a:cs typeface="Times New Roman"/>
              </a:rPr>
              <a:t>Ph.D. Candidate</a:t>
            </a:r>
            <a:endParaRPr/>
          </a:p>
          <a:p>
            <a:pPr lvl="1">
              <a:defRPr/>
            </a:pPr>
            <a:r>
              <a:rPr lang="en-US" sz="1800">
                <a:solidFill>
                  <a:schemeClr val="tx1"/>
                </a:solidFill>
                <a:latin typeface="Times New Roman"/>
                <a:cs typeface="Times New Roman"/>
              </a:rPr>
              <a:t>Penn State University – University Park Campus</a:t>
            </a:r>
            <a:br>
              <a:rPr lang="en-US" sz="1800">
                <a:solidFill>
                  <a:schemeClr val="tx1"/>
                </a:solidFill>
                <a:latin typeface="Times New Roman"/>
                <a:cs typeface="Times New Roman"/>
              </a:rPr>
            </a:br>
            <a:r>
              <a:rPr lang="en-US" sz="1800">
                <a:solidFill>
                  <a:schemeClr val="tx1"/>
                </a:solidFill>
                <a:latin typeface="Times New Roman"/>
                <a:cs typeface="Times New Roman"/>
              </a:rPr>
              <a:t>judiths.r91@gmail.com</a:t>
            </a:r>
            <a:endParaRPr lang="en-US" sz="18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lvl="1">
              <a:defRPr/>
            </a:pPr>
            <a:endParaRPr lang="en-US" sz="180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lvl="1">
              <a:defRPr/>
            </a:pPr>
            <a:r>
              <a:rPr lang="en-US" sz="2200">
                <a:latin typeface="Times New Roman"/>
                <a:cs typeface="Times New Roman"/>
              </a:rPr>
              <a:t>May 31 - June 5, 2026</a:t>
            </a:r>
            <a:endParaRPr/>
          </a:p>
        </p:txBody>
      </p:sp>
      <p:sp>
        <p:nvSpPr>
          <p:cNvPr id="1884705137" name="Title 1"/>
          <p:cNvSpPr txBox="1"/>
          <p:nvPr/>
        </p:nvSpPr>
        <p:spPr bwMode="auto">
          <a:xfrm>
            <a:off x="0" y="1916294"/>
            <a:ext cx="9144000" cy="389175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>
              <a:lnSpc>
                <a:spcPct val="90000"/>
              </a:lnSpc>
              <a:spcBef>
                <a:spcPts val="0"/>
              </a:spcBef>
              <a:buNone/>
              <a:defRPr sz="60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5400">
                <a:solidFill>
                  <a:srgbClr val="0000CC"/>
                </a:solidFill>
                <a:latin typeface="Times New Roman"/>
                <a:cs typeface="Times New Roman"/>
              </a:rPr>
              <a:t>Python3</a:t>
            </a:r>
            <a:r>
              <a:rPr lang="en-US" sz="5400">
                <a:latin typeface="Times New Roman"/>
                <a:cs typeface="Times New Roman"/>
              </a:rPr>
              <a:t> Part 1 – Crash Course in Python3 for Future STEM Coders</a:t>
            </a:r>
            <a:endParaRPr/>
          </a:p>
        </p:txBody>
      </p:sp>
      <p:sp>
        <p:nvSpPr>
          <p:cNvPr id="1655985706" name="Slide Number Placeholder 2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144BBB-DA99-4FDF-9E1F-B5EEC68D5D7C}" type="slidenum">
              <a:rPr lang="es-ES_tradnl"/>
              <a:t>1</a:t>
            </a:fld>
            <a:endParaRPr lang="es-ES_tradnl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93966" name="TextBox 4"/>
          <p:cNvSpPr txBox="1"/>
          <p:nvPr/>
        </p:nvSpPr>
        <p:spPr bwMode="auto">
          <a:xfrm>
            <a:off x="291547" y="781881"/>
            <a:ext cx="8497957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9538" marR="0" lvl="0" indent="-109538" algn="just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pPr>
            <a:r>
              <a:rPr lang="en-US" sz="1800" b="0" i="0" u="none" strike="noStrike" cap="none" spc="0">
                <a:ln>
                  <a:noFill/>
                </a:ln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The following material is the result of PR-INBRE research and curriculum development effort to provide a set of educational materials for research training and curriculum changes in biology programs across the island to support PR-INBRE efforts to establish a Community of Practice in Bioinformatics that offers a fruitful environment to increase computational and bioinformatics skills among traditional researchers and students (undergraduate and graduate) in the island. They have been developed as a part of the NIH funded project “</a:t>
            </a:r>
            <a:r>
              <a:rPr lang="en-US" sz="1800" b="1" i="0" u="none" strike="noStrike" cap="none" spc="0">
                <a:ln>
                  <a:noFill/>
                </a:ln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Puerto Rico IDeA Network Biomedical Research Excellence (PRINBRE)</a:t>
            </a:r>
            <a:r>
              <a:rPr lang="en-US" sz="1800" b="0" i="0" u="none" strike="noStrike" cap="none" spc="0">
                <a:ln>
                  <a:noFill/>
                </a:ln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” (Award Number 5P20GM103475). </a:t>
            </a:r>
            <a:endParaRPr/>
          </a:p>
          <a:p>
            <a:pPr marL="109538" marR="0" lvl="0" indent="-109538" algn="just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pPr>
            <a:endParaRPr lang="en-US" sz="1800" b="0" i="0" u="none" strike="noStrike" cap="none" spc="0">
              <a:ln>
                <a:noFill/>
              </a:ln>
              <a:solidFill>
                <a:prstClr val="black"/>
              </a:solidFill>
              <a:latin typeface="Times New Roman"/>
              <a:ea typeface="+mn-ea"/>
              <a:cs typeface="Times New Roman"/>
            </a:endParaRPr>
          </a:p>
          <a:p>
            <a:pPr marL="53974" marR="0" lvl="0" indent="-53974" algn="just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pPr>
            <a:r>
              <a:rPr lang="en-US" sz="1800" b="0" i="0" u="none" strike="noStrike" cap="none" spc="0">
                <a:ln>
                  <a:noFill/>
                </a:ln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 Unless otherwise specified, all the information contained within is Copyrighted © by University of Puerto Rico. Permission is granted for use, modify, and reproduce these materials for research and teaching purposes. A copy of the modified material should be sent to </a:t>
            </a:r>
            <a:r>
              <a:rPr lang="en-US" sz="1800" b="1" i="0" u="none" strike="noStrike" cap="none" spc="0">
                <a:ln>
                  <a:noFill/>
                </a:ln>
                <a:solidFill>
                  <a:srgbClr val="0000CC"/>
                </a:solidFill>
                <a:latin typeface="Times New Roman"/>
                <a:ea typeface="+mn-ea"/>
                <a:cs typeface="Times New Roman"/>
              </a:rPr>
              <a:t>help@hpcf.upr.edu</a:t>
            </a:r>
            <a:r>
              <a:rPr lang="en-US" sz="1800" b="0" i="0" u="none" strike="noStrike" cap="none" spc="0">
                <a:ln>
                  <a:noFill/>
                </a:ln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.</a:t>
            </a:r>
            <a:endParaRPr/>
          </a:p>
          <a:p>
            <a:pPr marL="53974" marR="0" lvl="0" indent="-53974" algn="just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pPr>
            <a:endParaRPr lang="en-US" sz="1800" b="0" i="0" u="none" strike="noStrike" cap="none" spc="0">
              <a:ln>
                <a:noFill/>
              </a:ln>
              <a:solidFill>
                <a:prstClr val="black"/>
              </a:solidFill>
              <a:latin typeface="Times New Roman"/>
              <a:ea typeface="+mn-ea"/>
              <a:cs typeface="Times New Roman"/>
            </a:endParaRPr>
          </a:p>
          <a:p>
            <a:pPr marL="53974" marR="0" lvl="0" indent="-53974" algn="just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pPr>
            <a:r>
              <a:rPr lang="en-US" sz="1800" b="0" i="0" u="none" strike="noStrike" cap="none" spc="0">
                <a:ln>
                  <a:noFill/>
                </a:ln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 Most recent versions of these presentations can be found at </a:t>
            </a:r>
            <a:r>
              <a:rPr lang="en-US" sz="1800" b="1" i="0" u="sng" strike="noStrike" cap="none" spc="0">
                <a:ln>
                  <a:noFill/>
                </a:ln>
                <a:solidFill>
                  <a:srgbClr val="0000CC"/>
                </a:solidFill>
                <a:latin typeface="Times New Roman"/>
                <a:ea typeface="+mn-ea"/>
                <a:cs typeface="Times New Roman"/>
                <a:hlinkClick r:id="rId3" tooltip=""/>
              </a:rPr>
              <a:t>http://inbre.hpcf.upr.edu/</a:t>
            </a:r>
            <a:r>
              <a:rPr lang="en-US" sz="1800" b="0" i="0" u="none" strike="noStrike" cap="none" spc="0">
                <a:ln>
                  <a:noFill/>
                </a:ln>
                <a:solidFill>
                  <a:prstClr val="black"/>
                </a:solidFill>
                <a:latin typeface="Times New Roman"/>
                <a:ea typeface="+mn-ea"/>
                <a:cs typeface="Times New Roman"/>
              </a:rPr>
              <a:t>.</a:t>
            </a:r>
            <a:endParaRPr/>
          </a:p>
        </p:txBody>
      </p:sp>
      <p:pic>
        <p:nvPicPr>
          <p:cNvPr id="1533295859" name="Picture 10" descr="logo_upr2.JP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0" y="0"/>
            <a:ext cx="762000" cy="723515"/>
          </a:xfrm>
          <a:prstGeom prst="rect">
            <a:avLst/>
          </a:prstGeom>
        </p:spPr>
      </p:pic>
      <p:sp>
        <p:nvSpPr>
          <p:cNvPr id="98251488" name="Slide Number Placeholder 1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144BBB-DA99-4FDF-9E1F-B5EEC68D5D7C}" type="slidenum">
              <a:rPr lang="es-ES_tradnl"/>
              <a:t>2</a:t>
            </a:fld>
            <a:endParaRPr lang="es-ES_tradnl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822773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>
                <a:latin typeface="Times New Roman"/>
                <a:cs typeface="Times New Roman"/>
              </a:rPr>
              <a:t>Competencies</a:t>
            </a:r>
            <a:endParaRPr/>
          </a:p>
        </p:txBody>
      </p:sp>
      <p:sp>
        <p:nvSpPr>
          <p:cNvPr id="565926139" name="Content Placeholder 2"/>
          <p:cNvSpPr>
            <a:spLocks noGrp="1"/>
          </p:cNvSpPr>
          <p:nvPr>
            <p:ph idx="1"/>
          </p:nvPr>
        </p:nvSpPr>
        <p:spPr bwMode="auto"/>
        <p:txBody>
          <a:bodyPr>
            <a:normAutofit/>
          </a:bodyPr>
          <a:lstStyle/>
          <a:p>
            <a:pPr marL="0" indent="0" algn="just">
              <a:buNone/>
              <a:defRPr/>
            </a:pPr>
            <a:r>
              <a:rPr lang="en-US">
                <a:latin typeface="Times New Roman"/>
                <a:cs typeface="Times New Roman"/>
              </a:rPr>
              <a:t>Record and write simple and </a:t>
            </a:r>
            <a:r>
              <a:rPr lang="en-US">
                <a:latin typeface="Times New Roman"/>
                <a:cs typeface="Times New Roman"/>
              </a:rPr>
              <a:t>common </a:t>
            </a:r>
            <a:r>
              <a:rPr lang="en-US" b="1">
                <a:solidFill>
                  <a:srgbClr val="0000CC"/>
                </a:solidFill>
                <a:latin typeface="Times New Roman"/>
                <a:cs typeface="Times New Roman"/>
              </a:rPr>
              <a:t>Python scripts to deal with Bioinformatic needs for biological data analyses</a:t>
            </a:r>
            <a:r>
              <a:rPr lang="en-US">
                <a:latin typeface="Times New Roman"/>
                <a:cs typeface="Times New Roman"/>
              </a:rPr>
              <a:t> using a </a:t>
            </a:r>
            <a:r>
              <a:rPr lang="en-US">
                <a:latin typeface="Times New Roman"/>
                <a:cs typeface="Times New Roman"/>
              </a:rPr>
              <a:t>Jupyter</a:t>
            </a:r>
            <a:r>
              <a:rPr lang="en-US">
                <a:latin typeface="Times New Roman"/>
                <a:cs typeface="Times New Roman"/>
              </a:rPr>
              <a:t> Notebook</a:t>
            </a:r>
            <a:endParaRPr/>
          </a:p>
        </p:txBody>
      </p:sp>
      <p:sp>
        <p:nvSpPr>
          <p:cNvPr id="713366832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144BBB-DA99-4FDF-9E1F-B5EEC68D5D7C}" type="slidenum">
              <a:rPr lang="es-ES_tradnl"/>
              <a:t>3</a:t>
            </a:fld>
            <a:endParaRPr lang="es-ES_tradnl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742557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>
                <a:latin typeface="Times New Roman"/>
                <a:cs typeface="Times New Roman"/>
              </a:rPr>
              <a:t>Objectives</a:t>
            </a:r>
            <a:endParaRPr/>
          </a:p>
        </p:txBody>
      </p:sp>
      <p:sp>
        <p:nvSpPr>
          <p:cNvPr id="1122447069" name="Content Placeholder 2"/>
          <p:cNvSpPr>
            <a:spLocks noGrp="1"/>
          </p:cNvSpPr>
          <p:nvPr>
            <p:ph idx="1"/>
          </p:nvPr>
        </p:nvSpPr>
        <p:spPr bwMode="auto"/>
        <p:txBody>
          <a:bodyPr>
            <a:normAutofit/>
          </a:bodyPr>
          <a:lstStyle/>
          <a:p>
            <a:pPr algn="just">
              <a:defRPr/>
            </a:pPr>
            <a:r>
              <a:rPr lang="en-US">
                <a:latin typeface="Times New Roman"/>
                <a:cs typeface="Times New Roman"/>
              </a:rPr>
              <a:t>Use </a:t>
            </a:r>
            <a:r>
              <a:rPr lang="en-US" b="1">
                <a:solidFill>
                  <a:srgbClr val="0000CC"/>
                </a:solidFill>
                <a:latin typeface="Times New Roman"/>
                <a:cs typeface="Times New Roman"/>
              </a:rPr>
              <a:t>Google </a:t>
            </a:r>
            <a:r>
              <a:rPr lang="en-US" b="1">
                <a:solidFill>
                  <a:srgbClr val="0000CC"/>
                </a:solidFill>
                <a:latin typeface="Times New Roman"/>
                <a:cs typeface="Times New Roman"/>
              </a:rPr>
              <a:t>Colab</a:t>
            </a:r>
            <a:r>
              <a:rPr lang="en-US" b="1">
                <a:solidFill>
                  <a:srgbClr val="0000CC"/>
                </a:solidFill>
                <a:latin typeface="Times New Roman"/>
                <a:cs typeface="Times New Roman"/>
              </a:rPr>
              <a:t> as an environment </a:t>
            </a:r>
            <a:r>
              <a:rPr lang="en-US">
                <a:latin typeface="Times New Roman"/>
                <a:cs typeface="Times New Roman"/>
              </a:rPr>
              <a:t>to practice and learn common </a:t>
            </a:r>
            <a:r>
              <a:rPr lang="en-US" b="1">
                <a:solidFill>
                  <a:srgbClr val="0000CC"/>
                </a:solidFill>
                <a:latin typeface="Times New Roman"/>
                <a:cs typeface="Times New Roman"/>
              </a:rPr>
              <a:t>Python</a:t>
            </a:r>
            <a:r>
              <a:rPr lang="en-US">
                <a:latin typeface="Times New Roman"/>
                <a:cs typeface="Times New Roman"/>
              </a:rPr>
              <a:t> lines of code.</a:t>
            </a:r>
            <a:endParaRPr/>
          </a:p>
          <a:p>
            <a:pPr marL="0" indent="0" algn="just">
              <a:buNone/>
              <a:defRPr/>
            </a:pPr>
            <a:endParaRPr lang="en-US">
              <a:latin typeface="Times New Roman"/>
              <a:cs typeface="Times New Roman"/>
            </a:endParaRPr>
          </a:p>
          <a:p>
            <a:pPr algn="just">
              <a:defRPr/>
            </a:pPr>
            <a:r>
              <a:rPr lang="en-US">
                <a:latin typeface="Times New Roman"/>
                <a:cs typeface="Times New Roman"/>
              </a:rPr>
              <a:t>Formulate simple calculations using </a:t>
            </a:r>
            <a:r>
              <a:rPr lang="en-US" b="1">
                <a:solidFill>
                  <a:srgbClr val="0000CC"/>
                </a:solidFill>
                <a:latin typeface="Times New Roman"/>
                <a:cs typeface="Times New Roman"/>
              </a:rPr>
              <a:t>Python</a:t>
            </a:r>
            <a:endParaRPr/>
          </a:p>
          <a:p>
            <a:pPr marL="0" indent="0" algn="just">
              <a:buNone/>
              <a:defRPr/>
            </a:pPr>
            <a:endParaRPr lang="en-US" b="1">
              <a:latin typeface="Times New Roman"/>
              <a:cs typeface="Times New Roman"/>
            </a:endParaRPr>
          </a:p>
          <a:p>
            <a:pPr algn="just">
              <a:defRPr/>
            </a:pPr>
            <a:r>
              <a:rPr lang="en-US">
                <a:latin typeface="Times New Roman"/>
                <a:cs typeface="Times New Roman"/>
              </a:rPr>
              <a:t>Identity the following </a:t>
            </a:r>
            <a:r>
              <a:rPr lang="en-US" b="1">
                <a:solidFill>
                  <a:srgbClr val="0000CC"/>
                </a:solidFill>
                <a:latin typeface="Times New Roman"/>
                <a:cs typeface="Times New Roman"/>
              </a:rPr>
              <a:t>datatypes</a:t>
            </a:r>
            <a:r>
              <a:rPr lang="en-US">
                <a:latin typeface="Times New Roman"/>
                <a:cs typeface="Times New Roman"/>
              </a:rPr>
              <a:t>: integer, float, and string</a:t>
            </a:r>
            <a:endParaRPr/>
          </a:p>
          <a:p>
            <a:pPr marL="0" indent="0" algn="just">
              <a:buNone/>
              <a:defRPr/>
            </a:pPr>
            <a:endParaRPr lang="en-US">
              <a:latin typeface="Times New Roman"/>
              <a:cs typeface="Times New Roman"/>
            </a:endParaRPr>
          </a:p>
          <a:p>
            <a:pPr algn="just">
              <a:defRPr/>
            </a:pPr>
            <a:r>
              <a:rPr lang="en-US">
                <a:latin typeface="Times New Roman"/>
                <a:cs typeface="Times New Roman"/>
              </a:rPr>
              <a:t>Employ </a:t>
            </a:r>
            <a:r>
              <a:rPr lang="en-US" b="1">
                <a:solidFill>
                  <a:srgbClr val="0000CC"/>
                </a:solidFill>
                <a:latin typeface="Times New Roman"/>
                <a:cs typeface="Times New Roman"/>
              </a:rPr>
              <a:t>variables</a:t>
            </a:r>
            <a:r>
              <a:rPr lang="en-US">
                <a:latin typeface="Times New Roman"/>
                <a:cs typeface="Times New Roman"/>
              </a:rPr>
              <a:t> for different datatypes</a:t>
            </a:r>
            <a:endParaRPr/>
          </a:p>
        </p:txBody>
      </p:sp>
      <p:sp>
        <p:nvSpPr>
          <p:cNvPr id="1718380194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144BBB-DA99-4FDF-9E1F-B5EEC68D5D7C}" type="slidenum">
              <a:rPr lang="es-ES_tradnl"/>
              <a:t>4</a:t>
            </a:fld>
            <a:endParaRPr lang="es-ES_tradnl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916916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>
                <a:latin typeface="Times New Roman"/>
                <a:cs typeface="Times New Roman"/>
              </a:rPr>
              <a:t>Objectives</a:t>
            </a:r>
            <a:endParaRPr/>
          </a:p>
        </p:txBody>
      </p:sp>
      <p:sp>
        <p:nvSpPr>
          <p:cNvPr id="971853688" name="Content Placeholder 2"/>
          <p:cNvSpPr>
            <a:spLocks noGrp="1"/>
          </p:cNvSpPr>
          <p:nvPr>
            <p:ph idx="1"/>
          </p:nvPr>
        </p:nvSpPr>
        <p:spPr bwMode="auto"/>
        <p:txBody>
          <a:bodyPr>
            <a:normAutofit/>
          </a:bodyPr>
          <a:lstStyle/>
          <a:p>
            <a:pPr algn="just">
              <a:defRPr/>
            </a:pPr>
            <a:r>
              <a:rPr lang="en-US">
                <a:latin typeface="Times New Roman"/>
                <a:cs typeface="Times New Roman"/>
              </a:rPr>
              <a:t>Manipulate integer, float, and string datatypes</a:t>
            </a:r>
            <a:endParaRPr/>
          </a:p>
          <a:p>
            <a:pPr algn="just">
              <a:defRPr/>
            </a:pPr>
            <a:endParaRPr lang="en-US">
              <a:latin typeface="Times New Roman"/>
              <a:cs typeface="Times New Roman"/>
            </a:endParaRPr>
          </a:p>
          <a:p>
            <a:pPr algn="just">
              <a:defRPr/>
            </a:pPr>
            <a:r>
              <a:rPr lang="en-US">
                <a:latin typeface="Times New Roman"/>
                <a:cs typeface="Times New Roman"/>
              </a:rPr>
              <a:t>Use </a:t>
            </a:r>
            <a:r>
              <a:rPr lang="en-US" b="1">
                <a:solidFill>
                  <a:srgbClr val="0000CC"/>
                </a:solidFill>
                <a:latin typeface="Times New Roman"/>
                <a:cs typeface="Times New Roman"/>
              </a:rPr>
              <a:t>bioinformatic tools </a:t>
            </a:r>
            <a:r>
              <a:rPr lang="en-US">
                <a:latin typeface="Times New Roman"/>
                <a:cs typeface="Times New Roman"/>
              </a:rPr>
              <a:t>to find a protein-coding sequence</a:t>
            </a:r>
            <a:endParaRPr/>
          </a:p>
          <a:p>
            <a:pPr marL="0" indent="0" algn="just">
              <a:buNone/>
              <a:defRPr/>
            </a:pPr>
            <a:endParaRPr lang="en-US">
              <a:latin typeface="Times New Roman"/>
              <a:cs typeface="Times New Roman"/>
            </a:endParaRPr>
          </a:p>
          <a:p>
            <a:pPr algn="just">
              <a:defRPr/>
            </a:pPr>
            <a:r>
              <a:rPr lang="en-US" b="1">
                <a:solidFill>
                  <a:srgbClr val="0000CC"/>
                </a:solidFill>
                <a:latin typeface="Times New Roman"/>
                <a:cs typeface="Times New Roman"/>
              </a:rPr>
              <a:t>Evaluate a protein-coding sequence</a:t>
            </a:r>
            <a:r>
              <a:rPr lang="en-US">
                <a:latin typeface="Times New Roman"/>
                <a:cs typeface="Times New Roman"/>
              </a:rPr>
              <a:t> of interest and calculate its GC content.</a:t>
            </a:r>
            <a:endParaRPr/>
          </a:p>
          <a:p>
            <a:pPr algn="just">
              <a:defRPr/>
            </a:pPr>
            <a:endParaRPr lang="en-US">
              <a:latin typeface="Times New Roman"/>
              <a:cs typeface="Times New Roman"/>
            </a:endParaRPr>
          </a:p>
          <a:p>
            <a:pPr algn="just">
              <a:defRPr/>
            </a:pPr>
            <a:r>
              <a:rPr lang="en-US" b="1">
                <a:solidFill>
                  <a:srgbClr val="0000CC"/>
                </a:solidFill>
                <a:latin typeface="Times New Roman"/>
                <a:cs typeface="Times New Roman"/>
              </a:rPr>
              <a:t>Debug</a:t>
            </a:r>
            <a:r>
              <a:rPr lang="en-US">
                <a:latin typeface="Times New Roman"/>
                <a:cs typeface="Times New Roman"/>
              </a:rPr>
              <a:t> code</a:t>
            </a:r>
            <a:endParaRPr/>
          </a:p>
        </p:txBody>
      </p:sp>
      <p:sp>
        <p:nvSpPr>
          <p:cNvPr id="1053970015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144BBB-DA99-4FDF-9E1F-B5EEC68D5D7C}" type="slidenum">
              <a:rPr lang="es-ES_tradnl"/>
              <a:t>5</a:t>
            </a:fld>
            <a:endParaRPr lang="es-ES_tradnl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1896732" name="Title 1"/>
          <p:cNvSpPr>
            <a:spLocks noGrp="1"/>
          </p:cNvSpPr>
          <p:nvPr>
            <p:ph type="title"/>
          </p:nvPr>
        </p:nvSpPr>
        <p:spPr bwMode="auto">
          <a:xfrm>
            <a:off x="0" y="516834"/>
            <a:ext cx="9144000" cy="1213611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>
                <a:latin typeface="Times New Roman"/>
                <a:cs typeface="Times New Roman"/>
              </a:rPr>
              <a:t>Target Audience</a:t>
            </a:r>
            <a:endParaRPr/>
          </a:p>
        </p:txBody>
      </p:sp>
      <p:sp>
        <p:nvSpPr>
          <p:cNvPr id="484762312" name="Content Placeholder 2"/>
          <p:cNvSpPr>
            <a:spLocks noGrp="1"/>
          </p:cNvSpPr>
          <p:nvPr>
            <p:ph idx="1"/>
          </p:nvPr>
        </p:nvSpPr>
        <p:spPr bwMode="auto">
          <a:xfrm>
            <a:off x="628650" y="1825624"/>
            <a:ext cx="7886700" cy="4747454"/>
          </a:xfrm>
        </p:spPr>
        <p:txBody>
          <a:bodyPr>
            <a:normAutofit/>
          </a:bodyPr>
          <a:lstStyle/>
          <a:p>
            <a:pPr algn="just">
              <a:defRPr/>
            </a:pPr>
            <a:r>
              <a:rPr lang="en-US">
                <a:latin typeface="Times New Roman"/>
                <a:cs typeface="Times New Roman"/>
              </a:rPr>
              <a:t>This training is addressed</a:t>
            </a:r>
            <a:r>
              <a:rPr lang="en-US">
                <a:latin typeface="Times New Roman"/>
                <a:cs typeface="Times New Roman"/>
              </a:rPr>
              <a:t> to beginners, highly motivated (eager to learn what is needed in order to be competitive without the tendency to self-limit when learning computational skills by saying that is difficult) wanting to become familiar with the </a:t>
            </a:r>
            <a:r>
              <a:rPr lang="en-US" b="1">
                <a:solidFill>
                  <a:srgbClr val="0000CC"/>
                </a:solidFill>
                <a:latin typeface="Times New Roman"/>
                <a:cs typeface="Times New Roman"/>
              </a:rPr>
              <a:t>Python </a:t>
            </a:r>
            <a:r>
              <a:rPr lang="en-US">
                <a:latin typeface="Times New Roman"/>
                <a:cs typeface="Times New Roman"/>
              </a:rPr>
              <a:t>programming language and become the Script Master of their bioinformatic analysis.</a:t>
            </a:r>
            <a:endParaRPr lang="en-US">
              <a:latin typeface="Times New Roman"/>
              <a:cs typeface="Times New Roman"/>
            </a:endParaRPr>
          </a:p>
        </p:txBody>
      </p:sp>
      <p:sp>
        <p:nvSpPr>
          <p:cNvPr id="1558453821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144BBB-DA99-4FDF-9E1F-B5EEC68D5D7C}" type="slidenum">
              <a:rPr lang="es-ES_tradnl"/>
              <a:t>6</a:t>
            </a:fld>
            <a:endParaRPr lang="es-ES_tradnl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7306904" name="Title 1"/>
          <p:cNvSpPr>
            <a:spLocks noGrp="1"/>
          </p:cNvSpPr>
          <p:nvPr>
            <p:ph type="title"/>
          </p:nvPr>
        </p:nvSpPr>
        <p:spPr bwMode="auto">
          <a:xfrm>
            <a:off x="0" y="516834"/>
            <a:ext cx="9144000" cy="1213611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>
                <a:latin typeface="Times New Roman"/>
                <a:cs typeface="Times New Roman"/>
              </a:rPr>
              <a:t>The importance of Python</a:t>
            </a:r>
            <a:endParaRPr/>
          </a:p>
        </p:txBody>
      </p:sp>
      <p:sp>
        <p:nvSpPr>
          <p:cNvPr id="1356579580" name="Content Placeholder 2"/>
          <p:cNvSpPr>
            <a:spLocks noGrp="1"/>
          </p:cNvSpPr>
          <p:nvPr>
            <p:ph idx="1"/>
          </p:nvPr>
        </p:nvSpPr>
        <p:spPr bwMode="auto">
          <a:xfrm>
            <a:off x="628650" y="1825624"/>
            <a:ext cx="7886700" cy="4747454"/>
          </a:xfrm>
        </p:spPr>
        <p:txBody>
          <a:bodyPr>
            <a:normAutofit/>
          </a:bodyPr>
          <a:lstStyle/>
          <a:p>
            <a:pPr algn="just">
              <a:defRPr/>
            </a:pPr>
            <a:r>
              <a:rPr lang="en-US" sz="2000">
                <a:latin typeface="Times New Roman"/>
                <a:cs typeface="Times New Roman"/>
              </a:rPr>
              <a:t>R is great; however, you’ll eventually run into the Python language</a:t>
            </a:r>
            <a:endParaRPr/>
          </a:p>
          <a:p>
            <a:pPr algn="just">
              <a:defRPr/>
            </a:pPr>
            <a:endParaRPr lang="en-US" sz="2000">
              <a:latin typeface="Times New Roman"/>
              <a:cs typeface="Times New Roman"/>
            </a:endParaRPr>
          </a:p>
          <a:p>
            <a:pPr algn="just">
              <a:defRPr/>
            </a:pPr>
            <a:r>
              <a:rPr lang="en-US" sz="2000">
                <a:latin typeface="Times New Roman"/>
                <a:cs typeface="Times New Roman"/>
              </a:rPr>
              <a:t>No matter your field, python will be a necessity (chemistry, biology, engineering, ecology, mathematics, </a:t>
            </a:r>
            <a:r>
              <a:rPr lang="en-US" sz="2000">
                <a:latin typeface="Times New Roman"/>
                <a:cs typeface="Times New Roman"/>
              </a:rPr>
              <a:t>etc</a:t>
            </a:r>
            <a:r>
              <a:rPr lang="en-US" sz="2000">
                <a:latin typeface="Times New Roman"/>
                <a:cs typeface="Times New Roman"/>
              </a:rPr>
              <a:t>) </a:t>
            </a:r>
            <a:endParaRPr/>
          </a:p>
          <a:p>
            <a:pPr marL="0" indent="0" algn="just">
              <a:buNone/>
              <a:defRPr/>
            </a:pPr>
            <a:endParaRPr lang="en-US" sz="2000">
              <a:latin typeface="Times New Roman"/>
              <a:cs typeface="Times New Roman"/>
            </a:endParaRPr>
          </a:p>
          <a:p>
            <a:pPr algn="just">
              <a:defRPr/>
            </a:pPr>
            <a:r>
              <a:rPr lang="en-US" sz="2000">
                <a:latin typeface="Times New Roman"/>
                <a:cs typeface="Times New Roman"/>
              </a:rPr>
              <a:t>Knowing Python gives you an edge when job searching and navigating graduate research</a:t>
            </a:r>
            <a:endParaRPr/>
          </a:p>
          <a:p>
            <a:pPr algn="just">
              <a:defRPr/>
            </a:pPr>
            <a:endParaRPr lang="en-US" sz="2000">
              <a:latin typeface="Times New Roman"/>
              <a:cs typeface="Times New Roman"/>
            </a:endParaRPr>
          </a:p>
          <a:p>
            <a:pPr algn="just">
              <a:defRPr/>
            </a:pPr>
            <a:r>
              <a:rPr lang="en-US" sz="2000">
                <a:latin typeface="Times New Roman"/>
                <a:cs typeface="Times New Roman"/>
              </a:rPr>
              <a:t>The majority of bioinformatic tools are python-based and will lead you navigate under the hood code to successfully execute said program’s purpose.</a:t>
            </a:r>
            <a:endParaRPr lang="en-US" sz="2000">
              <a:latin typeface="Times New Roman"/>
              <a:cs typeface="Times New Roman"/>
            </a:endParaRPr>
          </a:p>
        </p:txBody>
      </p:sp>
      <p:sp>
        <p:nvSpPr>
          <p:cNvPr id="526441584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144BBB-DA99-4FDF-9E1F-B5EEC68D5D7C}" type="slidenum">
              <a:rPr lang="es-ES_tradnl"/>
              <a:t>7</a:t>
            </a:fld>
            <a:endParaRPr lang="es-ES_tradnl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8797527" name="Title 1"/>
          <p:cNvSpPr>
            <a:spLocks noGrp="1"/>
          </p:cNvSpPr>
          <p:nvPr>
            <p:ph type="ctrTitle"/>
          </p:nvPr>
        </p:nvSpPr>
        <p:spPr bwMode="auto">
          <a:xfrm>
            <a:off x="685800" y="1104900"/>
            <a:ext cx="7772400" cy="4648200"/>
          </a:xfrm>
        </p:spPr>
        <p:txBody>
          <a:bodyPr anchor="ctr">
            <a:noAutofit/>
          </a:bodyPr>
          <a:lstStyle/>
          <a:p>
            <a:pPr>
              <a:defRPr/>
            </a:pPr>
            <a:r>
              <a:rPr lang="en-US" sz="6600" b="1" u="sng"/>
              <a:t>Lesson 1.0.0</a:t>
            </a:r>
            <a:br>
              <a:rPr lang="en-US" sz="6600" b="1"/>
            </a:br>
            <a:r>
              <a:rPr lang="en-US" sz="6600" b="1"/>
              <a:t>Connecting to </a:t>
            </a:r>
            <a:r>
              <a:rPr lang="en-US" sz="6600" b="1">
                <a:solidFill>
                  <a:srgbClr val="0000CC"/>
                </a:solidFill>
              </a:rPr>
              <a:t>G</a:t>
            </a:r>
            <a:r>
              <a:rPr lang="en-US" sz="6600">
                <a:solidFill>
                  <a:srgbClr val="0000CC"/>
                </a:solidFill>
              </a:rPr>
              <a:t>oogle </a:t>
            </a:r>
            <a:r>
              <a:rPr lang="en-US" sz="6600">
                <a:solidFill>
                  <a:srgbClr val="0000CC"/>
                </a:solidFill>
              </a:rPr>
              <a:t>Colab</a:t>
            </a:r>
            <a:r>
              <a:rPr lang="en-US" sz="6600" b="1"/>
              <a:t> to learn common </a:t>
            </a:r>
            <a:r>
              <a:rPr lang="en-US" sz="6600">
                <a:solidFill>
                  <a:srgbClr val="0000CC"/>
                </a:solidFill>
              </a:rPr>
              <a:t>Python </a:t>
            </a:r>
            <a:r>
              <a:rPr lang="en-US" sz="6600"/>
              <a:t>lines of code</a:t>
            </a:r>
            <a:endParaRPr lang="en-US" sz="6600" b="1"/>
          </a:p>
        </p:txBody>
      </p:sp>
      <p:sp>
        <p:nvSpPr>
          <p:cNvPr id="1417099388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3AD70ED5-6128-491B-B98E-94BED0CDCE15}" type="slidenum">
              <a:rPr lang="en-US">
                <a:solidFill>
                  <a:schemeClr val="tx1"/>
                </a:solidFill>
              </a:rPr>
              <a:t>8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720445628" name="TextBox 2"/>
          <p:cNvSpPr txBox="1"/>
          <p:nvPr/>
        </p:nvSpPr>
        <p:spPr bwMode="auto">
          <a:xfrm>
            <a:off x="1734014" y="5564675"/>
            <a:ext cx="56759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>
                <a:latin typeface="Times New Roman"/>
                <a:cs typeface="Times New Roman"/>
              </a:rPr>
              <a:t>(Gmail account ready for </a:t>
            </a:r>
            <a:r>
              <a:rPr lang="en-US">
                <a:solidFill>
                  <a:srgbClr val="0000CC"/>
                </a:solidFill>
                <a:latin typeface="Times New Roman"/>
                <a:cs typeface="Times New Roman"/>
              </a:rPr>
              <a:t>colab.research.google.com</a:t>
            </a:r>
            <a:r>
              <a:rPr lang="en-US">
                <a:solidFill>
                  <a:srgbClr val="0000CC"/>
                </a:solidFill>
                <a:latin typeface="Times New Roman"/>
                <a:cs typeface="Times New Roman"/>
              </a:rPr>
              <a:t>)</a:t>
            </a:r>
            <a:endParaRPr lang="en-US" sz="3600">
              <a:solidFill>
                <a:srgbClr val="0000CC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5017649" name="Title 1"/>
          <p:cNvSpPr>
            <a:spLocks noGrp="1"/>
          </p:cNvSpPr>
          <p:nvPr>
            <p:ph type="ctrTitle"/>
          </p:nvPr>
        </p:nvSpPr>
        <p:spPr bwMode="auto">
          <a:xfrm>
            <a:off x="1093304" y="1718455"/>
            <a:ext cx="6957390" cy="1213589"/>
          </a:xfrm>
        </p:spPr>
        <p:txBody>
          <a:bodyPr anchor="ctr">
            <a:noAutofit/>
          </a:bodyPr>
          <a:lstStyle/>
          <a:p>
            <a:pPr>
              <a:defRPr/>
            </a:pPr>
            <a:r>
              <a:rPr lang="en-US" sz="6600" b="0"/>
              <a:t>Google </a:t>
            </a:r>
            <a:r>
              <a:rPr lang="en-US" sz="6600" b="0"/>
              <a:t>Colab</a:t>
            </a:r>
            <a:endParaRPr lang="en-US" sz="6600" b="0"/>
          </a:p>
        </p:txBody>
      </p:sp>
      <p:sp>
        <p:nvSpPr>
          <p:cNvPr id="19768749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3AD70ED5-6128-491B-B98E-94BED0CDCE15}" type="slidenum">
              <a:rPr lang="en-US">
                <a:solidFill>
                  <a:schemeClr val="tx1"/>
                </a:solidFill>
              </a:rPr>
              <a:t>9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171489045" name="TextBox 1"/>
          <p:cNvSpPr txBox="1"/>
          <p:nvPr/>
        </p:nvSpPr>
        <p:spPr bwMode="auto">
          <a:xfrm>
            <a:off x="356221" y="2823736"/>
            <a:ext cx="8423618" cy="769441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4400" u="sng">
                <a:hlinkClick r:id="rId3" tooltip=""/>
              </a:rPr>
              <a:t>https://colab.research.google.com</a:t>
            </a:r>
            <a:r>
              <a:rPr lang="en-US" sz="4400"/>
              <a:t> </a:t>
            </a:r>
            <a:endParaRPr/>
          </a:p>
        </p:txBody>
      </p:sp>
      <p:grpSp>
        <p:nvGrpSpPr>
          <p:cNvPr id="551381880" name="Group 10"/>
          <p:cNvGrpSpPr/>
          <p:nvPr/>
        </p:nvGrpSpPr>
        <p:grpSpPr bwMode="auto">
          <a:xfrm>
            <a:off x="4156868" y="3821362"/>
            <a:ext cx="822325" cy="1762128"/>
            <a:chOff x="2640" y="-486"/>
            <a:chExt cx="518" cy="1110"/>
          </a:xfrm>
        </p:grpSpPr>
        <p:cxnSp>
          <p:nvCxnSpPr>
            <p:cNvPr id="4" name="Straight Arrow Connector 3"/>
            <p:cNvCxnSpPr>
              <a:cxnSpLocks noChangeShapeType="1"/>
            </p:cNvCxnSpPr>
            <p:nvPr/>
          </p:nvCxnSpPr>
          <p:spPr bwMode="auto">
            <a:xfrm rot="16199999">
              <a:off x="2608" y="-199"/>
              <a:ext cx="576" cy="1"/>
            </a:xfrm>
            <a:prstGeom prst="straightConnector1">
              <a:avLst/>
            </a:prstGeom>
            <a:noFill/>
            <a:ln w="73025" algn="ctr">
              <a:solidFill>
                <a:srgbClr val="FF0000"/>
              </a:solidFill>
              <a:round/>
              <a:headEnd/>
              <a:tailEnd type="arrow" w="med" len="med"/>
            </a:ln>
          </p:spPr>
        </p:cxnSp>
        <p:sp>
          <p:nvSpPr>
            <p:cNvPr id="5" name="Oval 10"/>
            <p:cNvSpPr>
              <a:spLocks noChangeArrowheads="1"/>
            </p:cNvSpPr>
            <p:nvPr/>
          </p:nvSpPr>
          <p:spPr bwMode="auto">
            <a:xfrm rot="10800000" flipV="1">
              <a:off x="2640" y="96"/>
              <a:ext cx="518" cy="528"/>
            </a:xfrm>
            <a:prstGeom prst="ellipse">
              <a:avLst/>
            </a:prstGeom>
            <a:solidFill>
              <a:schemeClr val="bg1"/>
            </a:solidFill>
            <a:ln w="73025" algn="ctr">
              <a:solidFill>
                <a:srgbClr val="FF0000"/>
              </a:solidFill>
              <a:round/>
              <a:headEnd/>
              <a:tailEnd/>
            </a:ln>
          </p:spPr>
          <p:txBody>
            <a:bodyPr wrap="none"/>
            <a:lstStyle/>
            <a:p>
              <a:pPr algn="ctr">
                <a:defRPr/>
              </a:pPr>
              <a:r>
                <a:rPr lang="en-US" sz="3600" b="1">
                  <a:solidFill>
                    <a:srgbClr val="000000"/>
                  </a:solidFill>
                </a:rPr>
                <a:t>1</a:t>
              </a:r>
              <a:endParaRPr/>
            </a:p>
          </p:txBody>
        </p:sp>
      </p:grpSp>
      <p:sp>
        <p:nvSpPr>
          <p:cNvPr id="1819508238" name="TextBox 8"/>
          <p:cNvSpPr txBox="1"/>
          <p:nvPr/>
        </p:nvSpPr>
        <p:spPr bwMode="auto">
          <a:xfrm>
            <a:off x="2228365" y="5807503"/>
            <a:ext cx="4671392" cy="461665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2400"/>
              <a:t>Activate the link</a:t>
            </a:r>
            <a:endParaRPr/>
          </a:p>
        </p:txBody>
      </p:sp>
      <p:pic>
        <p:nvPicPr>
          <p:cNvPr id="3176868" name="Picture 4" descr="Google Colab tutorial for Data Science | Erich Hohenstein | Level Up Coding"/>
          <p:cNvPicPr>
            <a:picLocks noChangeAspect="1" noChangeArrowheads="1"/>
          </p:cNvPicPr>
          <p:nvPr/>
        </p:nvPicPr>
        <p:blipFill rotWithShape="1">
          <a:blip r:embed="rId4"/>
          <a:stretch/>
        </p:blipFill>
        <p:spPr bwMode="auto">
          <a:xfrm>
            <a:off x="356221" y="934837"/>
            <a:ext cx="2582923" cy="983634"/>
          </a:xfrm>
          <a:prstGeom prst="rect">
            <a:avLst/>
          </a:prstGeom>
          <a:noFill/>
        </p:spPr>
      </p:pic>
      <p:pic>
        <p:nvPicPr>
          <p:cNvPr id="813356714" name="Picture 6" descr="Welcome To Colaboratory - Colaboratory"/>
          <p:cNvPicPr>
            <a:picLocks noChangeAspect="1" noChangeArrowheads="1"/>
          </p:cNvPicPr>
          <p:nvPr/>
        </p:nvPicPr>
        <p:blipFill rotWithShape="1">
          <a:blip r:embed="rId5"/>
          <a:stretch/>
        </p:blipFill>
        <p:spPr bwMode="auto">
          <a:xfrm>
            <a:off x="6204858" y="461974"/>
            <a:ext cx="1929360" cy="1929360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50739676" name="Picture 1" descr="Graphical user interface, text, application, email&#10;&#10;Description automatically generated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1143000"/>
            <a:ext cx="9144000" cy="5715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4591813" name="Title 1"/>
          <p:cNvSpPr txBox="1"/>
          <p:nvPr/>
        </p:nvSpPr>
        <p:spPr bwMode="auto">
          <a:xfrm>
            <a:off x="13084" y="0"/>
            <a:ext cx="9144000" cy="862761"/>
          </a:xfrm>
          <a:prstGeom prst="rect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txBody>
          <a:bodyPr anchor="ctr">
            <a:normAutofit/>
          </a:bodyPr>
          <a:lstStyle>
            <a:lvl1pPr algn="ctr" defTabSz="914400" rtl="0">
              <a:lnSpc>
                <a:spcPct val="90000"/>
              </a:lnSpc>
              <a:spcBef>
                <a:spcPts val="0"/>
              </a:spcBef>
              <a:buNone/>
              <a:defRPr sz="44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>
                <a:latin typeface="Times New Roman"/>
                <a:cs typeface="Times New Roman"/>
              </a:rPr>
              <a:t>Activate </a:t>
            </a:r>
            <a:r>
              <a:rPr lang="en-US">
                <a:solidFill>
                  <a:srgbClr val="0000CC"/>
                </a:solidFill>
                <a:latin typeface="Times New Roman"/>
                <a:cs typeface="Times New Roman"/>
              </a:rPr>
              <a:t>colab.research.google.com</a:t>
            </a:r>
            <a:endParaRPr lang="en-US" sz="3600">
              <a:solidFill>
                <a:srgbClr val="0000CC"/>
              </a:solidFill>
            </a:endParaRPr>
          </a:p>
        </p:txBody>
      </p:sp>
      <p:sp>
        <p:nvSpPr>
          <p:cNvPr id="793299925" name="Slide Number Placeholder 2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144BBB-DA99-4FDF-9E1F-B5EEC68D5D7C}" type="slidenum">
              <a:rPr lang="es-ES_tradnl"/>
              <a:t>10</a:t>
            </a:fld>
            <a:endParaRPr lang="es-ES_tradnl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76371063" name="Picture 2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1143000"/>
            <a:ext cx="9144000" cy="5715000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792521335" name="Group 10"/>
          <p:cNvGrpSpPr/>
          <p:nvPr/>
        </p:nvGrpSpPr>
        <p:grpSpPr bwMode="auto">
          <a:xfrm rot="17935211">
            <a:off x="2875670" y="1550524"/>
            <a:ext cx="838200" cy="1754191"/>
            <a:chOff x="2635" y="-486"/>
            <a:chExt cx="528" cy="1105"/>
          </a:xfrm>
        </p:grpSpPr>
        <p:cxnSp>
          <p:nvCxnSpPr>
            <p:cNvPr id="5" name="Straight Arrow Connector 4"/>
            <p:cNvCxnSpPr>
              <a:cxnSpLocks noChangeShapeType="1"/>
            </p:cNvCxnSpPr>
            <p:nvPr/>
          </p:nvCxnSpPr>
          <p:spPr bwMode="auto">
            <a:xfrm rot="16199999">
              <a:off x="2608" y="-199"/>
              <a:ext cx="576" cy="1"/>
            </a:xfrm>
            <a:prstGeom prst="straightConnector1">
              <a:avLst/>
            </a:prstGeom>
            <a:noFill/>
            <a:ln w="73025" algn="ctr">
              <a:solidFill>
                <a:srgbClr val="FF0000"/>
              </a:solidFill>
              <a:round/>
              <a:headEnd/>
              <a:tailEnd type="arrow" w="med" len="med"/>
            </a:ln>
          </p:spPr>
        </p:cxnSp>
        <p:sp>
          <p:nvSpPr>
            <p:cNvPr id="6" name="Oval 10"/>
            <p:cNvSpPr>
              <a:spLocks noChangeArrowheads="1"/>
            </p:cNvSpPr>
            <p:nvPr/>
          </p:nvSpPr>
          <p:spPr bwMode="auto">
            <a:xfrm rot="14464788" flipV="1">
              <a:off x="2640" y="96"/>
              <a:ext cx="518" cy="528"/>
            </a:xfrm>
            <a:prstGeom prst="ellipse">
              <a:avLst/>
            </a:prstGeom>
            <a:solidFill>
              <a:schemeClr val="bg1"/>
            </a:solidFill>
            <a:ln w="73025" algn="ctr">
              <a:solidFill>
                <a:srgbClr val="FF0000"/>
              </a:solidFill>
              <a:round/>
              <a:headEnd/>
              <a:tailEnd/>
            </a:ln>
          </p:spPr>
          <p:txBody>
            <a:bodyPr wrap="none"/>
            <a:lstStyle/>
            <a:p>
              <a:pPr algn="ctr">
                <a:defRPr/>
              </a:pPr>
              <a:r>
                <a:rPr lang="en-US" sz="3600" b="1">
                  <a:solidFill>
                    <a:srgbClr val="000000"/>
                  </a:solidFill>
                </a:rPr>
                <a:t>1</a:t>
              </a:r>
              <a:endParaRPr/>
            </a:p>
          </p:txBody>
        </p:sp>
      </p:grpSp>
      <p:sp>
        <p:nvSpPr>
          <p:cNvPr id="1376434773" name="Title 1"/>
          <p:cNvSpPr txBox="1"/>
          <p:nvPr/>
        </p:nvSpPr>
        <p:spPr bwMode="auto">
          <a:xfrm>
            <a:off x="0" y="1"/>
            <a:ext cx="9144000" cy="713678"/>
          </a:xfrm>
          <a:prstGeom prst="rect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txBody>
          <a:bodyPr>
            <a:normAutofit/>
          </a:bodyPr>
          <a:lstStyle>
            <a:lvl1pPr algn="ctr" defTabSz="914400" rtl="0">
              <a:lnSpc>
                <a:spcPct val="90000"/>
              </a:lnSpc>
              <a:spcBef>
                <a:spcPts val="0"/>
              </a:spcBef>
              <a:buNone/>
              <a:defRPr sz="44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>
                <a:latin typeface="Times New Roman"/>
                <a:cs typeface="Times New Roman"/>
              </a:rPr>
              <a:t>Open a </a:t>
            </a:r>
            <a:r>
              <a:rPr lang="en-US">
                <a:solidFill>
                  <a:srgbClr val="0000CC"/>
                </a:solidFill>
                <a:latin typeface="Times New Roman"/>
                <a:cs typeface="Times New Roman"/>
              </a:rPr>
              <a:t>New notebook</a:t>
            </a:r>
            <a:endParaRPr lang="en-US" sz="3600">
              <a:solidFill>
                <a:srgbClr val="0000CC"/>
              </a:solidFill>
            </a:endParaRPr>
          </a:p>
        </p:txBody>
      </p:sp>
      <p:sp>
        <p:nvSpPr>
          <p:cNvPr id="2061170141" name="TextBox 1"/>
          <p:cNvSpPr txBox="1"/>
          <p:nvPr/>
        </p:nvSpPr>
        <p:spPr bwMode="auto">
          <a:xfrm>
            <a:off x="2804835" y="3240305"/>
            <a:ext cx="2085217" cy="461665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2400"/>
              <a:t>New notebook</a:t>
            </a:r>
            <a:endParaRPr/>
          </a:p>
        </p:txBody>
      </p:sp>
      <p:sp>
        <p:nvSpPr>
          <p:cNvPr id="1189095810" name="Slide Number Placeholder 7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144BBB-DA99-4FDF-9E1F-B5EEC68D5D7C}" type="slidenum">
              <a:rPr lang="es-ES_tradnl"/>
              <a:t>11</a:t>
            </a:fld>
            <a:endParaRPr lang="es-ES_tradnl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75094852" name="Picture 2" descr="Graphical user interface, application, Word&#10;&#10;Description automatically generated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1143000"/>
            <a:ext cx="9144000" cy="5715000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1338266291" name="Group 10"/>
          <p:cNvGrpSpPr/>
          <p:nvPr/>
        </p:nvGrpSpPr>
        <p:grpSpPr bwMode="auto">
          <a:xfrm>
            <a:off x="6480885" y="1666871"/>
            <a:ext cx="822325" cy="1762128"/>
            <a:chOff x="2640" y="-486"/>
            <a:chExt cx="518" cy="1110"/>
          </a:xfrm>
        </p:grpSpPr>
        <p:cxnSp>
          <p:nvCxnSpPr>
            <p:cNvPr id="5" name="Straight Arrow Connector 4"/>
            <p:cNvCxnSpPr>
              <a:cxnSpLocks noChangeShapeType="1"/>
            </p:cNvCxnSpPr>
            <p:nvPr/>
          </p:nvCxnSpPr>
          <p:spPr bwMode="auto">
            <a:xfrm rot="16199999">
              <a:off x="2608" y="-199"/>
              <a:ext cx="576" cy="1"/>
            </a:xfrm>
            <a:prstGeom prst="straightConnector1">
              <a:avLst/>
            </a:prstGeom>
            <a:noFill/>
            <a:ln w="73025" algn="ctr">
              <a:solidFill>
                <a:srgbClr val="FF0000"/>
              </a:solidFill>
              <a:round/>
              <a:headEnd/>
              <a:tailEnd type="arrow" w="med" len="med"/>
            </a:ln>
          </p:spPr>
        </p:cxnSp>
        <p:sp>
          <p:nvSpPr>
            <p:cNvPr id="6" name="Oval 10"/>
            <p:cNvSpPr>
              <a:spLocks noChangeArrowheads="1"/>
            </p:cNvSpPr>
            <p:nvPr/>
          </p:nvSpPr>
          <p:spPr bwMode="auto">
            <a:xfrm rot="10800000" flipV="1">
              <a:off x="2640" y="96"/>
              <a:ext cx="518" cy="528"/>
            </a:xfrm>
            <a:prstGeom prst="ellipse">
              <a:avLst/>
            </a:prstGeom>
            <a:solidFill>
              <a:schemeClr val="bg1"/>
            </a:solidFill>
            <a:ln w="57150" algn="ctr">
              <a:solidFill>
                <a:srgbClr val="FF0000"/>
              </a:solidFill>
              <a:round/>
              <a:headEnd/>
              <a:tailEnd/>
            </a:ln>
          </p:spPr>
          <p:txBody>
            <a:bodyPr wrap="none"/>
            <a:lstStyle/>
            <a:p>
              <a:pPr algn="ctr">
                <a:defRPr/>
              </a:pPr>
              <a:r>
                <a:rPr lang="en-US" sz="3600" b="1">
                  <a:solidFill>
                    <a:srgbClr val="000000"/>
                  </a:solidFill>
                </a:rPr>
                <a:t>1</a:t>
              </a:r>
              <a:endParaRPr/>
            </a:p>
          </p:txBody>
        </p:sp>
      </p:grpSp>
      <p:sp>
        <p:nvSpPr>
          <p:cNvPr id="526184187" name="Title 1"/>
          <p:cNvSpPr txBox="1"/>
          <p:nvPr/>
        </p:nvSpPr>
        <p:spPr bwMode="auto">
          <a:xfrm>
            <a:off x="0" y="0"/>
            <a:ext cx="9144000" cy="751945"/>
          </a:xfrm>
          <a:prstGeom prst="rect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txBody>
          <a:bodyPr anchor="ctr">
            <a:normAutofit/>
          </a:bodyPr>
          <a:lstStyle>
            <a:lvl1pPr algn="ctr" defTabSz="914400" rtl="0">
              <a:lnSpc>
                <a:spcPct val="90000"/>
              </a:lnSpc>
              <a:spcBef>
                <a:spcPts val="0"/>
              </a:spcBef>
              <a:buNone/>
              <a:defRPr sz="44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>
                <a:latin typeface="Times New Roman"/>
                <a:cs typeface="Times New Roman"/>
              </a:rPr>
              <a:t>Welcome to your new notebook!</a:t>
            </a:r>
            <a:endParaRPr lang="en-US" sz="3600"/>
          </a:p>
        </p:txBody>
      </p:sp>
      <p:sp>
        <p:nvSpPr>
          <p:cNvPr id="1920249144" name="TextBox 1"/>
          <p:cNvSpPr txBox="1"/>
          <p:nvPr/>
        </p:nvSpPr>
        <p:spPr bwMode="auto">
          <a:xfrm>
            <a:off x="6400800" y="3574140"/>
            <a:ext cx="2596114" cy="461665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2400"/>
              <a:t>New tab opens</a:t>
            </a:r>
            <a:endParaRPr/>
          </a:p>
        </p:txBody>
      </p:sp>
      <p:grpSp>
        <p:nvGrpSpPr>
          <p:cNvPr id="1530020583" name="Group 10"/>
          <p:cNvGrpSpPr/>
          <p:nvPr/>
        </p:nvGrpSpPr>
        <p:grpSpPr bwMode="auto">
          <a:xfrm rot="18083408">
            <a:off x="2429188" y="1454681"/>
            <a:ext cx="838200" cy="1754191"/>
            <a:chOff x="2635" y="-486"/>
            <a:chExt cx="528" cy="1105"/>
          </a:xfrm>
        </p:grpSpPr>
        <p:cxnSp>
          <p:nvCxnSpPr>
            <p:cNvPr id="9" name="Straight Arrow Connector 8"/>
            <p:cNvCxnSpPr>
              <a:cxnSpLocks noChangeShapeType="1"/>
            </p:cNvCxnSpPr>
            <p:nvPr/>
          </p:nvCxnSpPr>
          <p:spPr bwMode="auto">
            <a:xfrm rot="16199999">
              <a:off x="2608" y="-199"/>
              <a:ext cx="576" cy="1"/>
            </a:xfrm>
            <a:prstGeom prst="straightConnector1">
              <a:avLst/>
            </a:prstGeom>
            <a:noFill/>
            <a:ln w="73025" algn="ctr">
              <a:solidFill>
                <a:srgbClr val="FF0000"/>
              </a:solidFill>
              <a:round/>
              <a:headEnd/>
              <a:tailEnd type="arrow" w="med" len="med"/>
            </a:ln>
          </p:spPr>
        </p:cxnSp>
        <p:sp>
          <p:nvSpPr>
            <p:cNvPr id="10" name="Oval 10"/>
            <p:cNvSpPr>
              <a:spLocks noChangeArrowheads="1"/>
            </p:cNvSpPr>
            <p:nvPr/>
          </p:nvSpPr>
          <p:spPr bwMode="auto">
            <a:xfrm rot="14316592" flipV="1">
              <a:off x="2640" y="96"/>
              <a:ext cx="518" cy="528"/>
            </a:xfrm>
            <a:prstGeom prst="ellipse">
              <a:avLst/>
            </a:prstGeom>
            <a:solidFill>
              <a:schemeClr val="bg1"/>
            </a:solidFill>
            <a:ln w="73025" algn="ctr">
              <a:solidFill>
                <a:srgbClr val="FF0000"/>
              </a:solidFill>
              <a:round/>
              <a:headEnd/>
              <a:tailEnd/>
            </a:ln>
          </p:spPr>
          <p:txBody>
            <a:bodyPr wrap="none"/>
            <a:lstStyle/>
            <a:p>
              <a:pPr algn="ctr">
                <a:defRPr/>
              </a:pPr>
              <a:r>
                <a:rPr lang="en-US" sz="3600" b="1">
                  <a:solidFill>
                    <a:srgbClr val="000000"/>
                  </a:solidFill>
                </a:rPr>
                <a:t>2</a:t>
              </a:r>
              <a:endParaRPr/>
            </a:p>
          </p:txBody>
        </p:sp>
      </p:grpSp>
      <p:sp>
        <p:nvSpPr>
          <p:cNvPr id="492035956" name="TextBox 10"/>
          <p:cNvSpPr txBox="1"/>
          <p:nvPr/>
        </p:nvSpPr>
        <p:spPr bwMode="auto">
          <a:xfrm>
            <a:off x="910330" y="3198167"/>
            <a:ext cx="2946053" cy="461665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2400"/>
              <a:t>Your notebook name</a:t>
            </a:r>
            <a:endParaRPr/>
          </a:p>
        </p:txBody>
      </p:sp>
      <p:sp>
        <p:nvSpPr>
          <p:cNvPr id="1128621720" name="Slide Number Placeholder 11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144BBB-DA99-4FDF-9E1F-B5EEC68D5D7C}" type="slidenum">
              <a:rPr lang="es-ES_tradnl"/>
              <a:t>12</a:t>
            </a:fld>
            <a:endParaRPr lang="es-ES_tradnl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91334787" name="Picture 2" descr="What is GitHub.. GitHub is a platform ..."/>
          <p:cNvPicPr>
            <a:picLocks noChangeAspect="1" noChangeArrowheads="1"/>
          </p:cNvPicPr>
          <p:nvPr/>
        </p:nvPicPr>
        <p:blipFill rotWithShape="1">
          <a:blip r:embed="rId3"/>
          <a:stretch/>
        </p:blipFill>
        <p:spPr bwMode="auto">
          <a:xfrm>
            <a:off x="1414799" y="693837"/>
            <a:ext cx="6298523" cy="2321407"/>
          </a:xfrm>
          <a:prstGeom prst="rect">
            <a:avLst/>
          </a:prstGeom>
          <a:noFill/>
        </p:spPr>
      </p:pic>
      <p:sp>
        <p:nvSpPr>
          <p:cNvPr id="106621470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3AD70ED5-6128-491B-B98E-94BED0CDCE15}" type="slidenum">
              <a:rPr lang="en-US">
                <a:solidFill>
                  <a:schemeClr val="tx1"/>
                </a:solidFill>
              </a:rPr>
              <a:t>13</a:t>
            </a:fld>
            <a:endParaRPr lang="en-US">
              <a:solidFill>
                <a:schemeClr val="tx1"/>
              </a:solidFill>
            </a:endParaRPr>
          </a:p>
        </p:txBody>
      </p:sp>
      <p:sp>
        <p:nvSpPr>
          <p:cNvPr id="1133699953" name="TextBox 1"/>
          <p:cNvSpPr txBox="1"/>
          <p:nvPr/>
        </p:nvSpPr>
        <p:spPr bwMode="auto">
          <a:xfrm>
            <a:off x="356221" y="2777242"/>
            <a:ext cx="8423618" cy="1200329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3600" u="sng">
                <a:hlinkClick r:id="rId4" tooltip=""/>
              </a:rPr>
              <a:t>https://github.com/bioinfwithjudith/PR-INBRE_Python_Workshop</a:t>
            </a:r>
            <a:r>
              <a:rPr lang="en-US" sz="3600"/>
              <a:t> </a:t>
            </a:r>
            <a:endParaRPr/>
          </a:p>
        </p:txBody>
      </p:sp>
      <p:grpSp>
        <p:nvGrpSpPr>
          <p:cNvPr id="1135993200" name="Group 10"/>
          <p:cNvGrpSpPr/>
          <p:nvPr/>
        </p:nvGrpSpPr>
        <p:grpSpPr bwMode="auto">
          <a:xfrm>
            <a:off x="4156868" y="3976345"/>
            <a:ext cx="822325" cy="1762128"/>
            <a:chOff x="2640" y="-486"/>
            <a:chExt cx="518" cy="1110"/>
          </a:xfrm>
        </p:grpSpPr>
        <p:cxnSp>
          <p:nvCxnSpPr>
            <p:cNvPr id="4" name="Straight Arrow Connector 3"/>
            <p:cNvCxnSpPr>
              <a:cxnSpLocks noChangeShapeType="1"/>
            </p:cNvCxnSpPr>
            <p:nvPr/>
          </p:nvCxnSpPr>
          <p:spPr bwMode="auto">
            <a:xfrm rot="16199999">
              <a:off x="2608" y="-199"/>
              <a:ext cx="576" cy="1"/>
            </a:xfrm>
            <a:prstGeom prst="straightConnector1">
              <a:avLst/>
            </a:prstGeom>
            <a:noFill/>
            <a:ln w="73025" algn="ctr">
              <a:solidFill>
                <a:srgbClr val="FF0000"/>
              </a:solidFill>
              <a:round/>
              <a:headEnd/>
              <a:tailEnd type="arrow" w="med" len="med"/>
            </a:ln>
          </p:spPr>
        </p:cxnSp>
        <p:sp>
          <p:nvSpPr>
            <p:cNvPr id="5" name="Oval 10"/>
            <p:cNvSpPr>
              <a:spLocks noChangeArrowheads="1"/>
            </p:cNvSpPr>
            <p:nvPr/>
          </p:nvSpPr>
          <p:spPr bwMode="auto">
            <a:xfrm rot="10800000" flipV="1">
              <a:off x="2640" y="96"/>
              <a:ext cx="518" cy="528"/>
            </a:xfrm>
            <a:prstGeom prst="ellipse">
              <a:avLst/>
            </a:prstGeom>
            <a:solidFill>
              <a:schemeClr val="bg1"/>
            </a:solidFill>
            <a:ln w="73025" algn="ctr">
              <a:solidFill>
                <a:srgbClr val="FF0000"/>
              </a:solidFill>
              <a:round/>
              <a:headEnd/>
              <a:tailEnd/>
            </a:ln>
          </p:spPr>
          <p:txBody>
            <a:bodyPr wrap="none"/>
            <a:lstStyle/>
            <a:p>
              <a:pPr algn="ctr">
                <a:defRPr/>
              </a:pPr>
              <a:r>
                <a:rPr lang="en-US" sz="3600" b="1">
                  <a:solidFill>
                    <a:srgbClr val="000000"/>
                  </a:solidFill>
                </a:rPr>
                <a:t>3</a:t>
              </a:r>
              <a:endParaRPr/>
            </a:p>
          </p:txBody>
        </p:sp>
      </p:grpSp>
      <p:sp>
        <p:nvSpPr>
          <p:cNvPr id="1546965787" name="TextBox 8"/>
          <p:cNvSpPr txBox="1"/>
          <p:nvPr/>
        </p:nvSpPr>
        <p:spPr bwMode="auto">
          <a:xfrm>
            <a:off x="2228365" y="5962486"/>
            <a:ext cx="4671392" cy="461665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2400"/>
              <a:t>In a new tab, activate the link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6171329" name="Title 1"/>
          <p:cNvSpPr txBox="1"/>
          <p:nvPr/>
        </p:nvSpPr>
        <p:spPr bwMode="auto">
          <a:xfrm>
            <a:off x="13084" y="0"/>
            <a:ext cx="9144000" cy="862761"/>
          </a:xfrm>
          <a:prstGeom prst="rect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txBody>
          <a:bodyPr anchor="ctr">
            <a:normAutofit/>
          </a:bodyPr>
          <a:lstStyle>
            <a:lvl1pPr algn="ctr" defTabSz="914400" rtl="0">
              <a:lnSpc>
                <a:spcPct val="90000"/>
              </a:lnSpc>
              <a:spcBef>
                <a:spcPts val="0"/>
              </a:spcBef>
              <a:buNone/>
              <a:defRPr sz="44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>
                <a:latin typeface="Times New Roman"/>
                <a:cs typeface="Times New Roman"/>
              </a:rPr>
              <a:t>This is a GitHub repository!</a:t>
            </a:r>
            <a:endParaRPr lang="en-US" sz="3600">
              <a:solidFill>
                <a:srgbClr val="0000CC"/>
              </a:solidFill>
            </a:endParaRPr>
          </a:p>
        </p:txBody>
      </p:sp>
      <p:sp>
        <p:nvSpPr>
          <p:cNvPr id="2131030279" name="Slide Number Placeholder 2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144BBB-DA99-4FDF-9E1F-B5EEC68D5D7C}" type="slidenum">
              <a:rPr lang="es-ES_tradnl"/>
              <a:t>14</a:t>
            </a:fld>
            <a:endParaRPr lang="es-ES_tradnl"/>
          </a:p>
        </p:txBody>
      </p:sp>
      <p:pic>
        <p:nvPicPr>
          <p:cNvPr id="1838137931" name="Picture 5" descr="A computer screen shot of a computer&#10;&#10;Description automatically generated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-285750" y="925888"/>
            <a:ext cx="9704356" cy="62808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0090149" name="Title 1"/>
          <p:cNvSpPr txBox="1"/>
          <p:nvPr/>
        </p:nvSpPr>
        <p:spPr bwMode="auto">
          <a:xfrm>
            <a:off x="13084" y="0"/>
            <a:ext cx="9144000" cy="862761"/>
          </a:xfrm>
          <a:prstGeom prst="rect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txBody>
          <a:bodyPr anchor="ctr">
            <a:normAutofit/>
          </a:bodyPr>
          <a:lstStyle>
            <a:lvl1pPr algn="ctr" defTabSz="914400" rtl="0">
              <a:lnSpc>
                <a:spcPct val="90000"/>
              </a:lnSpc>
              <a:spcBef>
                <a:spcPts val="0"/>
              </a:spcBef>
              <a:buNone/>
              <a:defRPr sz="44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>
                <a:latin typeface="Times New Roman"/>
                <a:cs typeface="Times New Roman"/>
              </a:rPr>
              <a:t>Download </a:t>
            </a:r>
            <a:r>
              <a:rPr lang="en-US">
                <a:latin typeface="Times New Roman"/>
                <a:cs typeface="Times New Roman"/>
              </a:rPr>
              <a:t>Jupyter</a:t>
            </a:r>
            <a:r>
              <a:rPr lang="en-US">
                <a:latin typeface="Times New Roman"/>
                <a:cs typeface="Times New Roman"/>
              </a:rPr>
              <a:t> Notebook</a:t>
            </a:r>
            <a:endParaRPr lang="en-US" sz="3600">
              <a:solidFill>
                <a:srgbClr val="0000CC"/>
              </a:solidFill>
            </a:endParaRPr>
          </a:p>
        </p:txBody>
      </p:sp>
      <p:sp>
        <p:nvSpPr>
          <p:cNvPr id="1996202249" name="Slide Number Placeholder 2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144BBB-DA99-4FDF-9E1F-B5EEC68D5D7C}" type="slidenum">
              <a:rPr lang="es-ES_tradnl"/>
              <a:t>15</a:t>
            </a:fld>
            <a:endParaRPr lang="es-ES_tradnl"/>
          </a:p>
        </p:txBody>
      </p:sp>
      <p:pic>
        <p:nvPicPr>
          <p:cNvPr id="1886406090" name="Picture 3" descr="A screenshot of a computer&#10;&#10;Description automatically generated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-244187" y="862760"/>
            <a:ext cx="9627021" cy="6230767"/>
          </a:xfrm>
          <a:prstGeom prst="rect">
            <a:avLst/>
          </a:prstGeom>
        </p:spPr>
      </p:pic>
      <p:grpSp>
        <p:nvGrpSpPr>
          <p:cNvPr id="582008657" name="Group 10"/>
          <p:cNvGrpSpPr/>
          <p:nvPr/>
        </p:nvGrpSpPr>
        <p:grpSpPr bwMode="auto">
          <a:xfrm rot="18083408">
            <a:off x="3080352" y="3851521"/>
            <a:ext cx="838200" cy="1754191"/>
            <a:chOff x="2635" y="-486"/>
            <a:chExt cx="528" cy="1105"/>
          </a:xfrm>
        </p:grpSpPr>
        <p:cxnSp>
          <p:nvCxnSpPr>
            <p:cNvPr id="10" name="Straight Arrow Connector 9"/>
            <p:cNvCxnSpPr>
              <a:cxnSpLocks noChangeShapeType="1"/>
            </p:cNvCxnSpPr>
            <p:nvPr/>
          </p:nvCxnSpPr>
          <p:spPr bwMode="auto">
            <a:xfrm rot="16199999">
              <a:off x="2608" y="-199"/>
              <a:ext cx="576" cy="1"/>
            </a:xfrm>
            <a:prstGeom prst="straightConnector1">
              <a:avLst/>
            </a:prstGeom>
            <a:noFill/>
            <a:ln w="73025" algn="ctr">
              <a:solidFill>
                <a:srgbClr val="FF0000"/>
              </a:solidFill>
              <a:round/>
              <a:headEnd/>
              <a:tailEnd type="arrow" w="med" len="med"/>
            </a:ln>
          </p:spPr>
        </p:cxnSp>
        <p:sp>
          <p:nvSpPr>
            <p:cNvPr id="11" name="Oval 10"/>
            <p:cNvSpPr>
              <a:spLocks noChangeArrowheads="1"/>
            </p:cNvSpPr>
            <p:nvPr/>
          </p:nvSpPr>
          <p:spPr bwMode="auto">
            <a:xfrm rot="14316592" flipV="1">
              <a:off x="2640" y="96"/>
              <a:ext cx="518" cy="528"/>
            </a:xfrm>
            <a:prstGeom prst="ellipse">
              <a:avLst/>
            </a:prstGeom>
            <a:solidFill>
              <a:schemeClr val="bg1"/>
            </a:solidFill>
            <a:ln w="73025" algn="ctr">
              <a:solidFill>
                <a:srgbClr val="FF0000"/>
              </a:solidFill>
              <a:round/>
              <a:headEnd/>
              <a:tailEnd/>
            </a:ln>
          </p:spPr>
          <p:txBody>
            <a:bodyPr wrap="none"/>
            <a:lstStyle/>
            <a:p>
              <a:pPr algn="ctr">
                <a:defRPr/>
              </a:pPr>
              <a:r>
                <a:rPr lang="en-US" sz="3600" b="1">
                  <a:solidFill>
                    <a:srgbClr val="000000"/>
                  </a:solidFill>
                </a:rPr>
                <a:t>4</a:t>
              </a:r>
              <a:endParaRPr/>
            </a:p>
          </p:txBody>
        </p:sp>
      </p:grpSp>
      <p:sp>
        <p:nvSpPr>
          <p:cNvPr id="1855508708" name="TextBox 11"/>
          <p:cNvSpPr txBox="1"/>
          <p:nvPr/>
        </p:nvSpPr>
        <p:spPr bwMode="auto">
          <a:xfrm>
            <a:off x="3214255" y="5595007"/>
            <a:ext cx="1293292" cy="461665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2400"/>
              <a:t>Click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3350459" name="Title 1"/>
          <p:cNvSpPr txBox="1"/>
          <p:nvPr/>
        </p:nvSpPr>
        <p:spPr bwMode="auto">
          <a:xfrm>
            <a:off x="13084" y="0"/>
            <a:ext cx="9144000" cy="862761"/>
          </a:xfrm>
          <a:prstGeom prst="rect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txBody>
          <a:bodyPr anchor="ctr">
            <a:normAutofit/>
          </a:bodyPr>
          <a:lstStyle>
            <a:lvl1pPr algn="ctr" defTabSz="914400" rtl="0">
              <a:lnSpc>
                <a:spcPct val="90000"/>
              </a:lnSpc>
              <a:spcBef>
                <a:spcPts val="0"/>
              </a:spcBef>
              <a:buNone/>
              <a:defRPr sz="44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>
                <a:latin typeface="Times New Roman"/>
                <a:cs typeface="Times New Roman"/>
              </a:rPr>
              <a:t>Download </a:t>
            </a:r>
            <a:r>
              <a:rPr lang="en-US">
                <a:latin typeface="Times New Roman"/>
                <a:cs typeface="Times New Roman"/>
              </a:rPr>
              <a:t>Jupyter</a:t>
            </a:r>
            <a:r>
              <a:rPr lang="en-US">
                <a:latin typeface="Times New Roman"/>
                <a:cs typeface="Times New Roman"/>
              </a:rPr>
              <a:t> Notebook</a:t>
            </a:r>
            <a:endParaRPr lang="en-US" sz="3600">
              <a:solidFill>
                <a:srgbClr val="0000CC"/>
              </a:solidFill>
            </a:endParaRPr>
          </a:p>
        </p:txBody>
      </p:sp>
      <p:sp>
        <p:nvSpPr>
          <p:cNvPr id="1604684584" name="Slide Number Placeholder 2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144BBB-DA99-4FDF-9E1F-B5EEC68D5D7C}" type="slidenum">
              <a:rPr lang="es-ES_tradnl"/>
              <a:t>16</a:t>
            </a:fld>
            <a:endParaRPr lang="es-ES_tradnl"/>
          </a:p>
        </p:txBody>
      </p:sp>
      <p:pic>
        <p:nvPicPr>
          <p:cNvPr id="1033978169" name="Picture 7" descr="A screenshot of a computer&#10;&#10;Description automatically generated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-174911" y="1018881"/>
            <a:ext cx="9540586" cy="6174825"/>
          </a:xfrm>
          <a:prstGeom prst="rect">
            <a:avLst/>
          </a:prstGeom>
        </p:spPr>
      </p:pic>
      <p:grpSp>
        <p:nvGrpSpPr>
          <p:cNvPr id="2134235821" name="Group 10"/>
          <p:cNvGrpSpPr/>
          <p:nvPr/>
        </p:nvGrpSpPr>
        <p:grpSpPr bwMode="auto">
          <a:xfrm>
            <a:off x="7951234" y="3560571"/>
            <a:ext cx="822325" cy="1762128"/>
            <a:chOff x="2640" y="-486"/>
            <a:chExt cx="518" cy="1110"/>
          </a:xfrm>
        </p:grpSpPr>
        <p:cxnSp>
          <p:nvCxnSpPr>
            <p:cNvPr id="6" name="Straight Arrow Connector 5"/>
            <p:cNvCxnSpPr>
              <a:cxnSpLocks noChangeShapeType="1"/>
            </p:cNvCxnSpPr>
            <p:nvPr/>
          </p:nvCxnSpPr>
          <p:spPr bwMode="auto">
            <a:xfrm rot="16199999">
              <a:off x="2608" y="-199"/>
              <a:ext cx="576" cy="1"/>
            </a:xfrm>
            <a:prstGeom prst="straightConnector1">
              <a:avLst/>
            </a:prstGeom>
            <a:noFill/>
            <a:ln w="73025" algn="ctr">
              <a:solidFill>
                <a:srgbClr val="FF0000"/>
              </a:solidFill>
              <a:round/>
              <a:headEnd/>
              <a:tailEnd type="arrow" w="med" len="med"/>
            </a:ln>
          </p:spPr>
        </p:cxnSp>
        <p:sp>
          <p:nvSpPr>
            <p:cNvPr id="7" name="Oval 6"/>
            <p:cNvSpPr>
              <a:spLocks noChangeArrowheads="1"/>
            </p:cNvSpPr>
            <p:nvPr/>
          </p:nvSpPr>
          <p:spPr bwMode="auto">
            <a:xfrm rot="10800000" flipV="1">
              <a:off x="2640" y="96"/>
              <a:ext cx="518" cy="528"/>
            </a:xfrm>
            <a:prstGeom prst="ellipse">
              <a:avLst/>
            </a:prstGeom>
            <a:solidFill>
              <a:schemeClr val="bg1"/>
            </a:solidFill>
            <a:ln w="73025" algn="ctr">
              <a:solidFill>
                <a:srgbClr val="FF0000"/>
              </a:solidFill>
              <a:round/>
              <a:headEnd/>
              <a:tailEnd/>
            </a:ln>
          </p:spPr>
          <p:txBody>
            <a:bodyPr wrap="none"/>
            <a:lstStyle/>
            <a:p>
              <a:pPr algn="ctr">
                <a:defRPr/>
              </a:pPr>
              <a:r>
                <a:rPr lang="en-US" sz="3600" b="1">
                  <a:solidFill>
                    <a:srgbClr val="000000"/>
                  </a:solidFill>
                </a:rPr>
                <a:t>5</a:t>
              </a:r>
              <a:endParaRPr/>
            </a:p>
          </p:txBody>
        </p:sp>
      </p:grpSp>
      <p:sp>
        <p:nvSpPr>
          <p:cNvPr id="1676860711" name="TextBox 8"/>
          <p:cNvSpPr txBox="1"/>
          <p:nvPr/>
        </p:nvSpPr>
        <p:spPr bwMode="auto">
          <a:xfrm>
            <a:off x="7193280" y="5485256"/>
            <a:ext cx="1706151" cy="830997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2400"/>
              <a:t>Download notebook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548889523" name="Group 10"/>
          <p:cNvGrpSpPr/>
          <p:nvPr/>
        </p:nvGrpSpPr>
        <p:grpSpPr bwMode="auto">
          <a:xfrm rot="17935211">
            <a:off x="2875670" y="1924599"/>
            <a:ext cx="838200" cy="1754191"/>
            <a:chOff x="2635" y="-486"/>
            <a:chExt cx="528" cy="1105"/>
          </a:xfrm>
        </p:grpSpPr>
        <p:cxnSp>
          <p:nvCxnSpPr>
            <p:cNvPr id="5" name="Straight Arrow Connector 4"/>
            <p:cNvCxnSpPr>
              <a:cxnSpLocks noChangeShapeType="1"/>
            </p:cNvCxnSpPr>
            <p:nvPr/>
          </p:nvCxnSpPr>
          <p:spPr bwMode="auto">
            <a:xfrm rot="16199999">
              <a:off x="2608" y="-199"/>
              <a:ext cx="576" cy="1"/>
            </a:xfrm>
            <a:prstGeom prst="straightConnector1">
              <a:avLst/>
            </a:prstGeom>
            <a:noFill/>
            <a:ln w="73025" algn="ctr">
              <a:solidFill>
                <a:srgbClr val="FF0000"/>
              </a:solidFill>
              <a:round/>
              <a:headEnd/>
              <a:tailEnd type="arrow" w="med" len="med"/>
            </a:ln>
          </p:spPr>
        </p:cxnSp>
        <p:sp>
          <p:nvSpPr>
            <p:cNvPr id="6" name="Oval 10"/>
            <p:cNvSpPr>
              <a:spLocks noChangeArrowheads="1"/>
            </p:cNvSpPr>
            <p:nvPr/>
          </p:nvSpPr>
          <p:spPr bwMode="auto">
            <a:xfrm rot="14464788" flipV="1">
              <a:off x="2640" y="96"/>
              <a:ext cx="518" cy="528"/>
            </a:xfrm>
            <a:prstGeom prst="ellipse">
              <a:avLst/>
            </a:prstGeom>
            <a:solidFill>
              <a:schemeClr val="bg1"/>
            </a:solidFill>
            <a:ln w="73025" algn="ctr">
              <a:solidFill>
                <a:srgbClr val="FF0000"/>
              </a:solidFill>
              <a:round/>
              <a:headEnd/>
              <a:tailEnd/>
            </a:ln>
          </p:spPr>
          <p:txBody>
            <a:bodyPr wrap="none"/>
            <a:lstStyle/>
            <a:p>
              <a:pPr algn="ctr">
                <a:defRPr/>
              </a:pPr>
              <a:r>
                <a:rPr lang="en-US" sz="3600" b="1">
                  <a:solidFill>
                    <a:srgbClr val="000000"/>
                  </a:solidFill>
                </a:rPr>
                <a:t>1</a:t>
              </a:r>
              <a:endParaRPr/>
            </a:p>
          </p:txBody>
        </p:sp>
      </p:grpSp>
      <p:sp>
        <p:nvSpPr>
          <p:cNvPr id="834741515" name="Title 1"/>
          <p:cNvSpPr txBox="1"/>
          <p:nvPr/>
        </p:nvSpPr>
        <p:spPr bwMode="auto">
          <a:xfrm>
            <a:off x="0" y="1"/>
            <a:ext cx="9144000" cy="713678"/>
          </a:xfrm>
          <a:prstGeom prst="rect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txBody>
          <a:bodyPr>
            <a:normAutofit/>
          </a:bodyPr>
          <a:lstStyle>
            <a:lvl1pPr algn="ctr" defTabSz="914400" rtl="0">
              <a:lnSpc>
                <a:spcPct val="90000"/>
              </a:lnSpc>
              <a:spcBef>
                <a:spcPts val="0"/>
              </a:spcBef>
              <a:buNone/>
              <a:defRPr sz="44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>
                <a:latin typeface="Times New Roman"/>
                <a:cs typeface="Times New Roman"/>
              </a:rPr>
              <a:t>Upload existing </a:t>
            </a:r>
            <a:r>
              <a:rPr lang="en-US">
                <a:solidFill>
                  <a:srgbClr val="0000CC"/>
                </a:solidFill>
                <a:latin typeface="Times New Roman"/>
                <a:cs typeface="Times New Roman"/>
              </a:rPr>
              <a:t>notebook</a:t>
            </a:r>
            <a:endParaRPr lang="en-US" sz="3600">
              <a:solidFill>
                <a:srgbClr val="0000CC"/>
              </a:solidFill>
            </a:endParaRPr>
          </a:p>
        </p:txBody>
      </p:sp>
      <p:sp>
        <p:nvSpPr>
          <p:cNvPr id="1716611498" name="TextBox 1"/>
          <p:cNvSpPr txBox="1"/>
          <p:nvPr/>
        </p:nvSpPr>
        <p:spPr bwMode="auto">
          <a:xfrm>
            <a:off x="2804835" y="3614380"/>
            <a:ext cx="2085217" cy="461665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2400"/>
              <a:t>New notebook</a:t>
            </a:r>
            <a:endParaRPr/>
          </a:p>
        </p:txBody>
      </p:sp>
      <p:sp>
        <p:nvSpPr>
          <p:cNvPr id="1298232197" name="Slide Number Placeholder 7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144BBB-DA99-4FDF-9E1F-B5EEC68D5D7C}" type="slidenum">
              <a:rPr lang="es-ES_tradnl"/>
              <a:t>17</a:t>
            </a:fld>
            <a:endParaRPr lang="es-ES_tradnl"/>
          </a:p>
        </p:txBody>
      </p:sp>
      <p:pic>
        <p:nvPicPr>
          <p:cNvPr id="627881431" name="Picture 9" descr="A screenshot of a computer&#10;&#10;Description automatically generated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-299605" y="796808"/>
            <a:ext cx="9707517" cy="6282866"/>
          </a:xfrm>
          <a:prstGeom prst="rect">
            <a:avLst/>
          </a:prstGeom>
        </p:spPr>
      </p:pic>
      <p:grpSp>
        <p:nvGrpSpPr>
          <p:cNvPr id="326605891" name="Group 10"/>
          <p:cNvGrpSpPr/>
          <p:nvPr/>
        </p:nvGrpSpPr>
        <p:grpSpPr bwMode="auto">
          <a:xfrm rot="17935211">
            <a:off x="2875670" y="1910750"/>
            <a:ext cx="838200" cy="1754191"/>
            <a:chOff x="2635" y="-486"/>
            <a:chExt cx="528" cy="1105"/>
          </a:xfrm>
        </p:grpSpPr>
        <p:cxnSp>
          <p:nvCxnSpPr>
            <p:cNvPr id="12" name="Straight Arrow Connector 11"/>
            <p:cNvCxnSpPr>
              <a:cxnSpLocks noChangeShapeType="1"/>
            </p:cNvCxnSpPr>
            <p:nvPr/>
          </p:nvCxnSpPr>
          <p:spPr bwMode="auto">
            <a:xfrm rot="16199999">
              <a:off x="2608" y="-199"/>
              <a:ext cx="576" cy="1"/>
            </a:xfrm>
            <a:prstGeom prst="straightConnector1">
              <a:avLst/>
            </a:prstGeom>
            <a:noFill/>
            <a:ln w="73025" algn="ctr">
              <a:solidFill>
                <a:srgbClr val="FF0000"/>
              </a:solidFill>
              <a:round/>
              <a:headEnd/>
              <a:tailEnd type="arrow" w="med" len="med"/>
            </a:ln>
          </p:spPr>
        </p:cxnSp>
        <p:sp>
          <p:nvSpPr>
            <p:cNvPr id="13" name="Oval 10"/>
            <p:cNvSpPr>
              <a:spLocks noChangeArrowheads="1"/>
            </p:cNvSpPr>
            <p:nvPr/>
          </p:nvSpPr>
          <p:spPr bwMode="auto">
            <a:xfrm rot="14464788" flipV="1">
              <a:off x="2640" y="96"/>
              <a:ext cx="518" cy="528"/>
            </a:xfrm>
            <a:prstGeom prst="ellipse">
              <a:avLst/>
            </a:prstGeom>
            <a:solidFill>
              <a:schemeClr val="bg1"/>
            </a:solidFill>
            <a:ln w="73025" algn="ctr">
              <a:solidFill>
                <a:srgbClr val="FF0000"/>
              </a:solidFill>
              <a:round/>
              <a:headEnd/>
              <a:tailEnd/>
            </a:ln>
          </p:spPr>
          <p:txBody>
            <a:bodyPr wrap="none"/>
            <a:lstStyle/>
            <a:p>
              <a:pPr algn="ctr">
                <a:defRPr/>
              </a:pPr>
              <a:r>
                <a:rPr lang="en-US" sz="3600" b="1">
                  <a:solidFill>
                    <a:srgbClr val="000000"/>
                  </a:solidFill>
                </a:rPr>
                <a:t>6</a:t>
              </a:r>
              <a:endParaRPr/>
            </a:p>
          </p:txBody>
        </p:sp>
      </p:grpSp>
      <p:sp>
        <p:nvSpPr>
          <p:cNvPr id="1987999637" name="TextBox 13"/>
          <p:cNvSpPr txBox="1"/>
          <p:nvPr/>
        </p:nvSpPr>
        <p:spPr bwMode="auto">
          <a:xfrm>
            <a:off x="2804835" y="3600531"/>
            <a:ext cx="2667710" cy="461665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2400"/>
              <a:t>Upload notebook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26155707" name="Group 10"/>
          <p:cNvGrpSpPr/>
          <p:nvPr/>
        </p:nvGrpSpPr>
        <p:grpSpPr bwMode="auto">
          <a:xfrm rot="17935211">
            <a:off x="2875670" y="1924599"/>
            <a:ext cx="838200" cy="1754191"/>
            <a:chOff x="2635" y="-486"/>
            <a:chExt cx="528" cy="1105"/>
          </a:xfrm>
        </p:grpSpPr>
        <p:cxnSp>
          <p:nvCxnSpPr>
            <p:cNvPr id="5" name="Straight Arrow Connector 4"/>
            <p:cNvCxnSpPr>
              <a:cxnSpLocks noChangeShapeType="1"/>
            </p:cNvCxnSpPr>
            <p:nvPr/>
          </p:nvCxnSpPr>
          <p:spPr bwMode="auto">
            <a:xfrm rot="16199999">
              <a:off x="2608" y="-199"/>
              <a:ext cx="576" cy="1"/>
            </a:xfrm>
            <a:prstGeom prst="straightConnector1">
              <a:avLst/>
            </a:prstGeom>
            <a:noFill/>
            <a:ln w="73025" algn="ctr">
              <a:solidFill>
                <a:srgbClr val="FF0000"/>
              </a:solidFill>
              <a:round/>
              <a:headEnd/>
              <a:tailEnd type="arrow" w="med" len="med"/>
            </a:ln>
          </p:spPr>
        </p:cxnSp>
        <p:sp>
          <p:nvSpPr>
            <p:cNvPr id="6" name="Oval 10"/>
            <p:cNvSpPr>
              <a:spLocks noChangeArrowheads="1"/>
            </p:cNvSpPr>
            <p:nvPr/>
          </p:nvSpPr>
          <p:spPr bwMode="auto">
            <a:xfrm rot="14464788" flipV="1">
              <a:off x="2640" y="96"/>
              <a:ext cx="518" cy="528"/>
            </a:xfrm>
            <a:prstGeom prst="ellipse">
              <a:avLst/>
            </a:prstGeom>
            <a:solidFill>
              <a:schemeClr val="bg1"/>
            </a:solidFill>
            <a:ln w="73025" algn="ctr">
              <a:solidFill>
                <a:srgbClr val="FF0000"/>
              </a:solidFill>
              <a:round/>
              <a:headEnd/>
              <a:tailEnd/>
            </a:ln>
          </p:spPr>
          <p:txBody>
            <a:bodyPr wrap="none"/>
            <a:lstStyle/>
            <a:p>
              <a:pPr algn="ctr">
                <a:defRPr/>
              </a:pPr>
              <a:r>
                <a:rPr lang="en-US" sz="3600" b="1">
                  <a:solidFill>
                    <a:srgbClr val="000000"/>
                  </a:solidFill>
                </a:rPr>
                <a:t>1</a:t>
              </a:r>
              <a:endParaRPr/>
            </a:p>
          </p:txBody>
        </p:sp>
      </p:grpSp>
      <p:sp>
        <p:nvSpPr>
          <p:cNvPr id="587644943" name="Title 1"/>
          <p:cNvSpPr txBox="1"/>
          <p:nvPr/>
        </p:nvSpPr>
        <p:spPr bwMode="auto">
          <a:xfrm>
            <a:off x="0" y="1"/>
            <a:ext cx="9144000" cy="713678"/>
          </a:xfrm>
          <a:prstGeom prst="rect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txBody>
          <a:bodyPr>
            <a:normAutofit/>
          </a:bodyPr>
          <a:lstStyle>
            <a:lvl1pPr algn="ctr" defTabSz="914400" rtl="0">
              <a:lnSpc>
                <a:spcPct val="90000"/>
              </a:lnSpc>
              <a:spcBef>
                <a:spcPts val="0"/>
              </a:spcBef>
              <a:buNone/>
              <a:defRPr sz="44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>
                <a:latin typeface="Times New Roman"/>
                <a:cs typeface="Times New Roman"/>
              </a:rPr>
              <a:t>Remember this for the next few days!</a:t>
            </a:r>
            <a:endParaRPr lang="en-US" sz="3600">
              <a:solidFill>
                <a:srgbClr val="0000CC"/>
              </a:solidFill>
            </a:endParaRPr>
          </a:p>
        </p:txBody>
      </p:sp>
      <p:sp>
        <p:nvSpPr>
          <p:cNvPr id="1510909932" name="TextBox 1"/>
          <p:cNvSpPr txBox="1"/>
          <p:nvPr/>
        </p:nvSpPr>
        <p:spPr bwMode="auto">
          <a:xfrm>
            <a:off x="2804835" y="3614380"/>
            <a:ext cx="2085217" cy="461665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2400"/>
              <a:t>New notebook</a:t>
            </a:r>
            <a:endParaRPr/>
          </a:p>
        </p:txBody>
      </p:sp>
      <p:sp>
        <p:nvSpPr>
          <p:cNvPr id="1593985943" name="Slide Number Placeholder 7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144BBB-DA99-4FDF-9E1F-B5EEC68D5D7C}" type="slidenum">
              <a:rPr lang="es-ES_tradnl"/>
              <a:t>18</a:t>
            </a:fld>
            <a:endParaRPr lang="es-ES_tradnl"/>
          </a:p>
        </p:txBody>
      </p:sp>
      <p:grpSp>
        <p:nvGrpSpPr>
          <p:cNvPr id="399688390" name="Group 10"/>
          <p:cNvGrpSpPr/>
          <p:nvPr/>
        </p:nvGrpSpPr>
        <p:grpSpPr bwMode="auto">
          <a:xfrm rot="17935211">
            <a:off x="2875670" y="1910750"/>
            <a:ext cx="838200" cy="1754191"/>
            <a:chOff x="2635" y="-486"/>
            <a:chExt cx="528" cy="1105"/>
          </a:xfrm>
        </p:grpSpPr>
        <p:cxnSp>
          <p:nvCxnSpPr>
            <p:cNvPr id="12" name="Straight Arrow Connector 11"/>
            <p:cNvCxnSpPr>
              <a:cxnSpLocks noChangeShapeType="1"/>
            </p:cNvCxnSpPr>
            <p:nvPr/>
          </p:nvCxnSpPr>
          <p:spPr bwMode="auto">
            <a:xfrm rot="16199999">
              <a:off x="2608" y="-199"/>
              <a:ext cx="576" cy="1"/>
            </a:xfrm>
            <a:prstGeom prst="straightConnector1">
              <a:avLst/>
            </a:prstGeom>
            <a:noFill/>
            <a:ln w="73025" algn="ctr">
              <a:solidFill>
                <a:srgbClr val="FF0000"/>
              </a:solidFill>
              <a:round/>
              <a:headEnd/>
              <a:tailEnd type="arrow" w="med" len="med"/>
            </a:ln>
          </p:spPr>
        </p:cxnSp>
        <p:sp>
          <p:nvSpPr>
            <p:cNvPr id="13" name="Oval 10"/>
            <p:cNvSpPr>
              <a:spLocks noChangeArrowheads="1"/>
            </p:cNvSpPr>
            <p:nvPr/>
          </p:nvSpPr>
          <p:spPr bwMode="auto">
            <a:xfrm rot="14464788" flipV="1">
              <a:off x="2640" y="96"/>
              <a:ext cx="518" cy="528"/>
            </a:xfrm>
            <a:prstGeom prst="ellipse">
              <a:avLst/>
            </a:prstGeom>
            <a:solidFill>
              <a:schemeClr val="bg1"/>
            </a:solidFill>
            <a:ln w="73025" algn="ctr">
              <a:solidFill>
                <a:srgbClr val="FF0000"/>
              </a:solidFill>
              <a:round/>
              <a:headEnd/>
              <a:tailEnd/>
            </a:ln>
          </p:spPr>
          <p:txBody>
            <a:bodyPr wrap="none"/>
            <a:lstStyle/>
            <a:p>
              <a:pPr algn="ctr">
                <a:defRPr/>
              </a:pPr>
              <a:r>
                <a:rPr lang="en-US" sz="3600" b="1">
                  <a:solidFill>
                    <a:srgbClr val="000000"/>
                  </a:solidFill>
                </a:rPr>
                <a:t>1</a:t>
              </a:r>
              <a:endParaRPr/>
            </a:p>
          </p:txBody>
        </p:sp>
      </p:grpSp>
      <p:sp>
        <p:nvSpPr>
          <p:cNvPr id="1312273433" name="TextBox 13"/>
          <p:cNvSpPr txBox="1"/>
          <p:nvPr/>
        </p:nvSpPr>
        <p:spPr bwMode="auto">
          <a:xfrm>
            <a:off x="2804835" y="3600531"/>
            <a:ext cx="2667710" cy="461665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2400"/>
              <a:t>Upload notebook</a:t>
            </a:r>
            <a:endParaRPr/>
          </a:p>
        </p:txBody>
      </p:sp>
      <p:pic>
        <p:nvPicPr>
          <p:cNvPr id="1435531115" name="Picture 15" descr="A screenshot of a computer&#10;&#10;Description automatically generated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-271895" y="796808"/>
            <a:ext cx="9692986" cy="627346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5368456" name="Title 1"/>
          <p:cNvSpPr>
            <a:spLocks noGrp="1"/>
          </p:cNvSpPr>
          <p:nvPr>
            <p:ph type="ctrTitle"/>
          </p:nvPr>
        </p:nvSpPr>
        <p:spPr bwMode="auto">
          <a:xfrm>
            <a:off x="685800" y="1104900"/>
            <a:ext cx="7772400" cy="4648200"/>
          </a:xfrm>
        </p:spPr>
        <p:txBody>
          <a:bodyPr anchor="ctr">
            <a:noAutofit/>
          </a:bodyPr>
          <a:lstStyle/>
          <a:p>
            <a:pPr>
              <a:defRPr/>
            </a:pPr>
            <a:r>
              <a:rPr lang="en-US" sz="6600" u="sng"/>
              <a:t>Lesson 1.1.0</a:t>
            </a:r>
            <a:br>
              <a:rPr lang="en-US" sz="6600"/>
            </a:br>
            <a:r>
              <a:rPr lang="en-US" sz="6600"/>
              <a:t>T</a:t>
            </a:r>
            <a:r>
              <a:rPr lang="en-US" sz="6600" b="1"/>
              <a:t>est snippets </a:t>
            </a:r>
            <a:r>
              <a:rPr lang="en-US" sz="6600"/>
              <a:t>of code u</a:t>
            </a:r>
            <a:r>
              <a:rPr lang="en-US" sz="6600" b="1"/>
              <a:t>sing the </a:t>
            </a:r>
            <a:r>
              <a:rPr lang="en-US" sz="6600">
                <a:solidFill>
                  <a:srgbClr val="0000CC"/>
                </a:solidFill>
              </a:rPr>
              <a:t>Python</a:t>
            </a:r>
            <a:r>
              <a:rPr lang="en-US" sz="6600" b="1"/>
              <a:t> interpreter</a:t>
            </a:r>
            <a:endParaRPr/>
          </a:p>
        </p:txBody>
      </p:sp>
      <p:sp>
        <p:nvSpPr>
          <p:cNvPr id="571151132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3AD70ED5-6128-491B-B98E-94BED0CDCE15}" type="slidenum">
              <a:rPr lang="en-US">
                <a:solidFill>
                  <a:schemeClr val="tx1"/>
                </a:solidFill>
              </a:rPr>
              <a:t>19</a:t>
            </a:fld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8935293" name="Title 1"/>
          <p:cNvSpPr txBox="1"/>
          <p:nvPr/>
        </p:nvSpPr>
        <p:spPr bwMode="auto">
          <a:xfrm>
            <a:off x="0" y="1"/>
            <a:ext cx="9143999" cy="802888"/>
          </a:xfrm>
          <a:prstGeom prst="rect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txBody>
          <a:bodyPr>
            <a:normAutofit/>
          </a:bodyPr>
          <a:lstStyle>
            <a:lvl1pPr algn="ctr" defTabSz="914400" rtl="0">
              <a:lnSpc>
                <a:spcPct val="90000"/>
              </a:lnSpc>
              <a:spcBef>
                <a:spcPts val="0"/>
              </a:spcBef>
              <a:buNone/>
              <a:defRPr sz="44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>
                <a:latin typeface="Times New Roman"/>
                <a:cs typeface="Times New Roman"/>
              </a:rPr>
              <a:t>Python is your new </a:t>
            </a:r>
            <a:r>
              <a:rPr lang="en-US">
                <a:solidFill>
                  <a:srgbClr val="0000CC"/>
                </a:solidFill>
                <a:latin typeface="Times New Roman"/>
                <a:cs typeface="Times New Roman"/>
              </a:rPr>
              <a:t>calculator</a:t>
            </a:r>
            <a:r>
              <a:rPr lang="en-US">
                <a:latin typeface="Times New Roman"/>
                <a:cs typeface="Times New Roman"/>
              </a:rPr>
              <a:t>!</a:t>
            </a:r>
            <a:endParaRPr lang="en-US" sz="3600"/>
          </a:p>
        </p:txBody>
      </p:sp>
      <p:pic>
        <p:nvPicPr>
          <p:cNvPr id="1355511704" name="Picture 2" descr="Graphical user interface, application, Word&#10;&#10;Description automatically generated"/>
          <p:cNvPicPr>
            <a:picLocks noChangeAspect="1"/>
          </p:cNvPicPr>
          <p:nvPr/>
        </p:nvPicPr>
        <p:blipFill rotWithShape="1">
          <a:blip r:embed="rId3">
            <a:alphaModFix amt="20000"/>
          </a:blip>
          <a:srcRect l="0" t="5807" r="63043" b="68754"/>
          <a:stretch/>
        </p:blipFill>
        <p:spPr bwMode="auto">
          <a:xfrm>
            <a:off x="0" y="1213611"/>
            <a:ext cx="9144000" cy="3933906"/>
          </a:xfrm>
          <a:prstGeom prst="rect">
            <a:avLst/>
          </a:prstGeom>
          <a:ln>
            <a:noFill/>
          </a:ln>
        </p:spPr>
      </p:pic>
      <p:graphicFrame>
        <p:nvGraphicFramePr>
          <p:cNvPr id="237717497" name="Table 6"/>
          <p:cNvGraphicFramePr>
            <a:graphicFrameLocks xmlns:a="http://schemas.openxmlformats.org/drawingml/2006/main" noGrp="1"/>
          </p:cNvGraphicFramePr>
          <p:nvPr/>
        </p:nvGraphicFramePr>
        <p:xfrm rot="0">
          <a:off x="2872101" y="1710482"/>
          <a:ext cx="3399798" cy="4053840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{7DF18680-E054-41AD-8BC1-D1AEF772440D}</a:tableStyleId>
              </a:tblPr>
              <a:tblGrid>
                <a:gridCol w="2765743"/>
                <a:gridCol w="634055"/>
              </a:tblGrid>
              <a:tr h="231020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3200" b="1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Addition</a:t>
                      </a:r>
                      <a:endParaRPr/>
                    </a:p>
                  </a:txBody>
                  <a:tcPr>
                    <a:lnL w="38100" algn="ctr">
                      <a:solidFill>
                        <a:srgbClr val="FF0000"/>
                      </a:solidFill>
                    </a:lnL>
                    <a:lnR w="12700" algn="ctr">
                      <a:noFill/>
                    </a:lnR>
                    <a:lnT w="38100" algn="ctr">
                      <a:solidFill>
                        <a:srgbClr val="FF0000"/>
                      </a:solidFill>
                    </a:lnT>
                    <a:lnB w="12700" algn="ctr">
                      <a:solidFill>
                        <a:schemeClr val="bg1">
                          <a:lumMod val="50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3200" b="1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+</a:t>
                      </a:r>
                      <a:endParaRPr/>
                    </a:p>
                  </a:txBody>
                  <a:tcPr>
                    <a:lnL w="12700" algn="ctr">
                      <a:noFill/>
                    </a:lnL>
                    <a:lnR w="38100" algn="ctr">
                      <a:solidFill>
                        <a:srgbClr val="FF0000"/>
                      </a:solidFill>
                    </a:lnR>
                    <a:lnT w="38100" algn="ctr">
                      <a:solidFill>
                        <a:srgbClr val="FF0000"/>
                      </a:solidFill>
                    </a:lnT>
                    <a:lnB w="12700" algn="ctr">
                      <a:solidFill>
                        <a:schemeClr val="bg1">
                          <a:lumMod val="50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307890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3200" b="1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Subtraction</a:t>
                      </a:r>
                      <a:endParaRPr/>
                    </a:p>
                  </a:txBody>
                  <a:tcPr>
                    <a:lnL w="38100" algn="ctr">
                      <a:solidFill>
                        <a:srgbClr val="FF0000"/>
                      </a:solidFill>
                    </a:lnL>
                    <a:lnR w="12700" algn="ctr">
                      <a:noFill/>
                    </a:lnR>
                    <a:lnT w="12700" algn="ctr">
                      <a:solidFill>
                        <a:schemeClr val="bg1">
                          <a:lumMod val="50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50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3200" b="1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-</a:t>
                      </a:r>
                      <a:endParaRPr/>
                    </a:p>
                  </a:txBody>
                  <a:tcPr>
                    <a:lnL w="12700" algn="ctr">
                      <a:noFill/>
                    </a:lnL>
                    <a:lnR w="38100" algn="ctr">
                      <a:solidFill>
                        <a:srgbClr val="FF0000"/>
                      </a:solidFill>
                    </a:lnR>
                    <a:lnT w="12700" algn="ctr">
                      <a:solidFill>
                        <a:schemeClr val="bg1">
                          <a:lumMod val="50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50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231020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3200" b="1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Multiplication</a:t>
                      </a:r>
                      <a:endParaRPr/>
                    </a:p>
                  </a:txBody>
                  <a:tcPr>
                    <a:lnL w="38100" algn="ctr">
                      <a:solidFill>
                        <a:srgbClr val="FF0000"/>
                      </a:solidFill>
                    </a:lnL>
                    <a:lnR w="12700" algn="ctr">
                      <a:noFill/>
                    </a:lnR>
                    <a:lnT w="12700" algn="ctr">
                      <a:solidFill>
                        <a:schemeClr val="bg1">
                          <a:lumMod val="50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50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3200" b="1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*</a:t>
                      </a:r>
                      <a:endParaRPr/>
                    </a:p>
                  </a:txBody>
                  <a:tcPr>
                    <a:lnL w="12700" algn="ctr">
                      <a:noFill/>
                    </a:lnL>
                    <a:lnR w="38100" algn="ctr">
                      <a:solidFill>
                        <a:srgbClr val="FF0000"/>
                      </a:solidFill>
                    </a:lnR>
                    <a:lnT w="12700" algn="ctr">
                      <a:solidFill>
                        <a:schemeClr val="bg1">
                          <a:lumMod val="50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50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231020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3200" b="1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Division</a:t>
                      </a:r>
                      <a:endParaRPr/>
                    </a:p>
                  </a:txBody>
                  <a:tcPr>
                    <a:lnL w="38100" algn="ctr">
                      <a:solidFill>
                        <a:srgbClr val="FF0000"/>
                      </a:solidFill>
                    </a:lnL>
                    <a:lnR w="12700" algn="ctr">
                      <a:noFill/>
                    </a:lnR>
                    <a:lnT w="12700" algn="ctr">
                      <a:solidFill>
                        <a:schemeClr val="bg1">
                          <a:lumMod val="50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50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3200" b="1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/</a:t>
                      </a:r>
                      <a:endParaRPr/>
                    </a:p>
                  </a:txBody>
                  <a:tcPr>
                    <a:lnL w="12700" algn="ctr">
                      <a:noFill/>
                    </a:lnL>
                    <a:lnR w="38100" algn="ctr">
                      <a:solidFill>
                        <a:srgbClr val="FF0000"/>
                      </a:solidFill>
                    </a:lnR>
                    <a:lnT w="12700" algn="ctr">
                      <a:solidFill>
                        <a:schemeClr val="bg1">
                          <a:lumMod val="50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50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231020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3200" b="1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Modulus</a:t>
                      </a:r>
                      <a:endParaRPr/>
                    </a:p>
                  </a:txBody>
                  <a:tcPr>
                    <a:lnL w="38100" algn="ctr">
                      <a:solidFill>
                        <a:srgbClr val="FF0000"/>
                      </a:solidFill>
                    </a:lnL>
                    <a:lnR w="12700" algn="ctr">
                      <a:noFill/>
                    </a:lnR>
                    <a:lnT w="12700" algn="ctr">
                      <a:solidFill>
                        <a:schemeClr val="bg1">
                          <a:lumMod val="50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50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3200" b="1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%</a:t>
                      </a:r>
                      <a:endParaRPr/>
                    </a:p>
                  </a:txBody>
                  <a:tcPr>
                    <a:lnL w="12700" algn="ctr">
                      <a:noFill/>
                    </a:lnL>
                    <a:lnR w="38100" algn="ctr">
                      <a:solidFill>
                        <a:srgbClr val="FF0000"/>
                      </a:solidFill>
                    </a:lnR>
                    <a:lnT w="12700" algn="ctr">
                      <a:solidFill>
                        <a:schemeClr val="bg1">
                          <a:lumMod val="50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50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231020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3200" b="1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Floor division</a:t>
                      </a:r>
                      <a:endParaRPr/>
                    </a:p>
                  </a:txBody>
                  <a:tcPr>
                    <a:lnL w="38100" algn="ctr">
                      <a:solidFill>
                        <a:srgbClr val="FF0000"/>
                      </a:solidFill>
                    </a:lnL>
                    <a:lnR w="12700" algn="ctr">
                      <a:noFill/>
                    </a:lnR>
                    <a:lnT w="12700" algn="ctr">
                      <a:solidFill>
                        <a:schemeClr val="bg1">
                          <a:lumMod val="50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50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3200" b="1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//</a:t>
                      </a:r>
                      <a:endParaRPr/>
                    </a:p>
                  </a:txBody>
                  <a:tcPr>
                    <a:lnL w="12700" algn="ctr">
                      <a:noFill/>
                    </a:lnL>
                    <a:lnR w="38100" algn="ctr">
                      <a:solidFill>
                        <a:srgbClr val="FF0000"/>
                      </a:solidFill>
                    </a:lnR>
                    <a:lnT w="12700" algn="ctr">
                      <a:solidFill>
                        <a:schemeClr val="bg1">
                          <a:lumMod val="50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50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231020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3200" b="1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Exponent</a:t>
                      </a:r>
                      <a:endParaRPr/>
                    </a:p>
                  </a:txBody>
                  <a:tcPr>
                    <a:lnL w="38100" algn="ctr">
                      <a:solidFill>
                        <a:srgbClr val="FF0000"/>
                      </a:solidFill>
                    </a:lnL>
                    <a:lnR w="12700" algn="ctr">
                      <a:noFill/>
                    </a:lnR>
                    <a:lnT w="12700" algn="ctr">
                      <a:solidFill>
                        <a:schemeClr val="bg1">
                          <a:lumMod val="50000"/>
                        </a:schemeClr>
                      </a:solidFill>
                    </a:lnT>
                    <a:lnB w="38100" algn="ctr">
                      <a:solidFill>
                        <a:srgbClr val="FF0000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3200" b="1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**</a:t>
                      </a:r>
                      <a:endParaRPr/>
                    </a:p>
                  </a:txBody>
                  <a:tcPr>
                    <a:lnL w="12700" algn="ctr">
                      <a:noFill/>
                    </a:lnL>
                    <a:lnR w="38100" algn="ctr">
                      <a:solidFill>
                        <a:srgbClr val="FF0000"/>
                      </a:solidFill>
                    </a:lnR>
                    <a:lnT w="12700" algn="ctr">
                      <a:solidFill>
                        <a:schemeClr val="bg1">
                          <a:lumMod val="50000"/>
                        </a:schemeClr>
                      </a:solidFill>
                    </a:lnT>
                    <a:lnB w="38100" algn="ctr">
                      <a:solidFill>
                        <a:srgbClr val="FF0000"/>
                      </a:solidFill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853887370" name="Slide Number Placeholder 1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144BBB-DA99-4FDF-9E1F-B5EEC68D5D7C}" type="slidenum">
              <a:rPr lang="es-ES_tradnl"/>
              <a:t>20</a:t>
            </a:fld>
            <a:endParaRPr lang="es-ES_tradnl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0608520" name="Picture 10" descr="Graphical user interface, text, application, Word, Teams&#10;&#10;Description automatically generated"/>
          <p:cNvPicPr>
            <a:picLocks noChangeAspect="1"/>
          </p:cNvPicPr>
          <p:nvPr/>
        </p:nvPicPr>
        <p:blipFill rotWithShape="1">
          <a:blip r:embed="rId3"/>
          <a:srcRect l="0" t="0" r="67775" b="0"/>
          <a:stretch/>
        </p:blipFill>
        <p:spPr bwMode="auto">
          <a:xfrm>
            <a:off x="1501939" y="989575"/>
            <a:ext cx="6140122" cy="478015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956513823" name="TextBox 1"/>
          <p:cNvSpPr txBox="1"/>
          <p:nvPr/>
        </p:nvSpPr>
        <p:spPr bwMode="auto">
          <a:xfrm>
            <a:off x="6332572" y="5055087"/>
            <a:ext cx="2596114" cy="461665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2400"/>
              <a:t>Type equation</a:t>
            </a:r>
            <a:endParaRPr/>
          </a:p>
        </p:txBody>
      </p:sp>
      <p:sp>
        <p:nvSpPr>
          <p:cNvPr id="1193123474" name="TextBox 13"/>
          <p:cNvSpPr txBox="1"/>
          <p:nvPr/>
        </p:nvSpPr>
        <p:spPr bwMode="auto">
          <a:xfrm>
            <a:off x="3021848" y="6192221"/>
            <a:ext cx="1129549" cy="461665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2400"/>
              <a:t>Run</a:t>
            </a:r>
            <a:endParaRPr/>
          </a:p>
        </p:txBody>
      </p:sp>
      <p:grpSp>
        <p:nvGrpSpPr>
          <p:cNvPr id="281926879" name="Group 10"/>
          <p:cNvGrpSpPr/>
          <p:nvPr/>
        </p:nvGrpSpPr>
        <p:grpSpPr bwMode="auto">
          <a:xfrm>
            <a:off x="2097285" y="5468964"/>
            <a:ext cx="822325" cy="1373191"/>
            <a:chOff x="2640" y="-241"/>
            <a:chExt cx="518" cy="865"/>
          </a:xfrm>
        </p:grpSpPr>
        <p:cxnSp>
          <p:nvCxnSpPr>
            <p:cNvPr id="5" name="Straight Arrow Connector 4"/>
            <p:cNvCxnSpPr>
              <a:cxnSpLocks noChangeShapeType="1"/>
            </p:cNvCxnSpPr>
            <p:nvPr/>
          </p:nvCxnSpPr>
          <p:spPr bwMode="auto">
            <a:xfrm flipV="1">
              <a:off x="2896" y="-241"/>
              <a:ext cx="3" cy="331"/>
            </a:xfrm>
            <a:prstGeom prst="straightConnector1">
              <a:avLst/>
            </a:prstGeom>
            <a:noFill/>
            <a:ln w="73025" algn="ctr">
              <a:solidFill>
                <a:srgbClr val="FF0000"/>
              </a:solidFill>
              <a:round/>
              <a:headEnd/>
              <a:tailEnd type="arrow" w="med" len="med"/>
            </a:ln>
          </p:spPr>
        </p:cxnSp>
        <p:sp>
          <p:nvSpPr>
            <p:cNvPr id="6" name="Oval 10"/>
            <p:cNvSpPr>
              <a:spLocks noChangeArrowheads="1"/>
            </p:cNvSpPr>
            <p:nvPr/>
          </p:nvSpPr>
          <p:spPr bwMode="auto">
            <a:xfrm rot="10800000" flipV="1">
              <a:off x="2640" y="96"/>
              <a:ext cx="518" cy="528"/>
            </a:xfrm>
            <a:prstGeom prst="ellipse">
              <a:avLst/>
            </a:prstGeom>
            <a:solidFill>
              <a:schemeClr val="bg1"/>
            </a:solidFill>
            <a:ln w="73025" algn="ctr">
              <a:solidFill>
                <a:srgbClr val="FF0000"/>
              </a:solidFill>
              <a:round/>
              <a:headEnd/>
              <a:tailEnd/>
            </a:ln>
          </p:spPr>
          <p:txBody>
            <a:bodyPr wrap="none"/>
            <a:lstStyle/>
            <a:p>
              <a:pPr algn="ctr">
                <a:defRPr/>
              </a:pPr>
              <a:r>
                <a:rPr lang="en-US" sz="3600" b="1">
                  <a:solidFill>
                    <a:srgbClr val="000000"/>
                  </a:solidFill>
                </a:rPr>
                <a:t>2</a:t>
              </a:r>
              <a:endParaRPr/>
            </a:p>
          </p:txBody>
        </p:sp>
      </p:grpSp>
      <p:grpSp>
        <p:nvGrpSpPr>
          <p:cNvPr id="273316612" name="Group 10"/>
          <p:cNvGrpSpPr/>
          <p:nvPr/>
        </p:nvGrpSpPr>
        <p:grpSpPr bwMode="auto">
          <a:xfrm rot="16199999">
            <a:off x="4896411" y="4418493"/>
            <a:ext cx="838200" cy="1754191"/>
            <a:chOff x="2635" y="-486"/>
            <a:chExt cx="528" cy="1105"/>
          </a:xfrm>
        </p:grpSpPr>
        <p:cxnSp>
          <p:nvCxnSpPr>
            <p:cNvPr id="17" name="Straight Arrow Connector 16"/>
            <p:cNvCxnSpPr>
              <a:cxnSpLocks noChangeShapeType="1"/>
            </p:cNvCxnSpPr>
            <p:nvPr/>
          </p:nvCxnSpPr>
          <p:spPr bwMode="auto">
            <a:xfrm rot="16199999">
              <a:off x="2608" y="-199"/>
              <a:ext cx="576" cy="1"/>
            </a:xfrm>
            <a:prstGeom prst="straightConnector1">
              <a:avLst/>
            </a:prstGeom>
            <a:noFill/>
            <a:ln w="73025" algn="ctr">
              <a:solidFill>
                <a:srgbClr val="FF0000"/>
              </a:solidFill>
              <a:round/>
              <a:headEnd/>
              <a:tailEnd type="arrow" w="med" len="med"/>
            </a:ln>
          </p:spPr>
        </p:cxnSp>
        <p:sp>
          <p:nvSpPr>
            <p:cNvPr id="18" name="Oval 10"/>
            <p:cNvSpPr>
              <a:spLocks noChangeArrowheads="1"/>
            </p:cNvSpPr>
            <p:nvPr/>
          </p:nvSpPr>
          <p:spPr bwMode="auto">
            <a:xfrm rot="16199999" flipV="1">
              <a:off x="2640" y="96"/>
              <a:ext cx="518" cy="528"/>
            </a:xfrm>
            <a:prstGeom prst="ellipse">
              <a:avLst/>
            </a:prstGeom>
            <a:solidFill>
              <a:schemeClr val="bg1"/>
            </a:solidFill>
            <a:ln w="73025" algn="ctr">
              <a:solidFill>
                <a:srgbClr val="FF0000"/>
              </a:solidFill>
              <a:round/>
              <a:headEnd/>
              <a:tailEnd/>
            </a:ln>
          </p:spPr>
          <p:txBody>
            <a:bodyPr wrap="none"/>
            <a:lstStyle/>
            <a:p>
              <a:pPr algn="ctr">
                <a:defRPr/>
              </a:pPr>
              <a:r>
                <a:rPr lang="en-US" sz="3600" b="1">
                  <a:solidFill>
                    <a:srgbClr val="000000"/>
                  </a:solidFill>
                </a:rPr>
                <a:t>1</a:t>
              </a:r>
              <a:endParaRPr/>
            </a:p>
          </p:txBody>
        </p:sp>
      </p:grpSp>
      <p:sp>
        <p:nvSpPr>
          <p:cNvPr id="375586492" name="Slide Number Placeholder 2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144BBB-DA99-4FDF-9E1F-B5EEC68D5D7C}" type="slidenum">
              <a:rPr lang="es-ES_tradnl"/>
              <a:t>21</a:t>
            </a:fld>
            <a:endParaRPr lang="es-ES_tradnl"/>
          </a:p>
        </p:txBody>
      </p:sp>
      <p:sp>
        <p:nvSpPr>
          <p:cNvPr id="2077758553" name="Title 1"/>
          <p:cNvSpPr txBox="1"/>
          <p:nvPr/>
        </p:nvSpPr>
        <p:spPr bwMode="auto">
          <a:xfrm>
            <a:off x="0" y="1"/>
            <a:ext cx="9144000" cy="832844"/>
          </a:xfrm>
          <a:prstGeom prst="rect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txBody>
          <a:bodyPr anchor="ctr">
            <a:normAutofit/>
          </a:bodyPr>
          <a:lstStyle>
            <a:lvl1pPr algn="ctr" defTabSz="914400" rtl="0">
              <a:lnSpc>
                <a:spcPct val="90000"/>
              </a:lnSpc>
              <a:spcBef>
                <a:spcPts val="0"/>
              </a:spcBef>
              <a:buNone/>
              <a:defRPr sz="44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4000">
                <a:latin typeface="Times New Roman"/>
                <a:cs typeface="Times New Roman"/>
              </a:rPr>
              <a:t>Let’s solve metric conversion problems!</a:t>
            </a:r>
            <a:endParaRPr lang="en-US" sz="3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79610976" name="Picture 14" descr="Graphical user interface, text, application&#10;&#10;Description automatically generated"/>
          <p:cNvPicPr>
            <a:picLocks noChangeAspect="1"/>
          </p:cNvPicPr>
          <p:nvPr/>
        </p:nvPicPr>
        <p:blipFill rotWithShape="1">
          <a:blip r:embed="rId3"/>
          <a:srcRect l="0" t="0" r="63001" b="0"/>
          <a:stretch/>
        </p:blipFill>
        <p:spPr bwMode="auto">
          <a:xfrm>
            <a:off x="1018446" y="1010558"/>
            <a:ext cx="7107107" cy="520940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533305383" name="Title 1"/>
          <p:cNvSpPr txBox="1"/>
          <p:nvPr/>
        </p:nvSpPr>
        <p:spPr bwMode="auto">
          <a:xfrm>
            <a:off x="0" y="1"/>
            <a:ext cx="9144000" cy="832844"/>
          </a:xfrm>
          <a:prstGeom prst="rect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txBody>
          <a:bodyPr anchor="ctr">
            <a:normAutofit/>
          </a:bodyPr>
          <a:lstStyle>
            <a:lvl1pPr algn="ctr" defTabSz="914400" rtl="0">
              <a:lnSpc>
                <a:spcPct val="90000"/>
              </a:lnSpc>
              <a:spcBef>
                <a:spcPts val="0"/>
              </a:spcBef>
              <a:buNone/>
              <a:defRPr sz="44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4000">
                <a:latin typeface="Times New Roman"/>
                <a:cs typeface="Times New Roman"/>
              </a:rPr>
              <a:t>Let’s solve metric conversion problems!</a:t>
            </a:r>
            <a:endParaRPr lang="en-US" sz="3200"/>
          </a:p>
        </p:txBody>
      </p:sp>
      <p:sp>
        <p:nvSpPr>
          <p:cNvPr id="1581327414" name="TextBox 1"/>
          <p:cNvSpPr txBox="1"/>
          <p:nvPr/>
        </p:nvSpPr>
        <p:spPr bwMode="auto">
          <a:xfrm>
            <a:off x="5399979" y="5556195"/>
            <a:ext cx="2596114" cy="461665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2400"/>
              <a:t>Answer</a:t>
            </a:r>
            <a:endParaRPr/>
          </a:p>
        </p:txBody>
      </p:sp>
      <p:grpSp>
        <p:nvGrpSpPr>
          <p:cNvPr id="1030111618" name="Group 10"/>
          <p:cNvGrpSpPr/>
          <p:nvPr/>
        </p:nvGrpSpPr>
        <p:grpSpPr bwMode="auto">
          <a:xfrm rot="16199999">
            <a:off x="3963818" y="4919601"/>
            <a:ext cx="838200" cy="1754191"/>
            <a:chOff x="2635" y="-486"/>
            <a:chExt cx="528" cy="1105"/>
          </a:xfrm>
        </p:grpSpPr>
        <p:cxnSp>
          <p:nvCxnSpPr>
            <p:cNvPr id="17" name="Straight Arrow Connector 16"/>
            <p:cNvCxnSpPr>
              <a:cxnSpLocks noChangeShapeType="1"/>
            </p:cNvCxnSpPr>
            <p:nvPr/>
          </p:nvCxnSpPr>
          <p:spPr bwMode="auto">
            <a:xfrm rot="16199999">
              <a:off x="2608" y="-199"/>
              <a:ext cx="576" cy="1"/>
            </a:xfrm>
            <a:prstGeom prst="straightConnector1">
              <a:avLst/>
            </a:prstGeom>
            <a:noFill/>
            <a:ln w="73025" algn="ctr">
              <a:solidFill>
                <a:srgbClr val="FF0000"/>
              </a:solidFill>
              <a:round/>
              <a:headEnd/>
              <a:tailEnd type="arrow" w="med" len="med"/>
            </a:ln>
          </p:spPr>
        </p:cxnSp>
        <p:sp>
          <p:nvSpPr>
            <p:cNvPr id="18" name="Oval 10"/>
            <p:cNvSpPr>
              <a:spLocks noChangeArrowheads="1"/>
            </p:cNvSpPr>
            <p:nvPr/>
          </p:nvSpPr>
          <p:spPr bwMode="auto">
            <a:xfrm rot="16199999" flipV="1">
              <a:off x="2640" y="96"/>
              <a:ext cx="518" cy="528"/>
            </a:xfrm>
            <a:prstGeom prst="ellipse">
              <a:avLst/>
            </a:prstGeom>
            <a:solidFill>
              <a:schemeClr val="bg1"/>
            </a:solidFill>
            <a:ln w="73025" algn="ctr">
              <a:solidFill>
                <a:srgbClr val="FF0000"/>
              </a:solidFill>
              <a:round/>
              <a:headEnd/>
              <a:tailEnd/>
            </a:ln>
          </p:spPr>
          <p:txBody>
            <a:bodyPr wrap="none"/>
            <a:lstStyle/>
            <a:p>
              <a:pPr algn="ctr">
                <a:defRPr/>
              </a:pPr>
              <a:r>
                <a:rPr lang="en-US" sz="3600" b="1">
                  <a:solidFill>
                    <a:srgbClr val="000000"/>
                  </a:solidFill>
                </a:rPr>
                <a:t>3</a:t>
              </a:r>
              <a:endParaRPr/>
            </a:p>
          </p:txBody>
        </p:sp>
      </p:grpSp>
      <p:sp>
        <p:nvSpPr>
          <p:cNvPr id="938504543" name="TextBox 9"/>
          <p:cNvSpPr txBox="1"/>
          <p:nvPr/>
        </p:nvSpPr>
        <p:spPr bwMode="auto">
          <a:xfrm>
            <a:off x="6480229" y="2318985"/>
            <a:ext cx="2398644" cy="1569660"/>
          </a:xfrm>
          <a:prstGeom prst="rect">
            <a:avLst/>
          </a:prstGeom>
          <a:solidFill>
            <a:schemeClr val="bg1"/>
          </a:solidFill>
          <a:effectLst>
            <a:outerShdw blurRad="50800" dist="76200" dir="2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2400" b="1">
                <a:solidFill>
                  <a:srgbClr val="FF0000"/>
                </a:solidFill>
              </a:rPr>
              <a:t>Note:</a:t>
            </a:r>
            <a:r>
              <a:rPr lang="en-US" sz="2400" b="1"/>
              <a:t> </a:t>
            </a:r>
            <a:r>
              <a:rPr lang="en-US" sz="2400" b="1">
                <a:latin typeface="Times New Roman"/>
                <a:cs typeface="Times New Roman"/>
              </a:rPr>
              <a:t>Python </a:t>
            </a:r>
            <a:r>
              <a:rPr lang="en-US" sz="2400" b="1">
                <a:solidFill>
                  <a:srgbClr val="0000CC"/>
                </a:solidFill>
                <a:latin typeface="Times New Roman"/>
                <a:cs typeface="Times New Roman"/>
              </a:rPr>
              <a:t>interprets </a:t>
            </a:r>
            <a:r>
              <a:rPr lang="en-US" sz="2400" b="1">
                <a:latin typeface="Times New Roman"/>
                <a:cs typeface="Times New Roman"/>
              </a:rPr>
              <a:t>the numbers as </a:t>
            </a:r>
            <a:r>
              <a:rPr lang="en-US" sz="2400" b="1">
                <a:solidFill>
                  <a:srgbClr val="92D050"/>
                </a:solidFill>
                <a:latin typeface="Times New Roman"/>
                <a:cs typeface="Times New Roman"/>
              </a:rPr>
              <a:t>integers </a:t>
            </a:r>
            <a:r>
              <a:rPr lang="en-US" sz="2400" b="1">
                <a:latin typeface="Times New Roman"/>
                <a:cs typeface="Times New Roman"/>
              </a:rPr>
              <a:t>or</a:t>
            </a:r>
            <a:r>
              <a:rPr lang="en-US" sz="2400" b="1">
                <a:solidFill>
                  <a:srgbClr val="92D050"/>
                </a:solidFill>
                <a:latin typeface="Times New Roman"/>
                <a:cs typeface="Times New Roman"/>
              </a:rPr>
              <a:t> floats</a:t>
            </a:r>
            <a:endParaRPr lang="en-US" sz="2400" b="1">
              <a:solidFill>
                <a:srgbClr val="92D050"/>
              </a:solidFill>
            </a:endParaRPr>
          </a:p>
        </p:txBody>
      </p:sp>
      <p:sp>
        <p:nvSpPr>
          <p:cNvPr id="2099293222" name="Slide Number Placeholder 2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144BBB-DA99-4FDF-9E1F-B5EEC68D5D7C}" type="slidenum">
              <a:rPr lang="es-ES_tradnl"/>
              <a:t>22</a:t>
            </a:fld>
            <a:endParaRPr lang="es-ES_tradnl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70683670" name="Picture 3" descr="Graphical user interface, text, application&#10;&#10;Description automatically generated"/>
          <p:cNvPicPr>
            <a:picLocks noChangeAspect="1"/>
          </p:cNvPicPr>
          <p:nvPr/>
        </p:nvPicPr>
        <p:blipFill rotWithShape="1">
          <a:blip r:embed="rId3"/>
          <a:srcRect l="0" t="0" r="55629" b="75174"/>
          <a:stretch/>
        </p:blipFill>
        <p:spPr bwMode="auto">
          <a:xfrm>
            <a:off x="1791450" y="1603408"/>
            <a:ext cx="5561099" cy="4039052"/>
          </a:xfrm>
          <a:prstGeom prst="rect">
            <a:avLst/>
          </a:prstGeom>
        </p:spPr>
      </p:pic>
      <p:sp>
        <p:nvSpPr>
          <p:cNvPr id="1526636525" name="Rectangle 18"/>
          <p:cNvSpPr/>
          <p:nvPr/>
        </p:nvSpPr>
        <p:spPr bwMode="auto">
          <a:xfrm>
            <a:off x="33788" y="3431645"/>
            <a:ext cx="9076422" cy="2008259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3600" b="1">
                <a:solidFill>
                  <a:srgbClr val="FF0000"/>
                </a:solidFill>
              </a:rPr>
              <a:t>ANSWER</a:t>
            </a:r>
            <a:endParaRPr/>
          </a:p>
        </p:txBody>
      </p:sp>
      <p:sp>
        <p:nvSpPr>
          <p:cNvPr id="1659842733" name="Title 1"/>
          <p:cNvSpPr txBox="1"/>
          <p:nvPr/>
        </p:nvSpPr>
        <p:spPr bwMode="auto">
          <a:xfrm>
            <a:off x="0" y="1"/>
            <a:ext cx="9144000" cy="848139"/>
          </a:xfrm>
          <a:prstGeom prst="rect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txBody>
          <a:bodyPr anchor="ctr">
            <a:noAutofit/>
          </a:bodyPr>
          <a:lstStyle>
            <a:lvl1pPr algn="ctr" defTabSz="914400" rtl="0">
              <a:lnSpc>
                <a:spcPct val="90000"/>
              </a:lnSpc>
              <a:spcBef>
                <a:spcPts val="0"/>
              </a:spcBef>
              <a:buNone/>
              <a:defRPr sz="44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4100">
                <a:latin typeface="Times New Roman"/>
                <a:cs typeface="Times New Roman"/>
              </a:rPr>
              <a:t>Try it on your own!</a:t>
            </a:r>
            <a:endParaRPr lang="en-US" sz="4100"/>
          </a:p>
        </p:txBody>
      </p:sp>
      <p:sp>
        <p:nvSpPr>
          <p:cNvPr id="830705986" name="Slide Number Placeholder 1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144BBB-DA99-4FDF-9E1F-B5EEC68D5D7C}" type="slidenum">
              <a:rPr lang="es-ES_tradnl"/>
              <a:t>23</a:t>
            </a:fld>
            <a:endParaRPr lang="es-ES_tradnl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83867202" name="Picture 3" descr="Graphical user interface, text, application&#10;&#10;Description automatically generated"/>
          <p:cNvPicPr>
            <a:picLocks noChangeAspect="1"/>
          </p:cNvPicPr>
          <p:nvPr/>
        </p:nvPicPr>
        <p:blipFill rotWithShape="1">
          <a:blip r:embed="rId3"/>
          <a:srcRect l="0" t="0" r="55629" b="75174"/>
          <a:stretch/>
        </p:blipFill>
        <p:spPr bwMode="auto">
          <a:xfrm>
            <a:off x="1791450" y="1603408"/>
            <a:ext cx="5561099" cy="4039052"/>
          </a:xfrm>
          <a:prstGeom prst="rect">
            <a:avLst/>
          </a:prstGeom>
        </p:spPr>
      </p:pic>
      <p:sp>
        <p:nvSpPr>
          <p:cNvPr id="1330400974" name="Rectangle 18"/>
          <p:cNvSpPr/>
          <p:nvPr/>
        </p:nvSpPr>
        <p:spPr bwMode="auto">
          <a:xfrm>
            <a:off x="33788" y="3431645"/>
            <a:ext cx="9076422" cy="2008259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3600" b="1">
              <a:solidFill>
                <a:srgbClr val="FF0000"/>
              </a:solidFill>
            </a:endParaRPr>
          </a:p>
        </p:txBody>
      </p:sp>
      <p:sp>
        <p:nvSpPr>
          <p:cNvPr id="603020763" name="Title 1"/>
          <p:cNvSpPr txBox="1"/>
          <p:nvPr/>
        </p:nvSpPr>
        <p:spPr bwMode="auto">
          <a:xfrm>
            <a:off x="0" y="1"/>
            <a:ext cx="9144000" cy="848139"/>
          </a:xfrm>
          <a:prstGeom prst="rect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txBody>
          <a:bodyPr anchor="ctr">
            <a:noAutofit/>
          </a:bodyPr>
          <a:lstStyle>
            <a:lvl1pPr algn="ctr" defTabSz="914400" rtl="0">
              <a:lnSpc>
                <a:spcPct val="90000"/>
              </a:lnSpc>
              <a:spcBef>
                <a:spcPts val="0"/>
              </a:spcBef>
              <a:buNone/>
              <a:defRPr sz="44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4100">
                <a:latin typeface="Times New Roman"/>
                <a:cs typeface="Times New Roman"/>
              </a:rPr>
              <a:t>Try it on your own!</a:t>
            </a:r>
            <a:endParaRPr lang="en-US" sz="4100"/>
          </a:p>
        </p:txBody>
      </p:sp>
      <p:sp>
        <p:nvSpPr>
          <p:cNvPr id="1174148501" name="Slide Number Placeholder 1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144BBB-DA99-4FDF-9E1F-B5EEC68D5D7C}" type="slidenum">
              <a:rPr lang="es-ES_tradnl"/>
              <a:t>24</a:t>
            </a:fld>
            <a:endParaRPr lang="es-ES_tradnl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88554432" name="Picture 3" descr="Graphical user interface, text, application&#10;&#10;Description automatically generated"/>
          <p:cNvPicPr>
            <a:picLocks noChangeAspect="1"/>
          </p:cNvPicPr>
          <p:nvPr/>
        </p:nvPicPr>
        <p:blipFill rotWithShape="1">
          <a:blip r:embed="rId3"/>
          <a:srcRect l="0" t="26203" r="50019" b="48917"/>
          <a:stretch/>
        </p:blipFill>
        <p:spPr bwMode="auto">
          <a:xfrm>
            <a:off x="1464589" y="1421024"/>
            <a:ext cx="6214821" cy="4015952"/>
          </a:xfrm>
          <a:prstGeom prst="rect">
            <a:avLst/>
          </a:prstGeom>
        </p:spPr>
      </p:pic>
      <p:sp>
        <p:nvSpPr>
          <p:cNvPr id="1995741252" name="Rectangle 19"/>
          <p:cNvSpPr/>
          <p:nvPr/>
        </p:nvSpPr>
        <p:spPr bwMode="auto">
          <a:xfrm>
            <a:off x="0" y="3409625"/>
            <a:ext cx="9144000" cy="1890791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3600" b="1">
                <a:solidFill>
                  <a:srgbClr val="FF0000"/>
                </a:solidFill>
              </a:rPr>
              <a:t>ANSWER</a:t>
            </a:r>
            <a:endParaRPr/>
          </a:p>
        </p:txBody>
      </p:sp>
      <p:sp>
        <p:nvSpPr>
          <p:cNvPr id="964564847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144BBB-DA99-4FDF-9E1F-B5EEC68D5D7C}" type="slidenum">
              <a:rPr lang="es-ES_tradnl"/>
              <a:t>25</a:t>
            </a:fld>
            <a:endParaRPr lang="es-ES_tradnl"/>
          </a:p>
        </p:txBody>
      </p:sp>
      <p:sp>
        <p:nvSpPr>
          <p:cNvPr id="504313835" name="Title 1"/>
          <p:cNvSpPr txBox="1"/>
          <p:nvPr/>
        </p:nvSpPr>
        <p:spPr bwMode="auto">
          <a:xfrm>
            <a:off x="0" y="1"/>
            <a:ext cx="9144000" cy="848139"/>
          </a:xfrm>
          <a:prstGeom prst="rect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txBody>
          <a:bodyPr anchor="ctr">
            <a:noAutofit/>
          </a:bodyPr>
          <a:lstStyle>
            <a:lvl1pPr algn="ctr" defTabSz="914400" rtl="0">
              <a:lnSpc>
                <a:spcPct val="90000"/>
              </a:lnSpc>
              <a:spcBef>
                <a:spcPts val="0"/>
              </a:spcBef>
              <a:buNone/>
              <a:defRPr sz="44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4100">
                <a:latin typeface="Times New Roman"/>
                <a:cs typeface="Times New Roman"/>
              </a:rPr>
              <a:t>Try it on your own!</a:t>
            </a:r>
            <a:endParaRPr lang="en-US" sz="4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93607567" name="Picture 3" descr="Graphical user interface, text, application&#10;&#10;Description automatically generated"/>
          <p:cNvPicPr>
            <a:picLocks noChangeAspect="1"/>
          </p:cNvPicPr>
          <p:nvPr/>
        </p:nvPicPr>
        <p:blipFill rotWithShape="1">
          <a:blip r:embed="rId3"/>
          <a:srcRect l="0" t="26203" r="50019" b="48917"/>
          <a:stretch/>
        </p:blipFill>
        <p:spPr bwMode="auto">
          <a:xfrm>
            <a:off x="1464589" y="1421024"/>
            <a:ext cx="6214821" cy="4015952"/>
          </a:xfrm>
          <a:prstGeom prst="rect">
            <a:avLst/>
          </a:prstGeom>
        </p:spPr>
      </p:pic>
      <p:sp>
        <p:nvSpPr>
          <p:cNvPr id="2073317405" name="Rectangle 19"/>
          <p:cNvSpPr/>
          <p:nvPr/>
        </p:nvSpPr>
        <p:spPr bwMode="auto">
          <a:xfrm>
            <a:off x="0" y="3409625"/>
            <a:ext cx="9144000" cy="1890791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3600" b="1">
              <a:solidFill>
                <a:srgbClr val="FF0000"/>
              </a:solidFill>
            </a:endParaRPr>
          </a:p>
        </p:txBody>
      </p:sp>
      <p:sp>
        <p:nvSpPr>
          <p:cNvPr id="307323296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144BBB-DA99-4FDF-9E1F-B5EEC68D5D7C}" type="slidenum">
              <a:rPr lang="es-ES_tradnl"/>
              <a:t>26</a:t>
            </a:fld>
            <a:endParaRPr lang="es-ES_tradnl"/>
          </a:p>
        </p:txBody>
      </p:sp>
      <p:sp>
        <p:nvSpPr>
          <p:cNvPr id="562805036" name="Title 1"/>
          <p:cNvSpPr txBox="1"/>
          <p:nvPr/>
        </p:nvSpPr>
        <p:spPr bwMode="auto">
          <a:xfrm>
            <a:off x="0" y="1"/>
            <a:ext cx="9144000" cy="848139"/>
          </a:xfrm>
          <a:prstGeom prst="rect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txBody>
          <a:bodyPr anchor="ctr">
            <a:noAutofit/>
          </a:bodyPr>
          <a:lstStyle>
            <a:lvl1pPr algn="ctr" defTabSz="914400" rtl="0">
              <a:lnSpc>
                <a:spcPct val="90000"/>
              </a:lnSpc>
              <a:spcBef>
                <a:spcPts val="0"/>
              </a:spcBef>
              <a:buNone/>
              <a:defRPr sz="44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4100">
                <a:latin typeface="Times New Roman"/>
                <a:cs typeface="Times New Roman"/>
              </a:rPr>
              <a:t>Try it on your own!</a:t>
            </a:r>
            <a:endParaRPr lang="en-US" sz="4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0284868" name="Picture 3" descr="Graphical user interface, text, application&#10;&#10;Description automatically generated"/>
          <p:cNvPicPr>
            <a:picLocks noChangeAspect="1"/>
          </p:cNvPicPr>
          <p:nvPr/>
        </p:nvPicPr>
        <p:blipFill rotWithShape="1">
          <a:blip r:embed="rId3"/>
          <a:srcRect l="0" t="54510" r="0" b="0"/>
          <a:stretch/>
        </p:blipFill>
        <p:spPr bwMode="auto">
          <a:xfrm>
            <a:off x="60705" y="877522"/>
            <a:ext cx="9022590" cy="5327908"/>
          </a:xfrm>
          <a:prstGeom prst="rect">
            <a:avLst/>
          </a:prstGeom>
        </p:spPr>
      </p:pic>
      <p:sp>
        <p:nvSpPr>
          <p:cNvPr id="818155038" name="Rectangle 20"/>
          <p:cNvSpPr/>
          <p:nvPr/>
        </p:nvSpPr>
        <p:spPr bwMode="auto">
          <a:xfrm>
            <a:off x="84639" y="2662440"/>
            <a:ext cx="8999034" cy="3523061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3600" b="1">
                <a:solidFill>
                  <a:srgbClr val="FF0000"/>
                </a:solidFill>
              </a:rPr>
              <a:t>ANSWER</a:t>
            </a:r>
            <a:endParaRPr/>
          </a:p>
        </p:txBody>
      </p:sp>
      <p:sp>
        <p:nvSpPr>
          <p:cNvPr id="1054179821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144BBB-DA99-4FDF-9E1F-B5EEC68D5D7C}" type="slidenum">
              <a:rPr lang="es-ES_tradnl"/>
              <a:t>27</a:t>
            </a:fld>
            <a:endParaRPr lang="es-ES_tradnl"/>
          </a:p>
        </p:txBody>
      </p:sp>
      <p:sp>
        <p:nvSpPr>
          <p:cNvPr id="1877010286" name="Title 1"/>
          <p:cNvSpPr txBox="1"/>
          <p:nvPr/>
        </p:nvSpPr>
        <p:spPr bwMode="auto">
          <a:xfrm>
            <a:off x="0" y="1"/>
            <a:ext cx="9144000" cy="848139"/>
          </a:xfrm>
          <a:prstGeom prst="rect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txBody>
          <a:bodyPr anchor="ctr">
            <a:noAutofit/>
          </a:bodyPr>
          <a:lstStyle>
            <a:lvl1pPr algn="ctr" defTabSz="914400" rtl="0">
              <a:lnSpc>
                <a:spcPct val="90000"/>
              </a:lnSpc>
              <a:spcBef>
                <a:spcPts val="0"/>
              </a:spcBef>
              <a:buNone/>
              <a:defRPr sz="44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4100">
                <a:latin typeface="Times New Roman"/>
                <a:cs typeface="Times New Roman"/>
              </a:rPr>
              <a:t>Try it on your own!</a:t>
            </a:r>
            <a:endParaRPr lang="en-US" sz="4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47984534" name="Picture 3" descr="Graphical user interface, text, application&#10;&#10;Description automatically generated"/>
          <p:cNvPicPr>
            <a:picLocks noChangeAspect="1"/>
          </p:cNvPicPr>
          <p:nvPr/>
        </p:nvPicPr>
        <p:blipFill rotWithShape="1">
          <a:blip r:embed="rId3"/>
          <a:srcRect l="0" t="54510" r="0" b="0"/>
          <a:stretch/>
        </p:blipFill>
        <p:spPr bwMode="auto">
          <a:xfrm>
            <a:off x="60705" y="877522"/>
            <a:ext cx="9022590" cy="5327908"/>
          </a:xfrm>
          <a:prstGeom prst="rect">
            <a:avLst/>
          </a:prstGeom>
        </p:spPr>
      </p:pic>
      <p:sp>
        <p:nvSpPr>
          <p:cNvPr id="23986608" name="Rectangle 20"/>
          <p:cNvSpPr/>
          <p:nvPr/>
        </p:nvSpPr>
        <p:spPr bwMode="auto">
          <a:xfrm>
            <a:off x="84639" y="2662440"/>
            <a:ext cx="8999034" cy="3523061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3600" b="1">
              <a:solidFill>
                <a:srgbClr val="FF0000"/>
              </a:solidFill>
            </a:endParaRPr>
          </a:p>
        </p:txBody>
      </p:sp>
      <p:sp>
        <p:nvSpPr>
          <p:cNvPr id="884548608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144BBB-DA99-4FDF-9E1F-B5EEC68D5D7C}" type="slidenum">
              <a:rPr lang="es-ES_tradnl"/>
              <a:t>28</a:t>
            </a:fld>
            <a:endParaRPr lang="es-ES_tradnl"/>
          </a:p>
        </p:txBody>
      </p:sp>
      <p:sp>
        <p:nvSpPr>
          <p:cNvPr id="62357474" name="TextBox 5"/>
          <p:cNvSpPr txBox="1"/>
          <p:nvPr/>
        </p:nvSpPr>
        <p:spPr bwMode="auto">
          <a:xfrm>
            <a:off x="6155287" y="2213699"/>
            <a:ext cx="2662726" cy="1569660"/>
          </a:xfrm>
          <a:prstGeom prst="rect">
            <a:avLst/>
          </a:prstGeom>
          <a:solidFill>
            <a:schemeClr val="bg1"/>
          </a:solidFill>
          <a:effectLst>
            <a:outerShdw blurRad="50800" dist="76200" dir="2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2400" b="1">
                <a:solidFill>
                  <a:srgbClr val="FF0000"/>
                </a:solidFill>
              </a:rPr>
              <a:t>Note:</a:t>
            </a:r>
            <a:r>
              <a:rPr lang="en-US" sz="2400" b="1"/>
              <a:t> </a:t>
            </a:r>
            <a:r>
              <a:rPr lang="en-US" sz="2400" b="1">
                <a:latin typeface="Times New Roman"/>
                <a:cs typeface="Times New Roman"/>
              </a:rPr>
              <a:t>Facilitate your programing e</a:t>
            </a:r>
            <a:r>
              <a:rPr lang="en-US" sz="2400" b="1"/>
              <a:t>mploying </a:t>
            </a:r>
            <a:r>
              <a:rPr lang="en-US" sz="2400" b="1">
                <a:solidFill>
                  <a:srgbClr val="0000CC"/>
                </a:solidFill>
              </a:rPr>
              <a:t>variables</a:t>
            </a:r>
            <a:r>
              <a:rPr lang="en-US" sz="2400" b="1">
                <a:latin typeface="Times New Roman"/>
                <a:cs typeface="Times New Roman"/>
              </a:rPr>
              <a:t>!</a:t>
            </a:r>
            <a:endParaRPr lang="en-US" sz="2400" b="1">
              <a:solidFill>
                <a:srgbClr val="92D050"/>
              </a:solidFill>
            </a:endParaRPr>
          </a:p>
        </p:txBody>
      </p:sp>
      <p:sp>
        <p:nvSpPr>
          <p:cNvPr id="536986698" name="Title 1"/>
          <p:cNvSpPr txBox="1"/>
          <p:nvPr/>
        </p:nvSpPr>
        <p:spPr bwMode="auto">
          <a:xfrm>
            <a:off x="0" y="1"/>
            <a:ext cx="9144000" cy="848139"/>
          </a:xfrm>
          <a:prstGeom prst="rect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txBody>
          <a:bodyPr anchor="ctr">
            <a:noAutofit/>
          </a:bodyPr>
          <a:lstStyle>
            <a:lvl1pPr algn="ctr" defTabSz="914400" rtl="0">
              <a:lnSpc>
                <a:spcPct val="90000"/>
              </a:lnSpc>
              <a:spcBef>
                <a:spcPts val="0"/>
              </a:spcBef>
              <a:buNone/>
              <a:defRPr sz="44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4100">
                <a:latin typeface="Times New Roman"/>
                <a:cs typeface="Times New Roman"/>
              </a:rPr>
              <a:t>Try it on your own!</a:t>
            </a:r>
            <a:endParaRPr lang="en-US" sz="4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5007413" name="Title 1"/>
          <p:cNvSpPr>
            <a:spLocks noGrp="1"/>
          </p:cNvSpPr>
          <p:nvPr>
            <p:ph type="ctrTitle"/>
          </p:nvPr>
        </p:nvSpPr>
        <p:spPr bwMode="auto">
          <a:xfrm>
            <a:off x="685800" y="1104900"/>
            <a:ext cx="7772400" cy="4648200"/>
          </a:xfrm>
        </p:spPr>
        <p:txBody>
          <a:bodyPr anchor="ctr">
            <a:noAutofit/>
          </a:bodyPr>
          <a:lstStyle/>
          <a:p>
            <a:pPr>
              <a:defRPr/>
            </a:pPr>
            <a:r>
              <a:rPr lang="en-US" sz="6600" u="sng"/>
              <a:t>Lesson 1.2.0</a:t>
            </a:r>
            <a:br>
              <a:rPr lang="en-US" sz="6600"/>
            </a:br>
            <a:r>
              <a:rPr lang="en-US" sz="6600"/>
              <a:t>Python datatypes</a:t>
            </a:r>
            <a:endParaRPr lang="en-US" sz="6600" b="1"/>
          </a:p>
        </p:txBody>
      </p:sp>
      <p:sp>
        <p:nvSpPr>
          <p:cNvPr id="1434097922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3AD70ED5-6128-491B-B98E-94BED0CDCE15}" type="slidenum">
              <a:rPr lang="en-US">
                <a:solidFill>
                  <a:schemeClr val="tx1"/>
                </a:solidFill>
              </a:rPr>
              <a:t>29</a:t>
            </a:fld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6665976" name="Title 1"/>
          <p:cNvSpPr txBox="1"/>
          <p:nvPr/>
        </p:nvSpPr>
        <p:spPr bwMode="auto">
          <a:xfrm>
            <a:off x="0" y="1"/>
            <a:ext cx="9144000" cy="787616"/>
          </a:xfrm>
          <a:prstGeom prst="rect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txBody>
          <a:bodyPr anchor="ctr">
            <a:noAutofit/>
          </a:bodyPr>
          <a:lstStyle>
            <a:lvl1pPr algn="ctr" defTabSz="914400" rtl="0">
              <a:lnSpc>
                <a:spcPct val="90000"/>
              </a:lnSpc>
              <a:spcBef>
                <a:spcPts val="0"/>
              </a:spcBef>
              <a:buNone/>
              <a:defRPr sz="44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4100">
                <a:latin typeface="Times New Roman"/>
                <a:cs typeface="Times New Roman"/>
              </a:rPr>
              <a:t>Integers and floats and strings… oh my!</a:t>
            </a:r>
            <a:endParaRPr lang="en-US" sz="4100">
              <a:solidFill>
                <a:srgbClr val="92D050"/>
              </a:solidFill>
            </a:endParaRPr>
          </a:p>
        </p:txBody>
      </p:sp>
      <p:graphicFrame>
        <p:nvGraphicFramePr>
          <p:cNvPr id="892066400" name="Table 6"/>
          <p:cNvGraphicFramePr>
            <a:graphicFrameLocks xmlns:a="http://schemas.openxmlformats.org/drawingml/2006/main" noGrp="1"/>
          </p:cNvGraphicFramePr>
          <p:nvPr/>
        </p:nvGraphicFramePr>
        <p:xfrm rot="0">
          <a:off x="3481925" y="2086570"/>
          <a:ext cx="5247979" cy="2895600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{7DF18680-E054-41AD-8BC1-D1AEF772440D}</a:tableStyleId>
              </a:tblPr>
              <a:tblGrid>
                <a:gridCol w="2253634"/>
                <a:gridCol w="2994345"/>
              </a:tblGrid>
              <a:tr h="231020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3200" b="1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int()</a:t>
                      </a:r>
                      <a:endParaRPr/>
                    </a:p>
                  </a:txBody>
                  <a:tcPr>
                    <a:lnL w="57150" algn="ctr">
                      <a:solidFill>
                        <a:srgbClr val="FF0000"/>
                      </a:solidFill>
                    </a:lnL>
                    <a:lnR w="12700" algn="ctr">
                      <a:noFill/>
                    </a:lnR>
                    <a:lnT w="57150" algn="ctr">
                      <a:solidFill>
                        <a:srgbClr val="FF0000"/>
                      </a:solidFill>
                    </a:lnT>
                    <a:lnB w="12700" algn="ctr">
                      <a:solidFill>
                        <a:schemeClr val="bg1">
                          <a:lumMod val="50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3200" b="1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12</a:t>
                      </a:r>
                      <a:endParaRPr/>
                    </a:p>
                  </a:txBody>
                  <a:tcPr>
                    <a:lnL w="12700" algn="ctr">
                      <a:noFill/>
                    </a:lnL>
                    <a:lnR w="57150" algn="ctr">
                      <a:solidFill>
                        <a:srgbClr val="FF0000"/>
                      </a:solidFill>
                    </a:lnR>
                    <a:lnT w="57150" algn="ctr">
                      <a:solidFill>
                        <a:srgbClr val="FF0000"/>
                      </a:solidFill>
                    </a:lnT>
                    <a:lnB w="12700" algn="ctr">
                      <a:solidFill>
                        <a:schemeClr val="bg1">
                          <a:lumMod val="50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307890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3200" b="1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float()</a:t>
                      </a:r>
                      <a:endParaRPr/>
                    </a:p>
                  </a:txBody>
                  <a:tcPr>
                    <a:lnL w="57150" algn="ctr">
                      <a:solidFill>
                        <a:srgbClr val="FF0000"/>
                      </a:solidFill>
                    </a:lnL>
                    <a:lnR w="12700" algn="ctr">
                      <a:noFill/>
                    </a:lnR>
                    <a:lnT w="12700" algn="ctr">
                      <a:solidFill>
                        <a:schemeClr val="bg1">
                          <a:lumMod val="50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50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3200" b="1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12.0</a:t>
                      </a:r>
                      <a:endParaRPr/>
                    </a:p>
                  </a:txBody>
                  <a:tcPr>
                    <a:lnL w="12700" algn="ctr">
                      <a:noFill/>
                    </a:lnL>
                    <a:lnR w="57150" algn="ctr">
                      <a:solidFill>
                        <a:srgbClr val="FF0000"/>
                      </a:solidFill>
                    </a:lnR>
                    <a:lnT w="12700" algn="ctr">
                      <a:solidFill>
                        <a:schemeClr val="bg1">
                          <a:lumMod val="50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50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231020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3200" b="1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str()</a:t>
                      </a:r>
                      <a:endParaRPr/>
                    </a:p>
                  </a:txBody>
                  <a:tcPr>
                    <a:lnL w="57150" algn="ctr">
                      <a:solidFill>
                        <a:srgbClr val="FF0000"/>
                      </a:solidFill>
                    </a:lnL>
                    <a:lnR w="12700" algn="ctr">
                      <a:noFill/>
                    </a:lnR>
                    <a:lnT w="12700" algn="ctr">
                      <a:solidFill>
                        <a:schemeClr val="bg1">
                          <a:lumMod val="50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50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marR="0" lvl="0" indent="0" algn="l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3200" b="0" i="0" u="none" strike="noStrike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en-US" sz="3200" b="1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hola</a:t>
                      </a:r>
                      <a:r>
                        <a:rPr lang="en-US" sz="3200" b="0" i="0" u="none" strike="noStrike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endParaRPr/>
                    </a:p>
                  </a:txBody>
                  <a:tcPr>
                    <a:lnL w="12700" algn="ctr">
                      <a:noFill/>
                    </a:lnL>
                    <a:lnR w="57150" algn="ctr">
                      <a:solidFill>
                        <a:srgbClr val="FF0000"/>
                      </a:solidFill>
                    </a:lnR>
                    <a:lnT w="12700" algn="ctr">
                      <a:solidFill>
                        <a:schemeClr val="bg1">
                          <a:lumMod val="50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50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231020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3200" b="1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list()</a:t>
                      </a:r>
                      <a:endParaRPr/>
                    </a:p>
                  </a:txBody>
                  <a:tcPr>
                    <a:lnL w="57150" algn="ctr">
                      <a:solidFill>
                        <a:srgbClr val="FF0000"/>
                      </a:solidFill>
                    </a:lnL>
                    <a:lnR w="12700" algn="ctr">
                      <a:noFill/>
                    </a:lnR>
                    <a:lnT w="12700" algn="ctr">
                      <a:solidFill>
                        <a:schemeClr val="bg1">
                          <a:lumMod val="50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50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marL="0" marR="0" lvl="0" indent="0" algn="l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3200" b="1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[1,2,3, </a:t>
                      </a:r>
                      <a:r>
                        <a:rPr lang="en-US" sz="3200" b="0" i="0" u="none" strike="noStrike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en-US" sz="3200" b="1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hola</a:t>
                      </a:r>
                      <a:r>
                        <a:rPr lang="en-US" sz="3200" b="0" i="0" u="none" strike="noStrike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en-US" sz="3200" b="1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]</a:t>
                      </a:r>
                      <a:endParaRPr/>
                    </a:p>
                  </a:txBody>
                  <a:tcPr>
                    <a:lnL w="12700" algn="ctr">
                      <a:noFill/>
                    </a:lnL>
                    <a:lnR w="57150" algn="ctr">
                      <a:solidFill>
                        <a:srgbClr val="FF0000"/>
                      </a:solidFill>
                    </a:lnR>
                    <a:lnT w="12700" algn="ctr">
                      <a:solidFill>
                        <a:schemeClr val="bg1">
                          <a:lumMod val="50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50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231020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3200" b="1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dictionary()</a:t>
                      </a:r>
                      <a:endParaRPr/>
                    </a:p>
                  </a:txBody>
                  <a:tcPr>
                    <a:lnL w="57150" algn="ctr">
                      <a:solidFill>
                        <a:srgbClr val="FF0000"/>
                      </a:solidFill>
                    </a:lnL>
                    <a:lnR w="12700" algn="ctr">
                      <a:noFill/>
                    </a:lnR>
                    <a:lnT w="12700" algn="ctr">
                      <a:solidFill>
                        <a:schemeClr val="bg1">
                          <a:lumMod val="50000"/>
                        </a:schemeClr>
                      </a:solidFill>
                    </a:lnT>
                    <a:lnB w="57150" algn="ctr">
                      <a:solidFill>
                        <a:srgbClr val="FF0000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lang="en-US" sz="3200" b="1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{</a:t>
                      </a:r>
                      <a:r>
                        <a:rPr lang="en-US" sz="3200" b="0" i="0" u="none" strike="noStrike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en-US" sz="3200" b="1" i="0" u="none" strike="noStrike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blue</a:t>
                      </a:r>
                      <a:r>
                        <a:rPr lang="en-US" sz="3200" b="0" i="0" u="none" strike="noStrike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en-US" sz="3200" b="1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:</a:t>
                      </a:r>
                      <a:r>
                        <a:rPr lang="en-US" sz="3200" b="0" i="0" u="none" strike="noStrike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en-US" sz="3200" b="1" i="0" u="none" strike="noStrike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azul</a:t>
                      </a:r>
                      <a:r>
                        <a:rPr lang="en-US" sz="3200" b="0" i="0" u="none" strike="noStrike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en-US" sz="3200" b="1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}</a:t>
                      </a:r>
                      <a:endParaRPr/>
                    </a:p>
                  </a:txBody>
                  <a:tcPr>
                    <a:lnL w="12700" algn="ctr">
                      <a:noFill/>
                    </a:lnL>
                    <a:lnR w="57150" algn="ctr">
                      <a:solidFill>
                        <a:srgbClr val="FF0000"/>
                      </a:solidFill>
                    </a:lnR>
                    <a:lnT w="12700" algn="ctr">
                      <a:solidFill>
                        <a:schemeClr val="bg1">
                          <a:lumMod val="50000"/>
                        </a:schemeClr>
                      </a:solidFill>
                    </a:lnT>
                    <a:lnB w="57150" algn="ctr">
                      <a:solidFill>
                        <a:srgbClr val="FF0000"/>
                      </a:solidFill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066210809" name="TextBox 6"/>
          <p:cNvSpPr txBox="1"/>
          <p:nvPr/>
        </p:nvSpPr>
        <p:spPr bwMode="auto">
          <a:xfrm>
            <a:off x="414096" y="1536174"/>
            <a:ext cx="2662726" cy="3785652"/>
          </a:xfrm>
          <a:prstGeom prst="rect">
            <a:avLst/>
          </a:prstGeom>
          <a:solidFill>
            <a:schemeClr val="bg1"/>
          </a:solidFill>
          <a:effectLst>
            <a:outerShdw blurRad="50800" dist="76200" dir="2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2400" b="1">
                <a:solidFill>
                  <a:srgbClr val="FF0000"/>
                </a:solidFill>
              </a:rPr>
              <a:t>Tip:</a:t>
            </a:r>
            <a:r>
              <a:rPr lang="en-US" sz="2400" b="1"/>
              <a:t> Knowing the function </a:t>
            </a:r>
            <a:r>
              <a:rPr lang="en-US" sz="2400" b="1">
                <a:solidFill>
                  <a:srgbClr val="0000CC"/>
                </a:solidFill>
              </a:rPr>
              <a:t>type(</a:t>
            </a:r>
            <a:r>
              <a:rPr lang="en-US" sz="2400" b="1" i="1">
                <a:solidFill>
                  <a:srgbClr val="0000CC"/>
                </a:solidFill>
              </a:rPr>
              <a:t>object</a:t>
            </a:r>
            <a:r>
              <a:rPr lang="en-US" sz="2400" b="1">
                <a:solidFill>
                  <a:srgbClr val="0000CC"/>
                </a:solidFill>
              </a:rPr>
              <a:t>)</a:t>
            </a:r>
            <a:r>
              <a:rPr lang="en-US" sz="2400" b="1"/>
              <a:t> of objects you are working with during coding can help you get around programming obstacles</a:t>
            </a:r>
            <a:r>
              <a:rPr lang="en-US" sz="2400" b="1">
                <a:latin typeface="Times New Roman"/>
                <a:cs typeface="Times New Roman"/>
              </a:rPr>
              <a:t>!</a:t>
            </a:r>
            <a:endParaRPr lang="en-US" sz="2400" b="1">
              <a:solidFill>
                <a:srgbClr val="92D050"/>
              </a:solidFill>
            </a:endParaRPr>
          </a:p>
        </p:txBody>
      </p:sp>
      <p:sp>
        <p:nvSpPr>
          <p:cNvPr id="438616441" name="TextBox 1"/>
          <p:cNvSpPr txBox="1"/>
          <p:nvPr/>
        </p:nvSpPr>
        <p:spPr bwMode="auto">
          <a:xfrm>
            <a:off x="5044693" y="1364545"/>
            <a:ext cx="21224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US" sz="3600" b="1" u="sng"/>
              <a:t>Datatypes</a:t>
            </a:r>
            <a:endParaRPr/>
          </a:p>
        </p:txBody>
      </p:sp>
      <p:sp>
        <p:nvSpPr>
          <p:cNvPr id="2131815964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144BBB-DA99-4FDF-9E1F-B5EEC68D5D7C}" type="slidenum">
              <a:rPr lang="es-ES_tradnl"/>
              <a:t>30</a:t>
            </a:fld>
            <a:endParaRPr lang="es-ES_tradnl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41232738" name="Picture 3" descr="Graphical user interface, application, Teams&#10;&#10;Description automatically generated"/>
          <p:cNvPicPr>
            <a:picLocks noChangeAspect="1"/>
          </p:cNvPicPr>
          <p:nvPr/>
        </p:nvPicPr>
        <p:blipFill rotWithShape="1">
          <a:blip r:embed="rId3"/>
          <a:srcRect l="0" t="11041" r="0" b="68377"/>
          <a:stretch/>
        </p:blipFill>
        <p:spPr bwMode="auto">
          <a:xfrm>
            <a:off x="145005" y="1845918"/>
            <a:ext cx="8962211" cy="2394595"/>
          </a:xfrm>
          <a:prstGeom prst="rect">
            <a:avLst/>
          </a:prstGeom>
        </p:spPr>
      </p:pic>
      <p:sp>
        <p:nvSpPr>
          <p:cNvPr id="786882933" name="Rectangle 8"/>
          <p:cNvSpPr/>
          <p:nvPr/>
        </p:nvSpPr>
        <p:spPr bwMode="auto">
          <a:xfrm>
            <a:off x="36783" y="3043216"/>
            <a:ext cx="9070432" cy="1197298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3600" b="1">
                <a:solidFill>
                  <a:srgbClr val="FF0000"/>
                </a:solidFill>
              </a:rPr>
              <a:t>Answer</a:t>
            </a:r>
            <a:endParaRPr/>
          </a:p>
        </p:txBody>
      </p:sp>
      <p:sp>
        <p:nvSpPr>
          <p:cNvPr id="1803248652" name="Slide Number Placeholder 1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144BBB-DA99-4FDF-9E1F-B5EEC68D5D7C}" type="slidenum">
              <a:rPr lang="es-ES_tradnl"/>
              <a:t>31</a:t>
            </a:fld>
            <a:endParaRPr lang="es-ES_tradnl"/>
          </a:p>
        </p:txBody>
      </p:sp>
      <p:sp>
        <p:nvSpPr>
          <p:cNvPr id="1921891325" name="Title 1"/>
          <p:cNvSpPr txBox="1"/>
          <p:nvPr/>
        </p:nvSpPr>
        <p:spPr bwMode="auto">
          <a:xfrm>
            <a:off x="0" y="1"/>
            <a:ext cx="9144000" cy="787616"/>
          </a:xfrm>
          <a:prstGeom prst="rect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txBody>
          <a:bodyPr anchor="ctr">
            <a:noAutofit/>
          </a:bodyPr>
          <a:lstStyle>
            <a:lvl1pPr algn="ctr" defTabSz="914400" rtl="0">
              <a:lnSpc>
                <a:spcPct val="90000"/>
              </a:lnSpc>
              <a:spcBef>
                <a:spcPts val="0"/>
              </a:spcBef>
              <a:buNone/>
              <a:defRPr sz="44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4100">
                <a:latin typeface="Times New Roman"/>
                <a:cs typeface="Times New Roman"/>
              </a:rPr>
              <a:t>Integers and floats and strings… oh my!</a:t>
            </a:r>
            <a:endParaRPr lang="en-US" sz="4100">
              <a:solidFill>
                <a:srgbClr val="92D05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86165348" name="Picture 3" descr="Graphical user interface, application, Teams&#10;&#10;Description automatically generated"/>
          <p:cNvPicPr>
            <a:picLocks noChangeAspect="1"/>
          </p:cNvPicPr>
          <p:nvPr/>
        </p:nvPicPr>
        <p:blipFill rotWithShape="1">
          <a:blip r:embed="rId3"/>
          <a:srcRect l="0" t="11041" r="0" b="68377"/>
          <a:stretch/>
        </p:blipFill>
        <p:spPr bwMode="auto">
          <a:xfrm>
            <a:off x="145005" y="1845918"/>
            <a:ext cx="8962211" cy="2394595"/>
          </a:xfrm>
          <a:prstGeom prst="rect">
            <a:avLst/>
          </a:prstGeom>
        </p:spPr>
      </p:pic>
      <p:sp>
        <p:nvSpPr>
          <p:cNvPr id="1634040437" name="Slide Number Placeholder 1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144BBB-DA99-4FDF-9E1F-B5EEC68D5D7C}" type="slidenum">
              <a:rPr lang="es-ES_tradnl"/>
              <a:t>32</a:t>
            </a:fld>
            <a:endParaRPr lang="es-ES_tradnl"/>
          </a:p>
        </p:txBody>
      </p:sp>
      <p:sp>
        <p:nvSpPr>
          <p:cNvPr id="1269586535" name="Rectangle 4"/>
          <p:cNvSpPr/>
          <p:nvPr/>
        </p:nvSpPr>
        <p:spPr bwMode="auto">
          <a:xfrm>
            <a:off x="36783" y="3043216"/>
            <a:ext cx="9070432" cy="1197298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3600" b="1">
              <a:solidFill>
                <a:srgbClr val="FF0000"/>
              </a:solidFill>
            </a:endParaRPr>
          </a:p>
        </p:txBody>
      </p:sp>
      <p:sp>
        <p:nvSpPr>
          <p:cNvPr id="1131309494" name="Title 1"/>
          <p:cNvSpPr txBox="1"/>
          <p:nvPr/>
        </p:nvSpPr>
        <p:spPr bwMode="auto">
          <a:xfrm>
            <a:off x="0" y="1"/>
            <a:ext cx="9144000" cy="787616"/>
          </a:xfrm>
          <a:prstGeom prst="rect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txBody>
          <a:bodyPr anchor="ctr">
            <a:noAutofit/>
          </a:bodyPr>
          <a:lstStyle>
            <a:lvl1pPr algn="ctr" defTabSz="914400" rtl="0">
              <a:lnSpc>
                <a:spcPct val="90000"/>
              </a:lnSpc>
              <a:spcBef>
                <a:spcPts val="0"/>
              </a:spcBef>
              <a:buNone/>
              <a:defRPr sz="44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4100">
                <a:latin typeface="Times New Roman"/>
                <a:cs typeface="Times New Roman"/>
              </a:rPr>
              <a:t>Integers and floats and strings… oh my!</a:t>
            </a:r>
            <a:endParaRPr lang="en-US" sz="4100">
              <a:solidFill>
                <a:srgbClr val="92D05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22739349" name="Picture 3" descr="Graphical user interface, application, Teams&#10;&#10;Description automatically generated"/>
          <p:cNvPicPr>
            <a:picLocks noChangeAspect="1"/>
          </p:cNvPicPr>
          <p:nvPr/>
        </p:nvPicPr>
        <p:blipFill rotWithShape="1">
          <a:blip r:embed="rId3"/>
          <a:srcRect l="0" t="34772" r="0" b="46662"/>
          <a:stretch/>
        </p:blipFill>
        <p:spPr bwMode="auto">
          <a:xfrm>
            <a:off x="100401" y="2116106"/>
            <a:ext cx="8441720" cy="2034482"/>
          </a:xfrm>
          <a:prstGeom prst="rect">
            <a:avLst/>
          </a:prstGeom>
        </p:spPr>
      </p:pic>
      <p:sp>
        <p:nvSpPr>
          <p:cNvPr id="118204398" name="Rectangle 4"/>
          <p:cNvSpPr/>
          <p:nvPr/>
        </p:nvSpPr>
        <p:spPr bwMode="auto">
          <a:xfrm>
            <a:off x="44645" y="2938397"/>
            <a:ext cx="9043599" cy="1120647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3600" b="1">
                <a:solidFill>
                  <a:srgbClr val="FF0000"/>
                </a:solidFill>
              </a:rPr>
              <a:t>Answer</a:t>
            </a:r>
            <a:endParaRPr/>
          </a:p>
        </p:txBody>
      </p:sp>
      <p:sp>
        <p:nvSpPr>
          <p:cNvPr id="91766696" name="Slide Number Placeholder 1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144BBB-DA99-4FDF-9E1F-B5EEC68D5D7C}" type="slidenum">
              <a:rPr lang="es-ES_tradnl"/>
              <a:t>33</a:t>
            </a:fld>
            <a:endParaRPr lang="es-ES_tradnl"/>
          </a:p>
        </p:txBody>
      </p:sp>
      <p:sp>
        <p:nvSpPr>
          <p:cNvPr id="1673538461" name="Title 1"/>
          <p:cNvSpPr txBox="1"/>
          <p:nvPr/>
        </p:nvSpPr>
        <p:spPr bwMode="auto">
          <a:xfrm>
            <a:off x="0" y="1"/>
            <a:ext cx="9144000" cy="787616"/>
          </a:xfrm>
          <a:prstGeom prst="rect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txBody>
          <a:bodyPr anchor="ctr">
            <a:noAutofit/>
          </a:bodyPr>
          <a:lstStyle>
            <a:lvl1pPr algn="ctr" defTabSz="914400" rtl="0">
              <a:lnSpc>
                <a:spcPct val="90000"/>
              </a:lnSpc>
              <a:spcBef>
                <a:spcPts val="0"/>
              </a:spcBef>
              <a:buNone/>
              <a:defRPr sz="44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4100">
                <a:latin typeface="Times New Roman"/>
                <a:cs typeface="Times New Roman"/>
              </a:rPr>
              <a:t>Integers and floats and strings… oh my!</a:t>
            </a:r>
            <a:endParaRPr lang="en-US" sz="4100">
              <a:solidFill>
                <a:srgbClr val="92D05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76647178" name="Picture 3" descr="Graphical user interface, application, Teams&#10;&#10;Description automatically generated"/>
          <p:cNvPicPr>
            <a:picLocks noChangeAspect="1"/>
          </p:cNvPicPr>
          <p:nvPr/>
        </p:nvPicPr>
        <p:blipFill rotWithShape="1">
          <a:blip r:embed="rId3"/>
          <a:srcRect l="0" t="34772" r="0" b="46662"/>
          <a:stretch/>
        </p:blipFill>
        <p:spPr bwMode="auto">
          <a:xfrm>
            <a:off x="100401" y="2116106"/>
            <a:ext cx="8441720" cy="2034482"/>
          </a:xfrm>
          <a:prstGeom prst="rect">
            <a:avLst/>
          </a:prstGeom>
        </p:spPr>
      </p:pic>
      <p:sp>
        <p:nvSpPr>
          <p:cNvPr id="774770248" name="Slide Number Placeholder 1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144BBB-DA99-4FDF-9E1F-B5EEC68D5D7C}" type="slidenum">
              <a:rPr lang="es-ES_tradnl"/>
              <a:t>34</a:t>
            </a:fld>
            <a:endParaRPr lang="es-ES_tradnl"/>
          </a:p>
        </p:txBody>
      </p:sp>
      <p:sp>
        <p:nvSpPr>
          <p:cNvPr id="570280646" name="Rectangle 5"/>
          <p:cNvSpPr/>
          <p:nvPr/>
        </p:nvSpPr>
        <p:spPr bwMode="auto">
          <a:xfrm>
            <a:off x="44645" y="2938397"/>
            <a:ext cx="9043599" cy="1120647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3600" b="1">
              <a:solidFill>
                <a:srgbClr val="FF0000"/>
              </a:solidFill>
            </a:endParaRPr>
          </a:p>
        </p:txBody>
      </p:sp>
      <p:sp>
        <p:nvSpPr>
          <p:cNvPr id="248289576" name="Title 1"/>
          <p:cNvSpPr txBox="1"/>
          <p:nvPr/>
        </p:nvSpPr>
        <p:spPr bwMode="auto">
          <a:xfrm>
            <a:off x="0" y="1"/>
            <a:ext cx="9144000" cy="787616"/>
          </a:xfrm>
          <a:prstGeom prst="rect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txBody>
          <a:bodyPr anchor="ctr">
            <a:noAutofit/>
          </a:bodyPr>
          <a:lstStyle>
            <a:lvl1pPr algn="ctr" defTabSz="914400" rtl="0">
              <a:lnSpc>
                <a:spcPct val="90000"/>
              </a:lnSpc>
              <a:spcBef>
                <a:spcPts val="0"/>
              </a:spcBef>
              <a:buNone/>
              <a:defRPr sz="44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4100">
                <a:latin typeface="Times New Roman"/>
                <a:cs typeface="Times New Roman"/>
              </a:rPr>
              <a:t>Integers and floats and strings… oh my!</a:t>
            </a:r>
            <a:endParaRPr lang="en-US" sz="4100">
              <a:solidFill>
                <a:srgbClr val="92D05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0512903" name="Title 1"/>
          <p:cNvSpPr txBox="1"/>
          <p:nvPr/>
        </p:nvSpPr>
        <p:spPr bwMode="auto">
          <a:xfrm>
            <a:off x="0" y="0"/>
            <a:ext cx="9143999" cy="724829"/>
          </a:xfrm>
          <a:prstGeom prst="rect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txBody>
          <a:bodyPr>
            <a:noAutofit/>
          </a:bodyPr>
          <a:lstStyle>
            <a:lvl1pPr algn="ctr" defTabSz="914400" rtl="0">
              <a:lnSpc>
                <a:spcPct val="90000"/>
              </a:lnSpc>
              <a:spcBef>
                <a:spcPts val="0"/>
              </a:spcBef>
              <a:buNone/>
              <a:defRPr sz="44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4100">
                <a:latin typeface="Times New Roman"/>
                <a:cs typeface="Times New Roman"/>
              </a:rPr>
              <a:t>Int and Float Types can be manipulated</a:t>
            </a:r>
            <a:endParaRPr lang="en-US" sz="4100">
              <a:solidFill>
                <a:srgbClr val="92D050"/>
              </a:solidFill>
            </a:endParaRPr>
          </a:p>
        </p:txBody>
      </p:sp>
      <p:graphicFrame>
        <p:nvGraphicFramePr>
          <p:cNvPr id="644994819" name="Table 6"/>
          <p:cNvGraphicFramePr>
            <a:graphicFrameLocks xmlns:a="http://schemas.openxmlformats.org/drawingml/2006/main" noGrp="1"/>
          </p:cNvGraphicFramePr>
          <p:nvPr/>
        </p:nvGraphicFramePr>
        <p:xfrm rot="0">
          <a:off x="2839646" y="1371314"/>
          <a:ext cx="3160776" cy="1158240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{7DF18680-E054-41AD-8BC1-D1AEF772440D}</a:tableStyleId>
              </a:tblPr>
              <a:tblGrid>
                <a:gridCol w="3160776"/>
              </a:tblGrid>
              <a:tr h="23102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3200" b="1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int(</a:t>
                      </a:r>
                      <a:r>
                        <a:rPr lang="en-US" sz="3200" b="1" i="1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object</a:t>
                      </a:r>
                      <a:r>
                        <a:rPr lang="en-US" sz="3200" b="1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)</a:t>
                      </a:r>
                      <a:endParaRPr/>
                    </a:p>
                  </a:txBody>
                  <a:tcPr>
                    <a:lnL w="38100" algn="ctr">
                      <a:solidFill>
                        <a:srgbClr val="FF0000"/>
                      </a:solidFill>
                    </a:lnL>
                    <a:lnR w="12700" algn="ctr">
                      <a:noFill/>
                    </a:lnR>
                    <a:lnT w="38100" algn="ctr">
                      <a:solidFill>
                        <a:srgbClr val="FF0000"/>
                      </a:solidFill>
                    </a:lnT>
                    <a:lnB w="12700" algn="ctr">
                      <a:solidFill>
                        <a:schemeClr val="bg1">
                          <a:lumMod val="50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30789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3200" b="1" i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float(</a:t>
                      </a:r>
                      <a:r>
                        <a:rPr lang="en-US" sz="3200" b="1" i="1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object</a:t>
                      </a:r>
                      <a:r>
                        <a:rPr lang="en-US" sz="3200" b="1" i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)</a:t>
                      </a:r>
                      <a:endParaRPr lang="en-US" sz="3200" b="1" i="1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>
                    <a:lnL w="38100" algn="ctr">
                      <a:solidFill>
                        <a:srgbClr val="FF0000"/>
                      </a:solidFill>
                    </a:lnL>
                    <a:lnR w="12700" algn="ctr">
                      <a:noFill/>
                    </a:lnR>
                    <a:lnT w="12700" algn="ctr">
                      <a:solidFill>
                        <a:schemeClr val="bg1">
                          <a:lumMod val="50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50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pic>
        <p:nvPicPr>
          <p:cNvPr id="1571099188" name="Picture 5" descr="Graphical user interface, text, application, chat or text message&#10;&#10;Description automatically generated"/>
          <p:cNvPicPr>
            <a:picLocks noChangeAspect="1"/>
          </p:cNvPicPr>
          <p:nvPr/>
        </p:nvPicPr>
        <p:blipFill rotWithShape="1">
          <a:blip r:embed="rId3"/>
          <a:srcRect l="0" t="13412" r="0" b="0"/>
          <a:stretch/>
        </p:blipFill>
        <p:spPr bwMode="auto">
          <a:xfrm>
            <a:off x="173005" y="2904872"/>
            <a:ext cx="4240420" cy="2459759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pic>
        <p:nvPicPr>
          <p:cNvPr id="1523538329" name="Picture 7" descr="Table&#10;&#10;Description automatically generated with medium confidence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4730577" y="3509344"/>
            <a:ext cx="4240420" cy="2426598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sp>
        <p:nvSpPr>
          <p:cNvPr id="659999783" name="Bent Arrow 9"/>
          <p:cNvSpPr/>
          <p:nvPr/>
        </p:nvSpPr>
        <p:spPr bwMode="auto">
          <a:xfrm rot="5400000" flipV="1">
            <a:off x="1466306" y="1656875"/>
            <a:ext cx="1265935" cy="1230059"/>
          </a:xfrm>
          <a:prstGeom prst="bentArrow">
            <a:avLst>
              <a:gd name="adj1" fmla="val 5608"/>
              <a:gd name="adj2" fmla="val 17458"/>
              <a:gd name="adj3" fmla="val 25000"/>
              <a:gd name="adj4" fmla="val 4267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1543386979" name="Bent Arrow 10"/>
          <p:cNvSpPr/>
          <p:nvPr/>
        </p:nvSpPr>
        <p:spPr bwMode="auto">
          <a:xfrm rot="5400000">
            <a:off x="6161851" y="2208995"/>
            <a:ext cx="1265935" cy="1230059"/>
          </a:xfrm>
          <a:prstGeom prst="bentArrow">
            <a:avLst>
              <a:gd name="adj1" fmla="val 5608"/>
              <a:gd name="adj2" fmla="val 17458"/>
              <a:gd name="adj3" fmla="val 25000"/>
              <a:gd name="adj4" fmla="val 4267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1210445488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144BBB-DA99-4FDF-9E1F-B5EEC68D5D7C}" type="slidenum">
              <a:rPr lang="es-ES_tradnl"/>
              <a:t>35</a:t>
            </a:fld>
            <a:endParaRPr lang="es-ES_tradnl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37624494" name="Picture 4" descr="Graphical user interface, text, application, email&#10;&#10;Description automatically generated"/>
          <p:cNvPicPr>
            <a:picLocks noChangeAspect="1"/>
          </p:cNvPicPr>
          <p:nvPr/>
        </p:nvPicPr>
        <p:blipFill rotWithShape="1">
          <a:blip r:embed="rId3"/>
          <a:srcRect l="0" t="16040" r="0" b="0"/>
          <a:stretch/>
        </p:blipFill>
        <p:spPr bwMode="auto">
          <a:xfrm>
            <a:off x="545794" y="1092954"/>
            <a:ext cx="8052412" cy="467209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78633064" name="Rectangle 5"/>
          <p:cNvSpPr/>
          <p:nvPr/>
        </p:nvSpPr>
        <p:spPr bwMode="auto">
          <a:xfrm>
            <a:off x="545793" y="3915076"/>
            <a:ext cx="8241745" cy="2005277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3600" b="1">
                <a:solidFill>
                  <a:srgbClr val="FF0000"/>
                </a:solidFill>
              </a:rPr>
              <a:t>Answer</a:t>
            </a:r>
            <a:endParaRPr/>
          </a:p>
        </p:txBody>
      </p:sp>
      <p:sp>
        <p:nvSpPr>
          <p:cNvPr id="1011241071" name="Slide Number Placeholder 1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144BBB-DA99-4FDF-9E1F-B5EEC68D5D7C}" type="slidenum">
              <a:rPr lang="es-ES_tradnl"/>
              <a:t>36</a:t>
            </a:fld>
            <a:endParaRPr lang="es-ES_tradnl"/>
          </a:p>
        </p:txBody>
      </p:sp>
      <p:sp>
        <p:nvSpPr>
          <p:cNvPr id="1541080627" name="Title 1"/>
          <p:cNvSpPr txBox="1"/>
          <p:nvPr/>
        </p:nvSpPr>
        <p:spPr bwMode="auto">
          <a:xfrm>
            <a:off x="0" y="1"/>
            <a:ext cx="9144000" cy="787616"/>
          </a:xfrm>
          <a:prstGeom prst="rect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txBody>
          <a:bodyPr anchor="ctr">
            <a:noAutofit/>
          </a:bodyPr>
          <a:lstStyle>
            <a:lvl1pPr algn="ctr" defTabSz="914400" rtl="0">
              <a:lnSpc>
                <a:spcPct val="90000"/>
              </a:lnSpc>
              <a:spcBef>
                <a:spcPts val="0"/>
              </a:spcBef>
              <a:buNone/>
              <a:defRPr sz="44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4100">
                <a:latin typeface="Times New Roman"/>
                <a:cs typeface="Times New Roman"/>
              </a:rPr>
              <a:t>Integers and floats and strings… oh my!</a:t>
            </a:r>
            <a:endParaRPr lang="en-US" sz="4100">
              <a:solidFill>
                <a:srgbClr val="92D05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2763939" name="Slide Number Placeholder 2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144BBB-DA99-4FDF-9E1F-B5EEC68D5D7C}" type="slidenum">
              <a:rPr lang="es-ES_tradnl"/>
              <a:t>37</a:t>
            </a:fld>
            <a:endParaRPr lang="es-ES_tradnl"/>
          </a:p>
        </p:txBody>
      </p:sp>
      <p:sp>
        <p:nvSpPr>
          <p:cNvPr id="530536474" name="Title 1"/>
          <p:cNvSpPr txBox="1"/>
          <p:nvPr/>
        </p:nvSpPr>
        <p:spPr bwMode="auto">
          <a:xfrm>
            <a:off x="0" y="1"/>
            <a:ext cx="9144000" cy="787616"/>
          </a:xfrm>
          <a:prstGeom prst="rect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txBody>
          <a:bodyPr anchor="ctr">
            <a:noAutofit/>
          </a:bodyPr>
          <a:lstStyle>
            <a:lvl1pPr algn="ctr" defTabSz="914400" rtl="0">
              <a:lnSpc>
                <a:spcPct val="90000"/>
              </a:lnSpc>
              <a:spcBef>
                <a:spcPts val="0"/>
              </a:spcBef>
              <a:buNone/>
              <a:defRPr sz="44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4100">
                <a:latin typeface="Times New Roman"/>
                <a:cs typeface="Times New Roman"/>
              </a:rPr>
              <a:t>Integers and floats and strings… oh my!</a:t>
            </a:r>
            <a:endParaRPr lang="en-US" sz="4100">
              <a:solidFill>
                <a:srgbClr val="92D050"/>
              </a:solidFill>
            </a:endParaRPr>
          </a:p>
        </p:txBody>
      </p:sp>
      <p:pic>
        <p:nvPicPr>
          <p:cNvPr id="892590114" name="Picture 1" descr="Graphical user interface, text, application, email&#10;&#10;Description automatically generated"/>
          <p:cNvPicPr>
            <a:picLocks noChangeAspect="1"/>
          </p:cNvPicPr>
          <p:nvPr/>
        </p:nvPicPr>
        <p:blipFill rotWithShape="1">
          <a:blip r:embed="rId3"/>
          <a:srcRect l="0" t="16040" r="0" b="0"/>
          <a:stretch/>
        </p:blipFill>
        <p:spPr bwMode="auto">
          <a:xfrm>
            <a:off x="545794" y="1092954"/>
            <a:ext cx="8052412" cy="467209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3349844" name="Title 1"/>
          <p:cNvSpPr txBox="1"/>
          <p:nvPr/>
        </p:nvSpPr>
        <p:spPr bwMode="auto">
          <a:xfrm>
            <a:off x="0" y="0"/>
            <a:ext cx="9143999" cy="121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>
            <a:noAutofit/>
          </a:bodyPr>
          <a:lstStyle>
            <a:lvl1pPr algn="ctr" defTabSz="914400" rtl="0">
              <a:lnSpc>
                <a:spcPct val="90000"/>
              </a:lnSpc>
              <a:spcBef>
                <a:spcPts val="0"/>
              </a:spcBef>
              <a:buNone/>
              <a:defRPr sz="44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defRPr/>
            </a:pPr>
            <a:r>
              <a:rPr lang="en-US" sz="4100">
                <a:latin typeface="Times New Roman"/>
                <a:cs typeface="Times New Roman"/>
              </a:rPr>
              <a:t>There are a multitude of </a:t>
            </a:r>
            <a:r>
              <a:rPr lang="en-US" sz="4100">
                <a:solidFill>
                  <a:srgbClr val="0000CC"/>
                </a:solidFill>
                <a:latin typeface="Times New Roman"/>
                <a:cs typeface="Times New Roman"/>
              </a:rPr>
              <a:t>functions</a:t>
            </a:r>
            <a:r>
              <a:rPr lang="en-US" sz="4100">
                <a:latin typeface="Times New Roman"/>
                <a:cs typeface="Times New Roman"/>
              </a:rPr>
              <a:t> to evaluate and manipulate your </a:t>
            </a:r>
            <a:r>
              <a:rPr lang="en-US" sz="4100">
                <a:solidFill>
                  <a:srgbClr val="0000CC"/>
                </a:solidFill>
                <a:latin typeface="Times New Roman"/>
                <a:cs typeface="Times New Roman"/>
              </a:rPr>
              <a:t>strings</a:t>
            </a:r>
            <a:endParaRPr lang="en-US" sz="4100">
              <a:solidFill>
                <a:srgbClr val="0000CC"/>
              </a:solidFill>
            </a:endParaRPr>
          </a:p>
        </p:txBody>
      </p:sp>
      <p:graphicFrame>
        <p:nvGraphicFramePr>
          <p:cNvPr id="1459125936" name="Table 6"/>
          <p:cNvGraphicFramePr>
            <a:graphicFrameLocks xmlns:a="http://schemas.openxmlformats.org/drawingml/2006/main" noGrp="1"/>
          </p:cNvGraphicFramePr>
          <p:nvPr/>
        </p:nvGraphicFramePr>
        <p:xfrm rot="0">
          <a:off x="2991611" y="1691640"/>
          <a:ext cx="3160776" cy="3474720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{7DF18680-E054-41AD-8BC1-D1AEF772440D}</a:tableStyleId>
              </a:tblPr>
              <a:tblGrid>
                <a:gridCol w="3160776"/>
              </a:tblGrid>
              <a:tr h="23102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3200" b="1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len</a:t>
                      </a:r>
                      <a:r>
                        <a:rPr lang="en-US" sz="3200" b="1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lang="en-US" sz="3200" b="1" i="1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str</a:t>
                      </a:r>
                      <a:r>
                        <a:rPr lang="en-US" sz="3200" b="1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)</a:t>
                      </a:r>
                      <a:endParaRPr/>
                    </a:p>
                  </a:txBody>
                  <a:tcPr>
                    <a:lnL w="57150" algn="ctr">
                      <a:solidFill>
                        <a:srgbClr val="FF0000"/>
                      </a:solidFill>
                    </a:lnL>
                    <a:lnR w="57150" algn="ctr">
                      <a:solidFill>
                        <a:srgbClr val="FF0000"/>
                      </a:solidFill>
                    </a:lnR>
                    <a:lnT w="57150" algn="ctr">
                      <a:solidFill>
                        <a:srgbClr val="FF0000"/>
                      </a:solidFill>
                    </a:lnT>
                    <a:lnB w="12700" algn="ctr">
                      <a:solidFill>
                        <a:schemeClr val="bg1">
                          <a:lumMod val="50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30789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3200" b="1" i="1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str.</a:t>
                      </a:r>
                      <a:r>
                        <a:rPr lang="en-US" sz="3200" b="1" i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count</a:t>
                      </a:r>
                      <a:r>
                        <a:rPr lang="en-US" sz="3200" b="1" i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lang="en-US" sz="3200" b="0" i="0" u="none" strike="noStrike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""</a:t>
                      </a:r>
                      <a:r>
                        <a:rPr lang="en-US" sz="3200" b="1" i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)</a:t>
                      </a:r>
                      <a:endParaRPr lang="en-US" sz="3200" b="1" i="1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>
                    <a:lnL w="57150" algn="ctr">
                      <a:solidFill>
                        <a:srgbClr val="FF0000"/>
                      </a:solidFill>
                    </a:lnL>
                    <a:lnR w="57150" algn="ctr">
                      <a:solidFill>
                        <a:srgbClr val="FF0000"/>
                      </a:solidFill>
                    </a:lnR>
                    <a:lnT w="12700" algn="ctr">
                      <a:solidFill>
                        <a:schemeClr val="bg1">
                          <a:lumMod val="50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50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23102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3200" b="1" i="1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str</a:t>
                      </a:r>
                      <a:r>
                        <a:rPr lang="en-US" sz="3200" b="1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.replace</a:t>
                      </a:r>
                      <a:r>
                        <a:rPr lang="en-US" sz="3200" b="1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lang="en-US" sz="3200" b="0" i="0" u="none" strike="noStrike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""</a:t>
                      </a:r>
                      <a:r>
                        <a:rPr lang="en-US" sz="3200" b="1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, </a:t>
                      </a:r>
                      <a:r>
                        <a:rPr lang="en-US" sz="3200" b="0" i="0" u="none" strike="noStrike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""</a:t>
                      </a:r>
                      <a:r>
                        <a:rPr lang="en-US" sz="3200" b="1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)</a:t>
                      </a:r>
                      <a:endParaRPr/>
                    </a:p>
                  </a:txBody>
                  <a:tcPr>
                    <a:lnL w="57150" algn="ctr">
                      <a:solidFill>
                        <a:srgbClr val="FF0000"/>
                      </a:solidFill>
                    </a:lnL>
                    <a:lnR w="57150" algn="ctr">
                      <a:solidFill>
                        <a:srgbClr val="FF0000"/>
                      </a:solidFill>
                    </a:lnR>
                    <a:lnT w="12700" algn="ctr">
                      <a:solidFill>
                        <a:schemeClr val="bg1">
                          <a:lumMod val="50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50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23102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3200" b="1" i="1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str</a:t>
                      </a:r>
                      <a:r>
                        <a:rPr lang="en-US" sz="3200" b="1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.capitalize</a:t>
                      </a:r>
                      <a:r>
                        <a:rPr lang="en-US" sz="3200" b="1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()</a:t>
                      </a:r>
                      <a:endParaRPr/>
                    </a:p>
                  </a:txBody>
                  <a:tcPr>
                    <a:lnL w="57150" algn="ctr">
                      <a:solidFill>
                        <a:srgbClr val="FF0000"/>
                      </a:solidFill>
                    </a:lnL>
                    <a:lnR w="57150" algn="ctr">
                      <a:solidFill>
                        <a:srgbClr val="FF0000"/>
                      </a:solidFill>
                    </a:lnR>
                    <a:lnT w="12700" algn="ctr">
                      <a:solidFill>
                        <a:schemeClr val="bg1">
                          <a:lumMod val="50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50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23102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3200" b="1" i="1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str</a:t>
                      </a:r>
                      <a:r>
                        <a:rPr lang="en-US" sz="3200" b="1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.split</a:t>
                      </a:r>
                      <a:r>
                        <a:rPr lang="en-US" sz="3200" b="1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lang="en-US" sz="3200" b="0" i="0" u="none" strike="noStrike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""</a:t>
                      </a:r>
                      <a:r>
                        <a:rPr lang="en-US" sz="3200" b="1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)</a:t>
                      </a:r>
                      <a:endParaRPr/>
                    </a:p>
                  </a:txBody>
                  <a:tcPr>
                    <a:lnL w="57150" algn="ctr">
                      <a:solidFill>
                        <a:srgbClr val="FF0000"/>
                      </a:solidFill>
                    </a:lnL>
                    <a:lnR w="57150" algn="ctr">
                      <a:solidFill>
                        <a:srgbClr val="FF0000"/>
                      </a:solidFill>
                    </a:lnR>
                    <a:lnT w="12700" algn="ctr">
                      <a:solidFill>
                        <a:schemeClr val="bg1">
                          <a:lumMod val="50000"/>
                        </a:schemeClr>
                      </a:solidFill>
                    </a:lnT>
                    <a:lnB w="12700" algn="ctr">
                      <a:solidFill>
                        <a:schemeClr val="bg1">
                          <a:lumMod val="50000"/>
                        </a:schemeClr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231020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en-US" sz="3200" b="0" i="0" u="none" strike="noStrike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""</a:t>
                      </a:r>
                      <a:r>
                        <a:rPr lang="en-US" sz="3200" b="1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.join(</a:t>
                      </a:r>
                      <a:r>
                        <a:rPr lang="en-US" sz="3200" b="1" i="1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str</a:t>
                      </a:r>
                      <a:r>
                        <a:rPr lang="en-US" sz="3200" b="1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)</a:t>
                      </a:r>
                      <a:endParaRPr/>
                    </a:p>
                  </a:txBody>
                  <a:tcPr>
                    <a:lnL w="57150" algn="ctr">
                      <a:solidFill>
                        <a:srgbClr val="FF0000"/>
                      </a:solidFill>
                    </a:lnL>
                    <a:lnR w="57150" algn="ctr">
                      <a:solidFill>
                        <a:srgbClr val="FF0000"/>
                      </a:solidFill>
                    </a:lnR>
                    <a:lnT w="12700" algn="ctr">
                      <a:solidFill>
                        <a:schemeClr val="bg1">
                          <a:lumMod val="50000"/>
                        </a:schemeClr>
                      </a:solidFill>
                    </a:lnT>
                    <a:lnB w="57150" algn="ctr">
                      <a:solidFill>
                        <a:srgbClr val="FF0000"/>
                      </a:solidFill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056162551" name="TextBox 4"/>
          <p:cNvSpPr txBox="1"/>
          <p:nvPr/>
        </p:nvSpPr>
        <p:spPr bwMode="auto">
          <a:xfrm>
            <a:off x="179066" y="4762500"/>
            <a:ext cx="2662726" cy="1569660"/>
          </a:xfrm>
          <a:prstGeom prst="rect">
            <a:avLst/>
          </a:prstGeom>
          <a:solidFill>
            <a:schemeClr val="bg1"/>
          </a:solidFill>
          <a:effectLst>
            <a:outerShdw blurRad="50800" dist="76200" dir="2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2400" b="1">
                <a:solidFill>
                  <a:srgbClr val="FF0000"/>
                </a:solidFill>
              </a:rPr>
              <a:t>Note:</a:t>
            </a:r>
            <a:r>
              <a:rPr lang="en-US" sz="2400" b="1"/>
              <a:t> These are my favorite and most used </a:t>
            </a:r>
            <a:r>
              <a:rPr lang="en-US" sz="2400" b="1">
                <a:solidFill>
                  <a:srgbClr val="0000CC"/>
                </a:solidFill>
              </a:rPr>
              <a:t>string functions</a:t>
            </a:r>
            <a:r>
              <a:rPr lang="en-US" sz="2400" b="1">
                <a:latin typeface="Times New Roman"/>
                <a:cs typeface="Times New Roman"/>
              </a:rPr>
              <a:t>!</a:t>
            </a:r>
            <a:endParaRPr lang="en-US" sz="2400" b="1">
              <a:solidFill>
                <a:srgbClr val="92D050"/>
              </a:solidFill>
            </a:endParaRPr>
          </a:p>
        </p:txBody>
      </p:sp>
      <p:sp>
        <p:nvSpPr>
          <p:cNvPr id="1770882558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144BBB-DA99-4FDF-9E1F-B5EEC68D5D7C}" type="slidenum">
              <a:rPr lang="es-ES_tradnl"/>
              <a:t>38</a:t>
            </a:fld>
            <a:endParaRPr lang="es-ES_tradnl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7641050" name="Title 1"/>
          <p:cNvSpPr txBox="1"/>
          <p:nvPr/>
        </p:nvSpPr>
        <p:spPr bwMode="auto">
          <a:xfrm>
            <a:off x="0" y="0"/>
            <a:ext cx="9143999" cy="121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>
            <a:noAutofit/>
          </a:bodyPr>
          <a:lstStyle>
            <a:lvl1pPr algn="ctr" defTabSz="914400" rtl="0">
              <a:lnSpc>
                <a:spcPct val="90000"/>
              </a:lnSpc>
              <a:spcBef>
                <a:spcPts val="0"/>
              </a:spcBef>
              <a:buNone/>
              <a:defRPr sz="44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4100">
                <a:latin typeface="Times New Roman"/>
                <a:cs typeface="Times New Roman"/>
              </a:rPr>
              <a:t>Indexing a </a:t>
            </a:r>
            <a:r>
              <a:rPr lang="en-US" sz="4100">
                <a:solidFill>
                  <a:srgbClr val="0000CC"/>
                </a:solidFill>
                <a:latin typeface="Times New Roman"/>
                <a:cs typeface="Times New Roman"/>
              </a:rPr>
              <a:t>String</a:t>
            </a:r>
            <a:endParaRPr lang="en-US" sz="4100">
              <a:solidFill>
                <a:srgbClr val="0000CC"/>
              </a:solidFill>
            </a:endParaRPr>
          </a:p>
        </p:txBody>
      </p:sp>
      <p:sp>
        <p:nvSpPr>
          <p:cNvPr id="607002035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144BBB-DA99-4FDF-9E1F-B5EEC68D5D7C}" type="slidenum">
              <a:rPr lang="es-ES_tradnl"/>
              <a:t>39</a:t>
            </a:fld>
            <a:endParaRPr lang="es-ES_tradnl"/>
          </a:p>
        </p:txBody>
      </p:sp>
      <p:pic>
        <p:nvPicPr>
          <p:cNvPr id="2009366961" name="Picture 6" descr="Graphical user interface, text, application&#10;&#10;Description automatically generated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14399" y="1219200"/>
            <a:ext cx="7315200" cy="3526971"/>
          </a:xfrm>
          <a:prstGeom prst="rect">
            <a:avLst/>
          </a:prstGeom>
        </p:spPr>
      </p:pic>
      <p:grpSp>
        <p:nvGrpSpPr>
          <p:cNvPr id="338073284" name="Group 16"/>
          <p:cNvGrpSpPr/>
          <p:nvPr/>
        </p:nvGrpSpPr>
        <p:grpSpPr bwMode="auto">
          <a:xfrm>
            <a:off x="2464230" y="4368209"/>
            <a:ext cx="2647253" cy="662935"/>
            <a:chOff x="2526223" y="4437355"/>
            <a:chExt cx="2647253" cy="662935"/>
          </a:xfrm>
        </p:grpSpPr>
        <p:sp>
          <p:nvSpPr>
            <p:cNvPr id="8" name="TextBox 7"/>
            <p:cNvSpPr txBox="1"/>
            <p:nvPr/>
          </p:nvSpPr>
          <p:spPr bwMode="auto">
            <a:xfrm>
              <a:off x="2526223" y="4451747"/>
              <a:ext cx="41870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defRPr/>
              </a:pPr>
              <a:r>
                <a:rPr lang="en-US" sz="3600" b="1">
                  <a:solidFill>
                    <a:srgbClr val="00B050"/>
                  </a:solidFill>
                </a:rPr>
                <a:t>0</a:t>
              </a:r>
              <a:endParaRPr/>
            </a:p>
          </p:txBody>
        </p:sp>
        <p:sp>
          <p:nvSpPr>
            <p:cNvPr id="9" name="TextBox 8"/>
            <p:cNvSpPr txBox="1"/>
            <p:nvPr/>
          </p:nvSpPr>
          <p:spPr bwMode="auto">
            <a:xfrm>
              <a:off x="2812475" y="4437355"/>
              <a:ext cx="41870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defRPr/>
              </a:pPr>
              <a:r>
                <a:rPr lang="en-US" sz="3600" b="1">
                  <a:solidFill>
                    <a:srgbClr val="00B050"/>
                  </a:solidFill>
                </a:rPr>
                <a:t>1</a:t>
              </a:r>
              <a:endParaRPr/>
            </a:p>
          </p:txBody>
        </p:sp>
        <p:sp>
          <p:nvSpPr>
            <p:cNvPr id="10" name="TextBox 9"/>
            <p:cNvSpPr txBox="1"/>
            <p:nvPr/>
          </p:nvSpPr>
          <p:spPr bwMode="auto">
            <a:xfrm>
              <a:off x="3083662" y="4451747"/>
              <a:ext cx="41870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defRPr/>
              </a:pPr>
              <a:r>
                <a:rPr lang="en-US" sz="3600" b="1">
                  <a:solidFill>
                    <a:srgbClr val="00B050"/>
                  </a:solidFill>
                </a:rPr>
                <a:t>2</a:t>
              </a:r>
              <a:endParaRPr/>
            </a:p>
          </p:txBody>
        </p:sp>
        <p:sp>
          <p:nvSpPr>
            <p:cNvPr id="11" name="TextBox 10"/>
            <p:cNvSpPr txBox="1"/>
            <p:nvPr/>
          </p:nvSpPr>
          <p:spPr bwMode="auto">
            <a:xfrm>
              <a:off x="3357690" y="4451747"/>
              <a:ext cx="41870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defRPr/>
              </a:pPr>
              <a:r>
                <a:rPr lang="en-US" sz="3600" b="1">
                  <a:solidFill>
                    <a:srgbClr val="00B050"/>
                  </a:solidFill>
                </a:rPr>
                <a:t>3</a:t>
              </a:r>
              <a:endParaRPr/>
            </a:p>
          </p:txBody>
        </p:sp>
        <p:sp>
          <p:nvSpPr>
            <p:cNvPr id="12" name="TextBox 11"/>
            <p:cNvSpPr txBox="1"/>
            <p:nvPr/>
          </p:nvSpPr>
          <p:spPr bwMode="auto">
            <a:xfrm>
              <a:off x="3656535" y="4451747"/>
              <a:ext cx="41870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defRPr/>
              </a:pPr>
              <a:r>
                <a:rPr lang="en-US" sz="3600" b="1">
                  <a:solidFill>
                    <a:srgbClr val="00B050"/>
                  </a:solidFill>
                </a:rPr>
                <a:t>4</a:t>
              </a:r>
              <a:endParaRPr/>
            </a:p>
          </p:txBody>
        </p:sp>
        <p:sp>
          <p:nvSpPr>
            <p:cNvPr id="13" name="TextBox 12"/>
            <p:cNvSpPr txBox="1"/>
            <p:nvPr/>
          </p:nvSpPr>
          <p:spPr bwMode="auto">
            <a:xfrm>
              <a:off x="3958221" y="4451747"/>
              <a:ext cx="41870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defRPr/>
              </a:pPr>
              <a:r>
                <a:rPr lang="en-US" sz="3600" b="1">
                  <a:solidFill>
                    <a:srgbClr val="00B050"/>
                  </a:solidFill>
                </a:rPr>
                <a:t>5</a:t>
              </a:r>
              <a:endParaRPr/>
            </a:p>
          </p:txBody>
        </p:sp>
        <p:sp>
          <p:nvSpPr>
            <p:cNvPr id="14" name="TextBox 13"/>
            <p:cNvSpPr txBox="1"/>
            <p:nvPr/>
          </p:nvSpPr>
          <p:spPr bwMode="auto">
            <a:xfrm>
              <a:off x="4207258" y="4453959"/>
              <a:ext cx="41870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defRPr/>
              </a:pPr>
              <a:r>
                <a:rPr lang="en-US" sz="3600" b="1">
                  <a:solidFill>
                    <a:srgbClr val="00B050"/>
                  </a:solidFill>
                </a:rPr>
                <a:t>6</a:t>
              </a:r>
              <a:endParaRPr/>
            </a:p>
          </p:txBody>
        </p:sp>
        <p:sp>
          <p:nvSpPr>
            <p:cNvPr id="15" name="TextBox 14"/>
            <p:cNvSpPr txBox="1"/>
            <p:nvPr/>
          </p:nvSpPr>
          <p:spPr bwMode="auto">
            <a:xfrm>
              <a:off x="4478445" y="4451747"/>
              <a:ext cx="41870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defRPr/>
              </a:pPr>
              <a:r>
                <a:rPr lang="en-US" sz="3600" b="1">
                  <a:solidFill>
                    <a:srgbClr val="00B050"/>
                  </a:solidFill>
                </a:rPr>
                <a:t>7</a:t>
              </a:r>
              <a:endParaRPr/>
            </a:p>
          </p:txBody>
        </p:sp>
        <p:sp>
          <p:nvSpPr>
            <p:cNvPr id="16" name="TextBox 15"/>
            <p:cNvSpPr txBox="1"/>
            <p:nvPr/>
          </p:nvSpPr>
          <p:spPr bwMode="auto">
            <a:xfrm>
              <a:off x="4754772" y="4451747"/>
              <a:ext cx="41870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defRPr/>
              </a:pPr>
              <a:r>
                <a:rPr lang="en-US" sz="3600" b="1">
                  <a:solidFill>
                    <a:srgbClr val="00B050"/>
                  </a:solidFill>
                </a:rPr>
                <a:t>8</a:t>
              </a:r>
              <a:endParaRPr/>
            </a:p>
          </p:txBody>
        </p:sp>
      </p:grpSp>
      <p:sp>
        <p:nvSpPr>
          <p:cNvPr id="2072489554" name="TextBox 4"/>
          <p:cNvSpPr txBox="1"/>
          <p:nvPr/>
        </p:nvSpPr>
        <p:spPr bwMode="auto">
          <a:xfrm>
            <a:off x="-2395" y="606342"/>
            <a:ext cx="91487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2400" b="1">
                <a:solidFill>
                  <a:srgbClr val="FF0000"/>
                </a:solidFill>
              </a:rPr>
              <a:t>Strings</a:t>
            </a:r>
            <a:r>
              <a:rPr lang="en-US" sz="2400" b="1"/>
              <a:t> have a property called </a:t>
            </a:r>
            <a:r>
              <a:rPr lang="en-US" sz="2400" b="1">
                <a:solidFill>
                  <a:srgbClr val="0000CC"/>
                </a:solidFill>
              </a:rPr>
              <a:t>indexes</a:t>
            </a:r>
            <a:r>
              <a:rPr lang="en-US" sz="2400" b="1"/>
              <a:t>, which are positions in the string</a:t>
            </a:r>
            <a:endParaRPr/>
          </a:p>
        </p:txBody>
      </p:sp>
      <p:sp>
        <p:nvSpPr>
          <p:cNvPr id="268411412" name="Rectangle 5"/>
          <p:cNvSpPr/>
          <p:nvPr/>
        </p:nvSpPr>
        <p:spPr bwMode="auto">
          <a:xfrm>
            <a:off x="914399" y="2231756"/>
            <a:ext cx="7625163" cy="30063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3861491" name="Title 1"/>
          <p:cNvSpPr txBox="1"/>
          <p:nvPr/>
        </p:nvSpPr>
        <p:spPr bwMode="auto">
          <a:xfrm>
            <a:off x="0" y="0"/>
            <a:ext cx="9143999" cy="121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>
            <a:noAutofit/>
          </a:bodyPr>
          <a:lstStyle>
            <a:lvl1pPr algn="ctr" defTabSz="914400" rtl="0">
              <a:lnSpc>
                <a:spcPct val="90000"/>
              </a:lnSpc>
              <a:spcBef>
                <a:spcPts val="0"/>
              </a:spcBef>
              <a:buNone/>
              <a:defRPr sz="44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4100">
                <a:latin typeface="Times New Roman"/>
                <a:cs typeface="Times New Roman"/>
              </a:rPr>
              <a:t>Indexing a </a:t>
            </a:r>
            <a:r>
              <a:rPr lang="en-US" sz="4100">
                <a:solidFill>
                  <a:srgbClr val="0000CC"/>
                </a:solidFill>
                <a:latin typeface="Times New Roman"/>
                <a:cs typeface="Times New Roman"/>
              </a:rPr>
              <a:t>String</a:t>
            </a:r>
            <a:endParaRPr lang="en-US" sz="4100">
              <a:solidFill>
                <a:srgbClr val="0000CC"/>
              </a:solidFill>
            </a:endParaRPr>
          </a:p>
        </p:txBody>
      </p:sp>
      <p:sp>
        <p:nvSpPr>
          <p:cNvPr id="1007957519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144BBB-DA99-4FDF-9E1F-B5EEC68D5D7C}" type="slidenum">
              <a:rPr lang="es-ES_tradnl"/>
              <a:t>40</a:t>
            </a:fld>
            <a:endParaRPr lang="es-ES_tradnl"/>
          </a:p>
        </p:txBody>
      </p:sp>
      <p:pic>
        <p:nvPicPr>
          <p:cNvPr id="1232123203" name="Picture 6" descr="Graphical user interface, text, application&#10;&#10;Description automatically generated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14399" y="1219200"/>
            <a:ext cx="7315200" cy="3526971"/>
          </a:xfrm>
          <a:prstGeom prst="rect">
            <a:avLst/>
          </a:prstGeom>
        </p:spPr>
      </p:pic>
      <p:sp>
        <p:nvSpPr>
          <p:cNvPr id="496427335" name="TextBox 4"/>
          <p:cNvSpPr txBox="1"/>
          <p:nvPr/>
        </p:nvSpPr>
        <p:spPr bwMode="auto">
          <a:xfrm>
            <a:off x="-2395" y="606342"/>
            <a:ext cx="91487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2400" b="1">
                <a:solidFill>
                  <a:srgbClr val="FF0000"/>
                </a:solidFill>
              </a:rPr>
              <a:t>Strings</a:t>
            </a:r>
            <a:r>
              <a:rPr lang="en-US" sz="2400" b="1"/>
              <a:t> have a property called </a:t>
            </a:r>
            <a:r>
              <a:rPr lang="en-US" sz="2400" b="1">
                <a:solidFill>
                  <a:srgbClr val="0000CC"/>
                </a:solidFill>
              </a:rPr>
              <a:t>indexes</a:t>
            </a:r>
            <a:r>
              <a:rPr lang="en-US" sz="2400" b="1"/>
              <a:t>, which are positions in the string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4956354" name="Title 1"/>
          <p:cNvSpPr txBox="1"/>
          <p:nvPr/>
        </p:nvSpPr>
        <p:spPr bwMode="auto">
          <a:xfrm>
            <a:off x="0" y="0"/>
            <a:ext cx="9143999" cy="121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>
            <a:noAutofit/>
          </a:bodyPr>
          <a:lstStyle>
            <a:lvl1pPr algn="ctr" defTabSz="914400" rtl="0">
              <a:lnSpc>
                <a:spcPct val="90000"/>
              </a:lnSpc>
              <a:spcBef>
                <a:spcPts val="0"/>
              </a:spcBef>
              <a:buNone/>
              <a:defRPr sz="44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4100">
                <a:latin typeface="Times New Roman"/>
                <a:cs typeface="Times New Roman"/>
              </a:rPr>
              <a:t>Indexing a </a:t>
            </a:r>
            <a:r>
              <a:rPr lang="en-US" sz="4100">
                <a:solidFill>
                  <a:srgbClr val="0000CC"/>
                </a:solidFill>
                <a:latin typeface="Times New Roman"/>
                <a:cs typeface="Times New Roman"/>
              </a:rPr>
              <a:t>String</a:t>
            </a:r>
            <a:endParaRPr lang="en-US" sz="4100">
              <a:solidFill>
                <a:srgbClr val="0000CC"/>
              </a:solidFill>
            </a:endParaRPr>
          </a:p>
        </p:txBody>
      </p:sp>
      <p:sp>
        <p:nvSpPr>
          <p:cNvPr id="2067459290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144BBB-DA99-4FDF-9E1F-B5EEC68D5D7C}" type="slidenum">
              <a:rPr lang="es-ES_tradnl"/>
              <a:t>41</a:t>
            </a:fld>
            <a:endParaRPr lang="es-ES_tradnl"/>
          </a:p>
        </p:txBody>
      </p:sp>
      <p:pic>
        <p:nvPicPr>
          <p:cNvPr id="290237026" name="Picture 6" descr="Graphical user interface, text, application&#10;&#10;Description automatically generated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14399" y="1219200"/>
            <a:ext cx="7315200" cy="3526971"/>
          </a:xfrm>
          <a:prstGeom prst="rect">
            <a:avLst/>
          </a:prstGeom>
        </p:spPr>
      </p:pic>
      <p:grpSp>
        <p:nvGrpSpPr>
          <p:cNvPr id="346638122" name="Group 16"/>
          <p:cNvGrpSpPr/>
          <p:nvPr/>
        </p:nvGrpSpPr>
        <p:grpSpPr bwMode="auto">
          <a:xfrm>
            <a:off x="2464230" y="4368209"/>
            <a:ext cx="2647253" cy="662935"/>
            <a:chOff x="2526223" y="4437355"/>
            <a:chExt cx="2647253" cy="662935"/>
          </a:xfrm>
        </p:grpSpPr>
        <p:sp>
          <p:nvSpPr>
            <p:cNvPr id="8" name="TextBox 7"/>
            <p:cNvSpPr txBox="1"/>
            <p:nvPr/>
          </p:nvSpPr>
          <p:spPr bwMode="auto">
            <a:xfrm>
              <a:off x="2526223" y="4451747"/>
              <a:ext cx="41870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defRPr/>
              </a:pPr>
              <a:r>
                <a:rPr lang="en-US" sz="3600" b="1">
                  <a:solidFill>
                    <a:srgbClr val="00B050"/>
                  </a:solidFill>
                </a:rPr>
                <a:t>0</a:t>
              </a:r>
              <a:endParaRPr/>
            </a:p>
          </p:txBody>
        </p:sp>
        <p:sp>
          <p:nvSpPr>
            <p:cNvPr id="9" name="TextBox 8"/>
            <p:cNvSpPr txBox="1"/>
            <p:nvPr/>
          </p:nvSpPr>
          <p:spPr bwMode="auto">
            <a:xfrm>
              <a:off x="2812475" y="4437355"/>
              <a:ext cx="41870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defRPr/>
              </a:pPr>
              <a:r>
                <a:rPr lang="en-US" sz="3600" b="1">
                  <a:solidFill>
                    <a:srgbClr val="00B050"/>
                  </a:solidFill>
                </a:rPr>
                <a:t>1</a:t>
              </a:r>
              <a:endParaRPr/>
            </a:p>
          </p:txBody>
        </p:sp>
        <p:sp>
          <p:nvSpPr>
            <p:cNvPr id="10" name="TextBox 9"/>
            <p:cNvSpPr txBox="1"/>
            <p:nvPr/>
          </p:nvSpPr>
          <p:spPr bwMode="auto">
            <a:xfrm>
              <a:off x="3083662" y="4451747"/>
              <a:ext cx="41870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defRPr/>
              </a:pPr>
              <a:r>
                <a:rPr lang="en-US" sz="3600" b="1">
                  <a:solidFill>
                    <a:srgbClr val="00B050"/>
                  </a:solidFill>
                </a:rPr>
                <a:t>2</a:t>
              </a:r>
              <a:endParaRPr/>
            </a:p>
          </p:txBody>
        </p:sp>
        <p:sp>
          <p:nvSpPr>
            <p:cNvPr id="11" name="TextBox 10"/>
            <p:cNvSpPr txBox="1"/>
            <p:nvPr/>
          </p:nvSpPr>
          <p:spPr bwMode="auto">
            <a:xfrm>
              <a:off x="3357690" y="4451747"/>
              <a:ext cx="41870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defRPr/>
              </a:pPr>
              <a:r>
                <a:rPr lang="en-US" sz="3600" b="1">
                  <a:solidFill>
                    <a:srgbClr val="00B050"/>
                  </a:solidFill>
                </a:rPr>
                <a:t>3</a:t>
              </a:r>
              <a:endParaRPr/>
            </a:p>
          </p:txBody>
        </p:sp>
        <p:sp>
          <p:nvSpPr>
            <p:cNvPr id="12" name="TextBox 11"/>
            <p:cNvSpPr txBox="1"/>
            <p:nvPr/>
          </p:nvSpPr>
          <p:spPr bwMode="auto">
            <a:xfrm>
              <a:off x="3656535" y="4451747"/>
              <a:ext cx="41870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defRPr/>
              </a:pPr>
              <a:r>
                <a:rPr lang="en-US" sz="3600" b="1">
                  <a:solidFill>
                    <a:srgbClr val="00B050"/>
                  </a:solidFill>
                </a:rPr>
                <a:t>4</a:t>
              </a:r>
              <a:endParaRPr/>
            </a:p>
          </p:txBody>
        </p:sp>
        <p:sp>
          <p:nvSpPr>
            <p:cNvPr id="13" name="TextBox 12"/>
            <p:cNvSpPr txBox="1"/>
            <p:nvPr/>
          </p:nvSpPr>
          <p:spPr bwMode="auto">
            <a:xfrm>
              <a:off x="3958221" y="4451747"/>
              <a:ext cx="41870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defRPr/>
              </a:pPr>
              <a:r>
                <a:rPr lang="en-US" sz="3600" b="1">
                  <a:solidFill>
                    <a:srgbClr val="00B050"/>
                  </a:solidFill>
                </a:rPr>
                <a:t>5</a:t>
              </a:r>
              <a:endParaRPr/>
            </a:p>
          </p:txBody>
        </p:sp>
        <p:sp>
          <p:nvSpPr>
            <p:cNvPr id="14" name="TextBox 13"/>
            <p:cNvSpPr txBox="1"/>
            <p:nvPr/>
          </p:nvSpPr>
          <p:spPr bwMode="auto">
            <a:xfrm>
              <a:off x="4207258" y="4453959"/>
              <a:ext cx="41870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defRPr/>
              </a:pPr>
              <a:r>
                <a:rPr lang="en-US" sz="3600" b="1">
                  <a:solidFill>
                    <a:srgbClr val="00B050"/>
                  </a:solidFill>
                </a:rPr>
                <a:t>6</a:t>
              </a:r>
              <a:endParaRPr/>
            </a:p>
          </p:txBody>
        </p:sp>
        <p:sp>
          <p:nvSpPr>
            <p:cNvPr id="15" name="TextBox 14"/>
            <p:cNvSpPr txBox="1"/>
            <p:nvPr/>
          </p:nvSpPr>
          <p:spPr bwMode="auto">
            <a:xfrm>
              <a:off x="4478445" y="4451747"/>
              <a:ext cx="41870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defRPr/>
              </a:pPr>
              <a:r>
                <a:rPr lang="en-US" sz="3600" b="1">
                  <a:solidFill>
                    <a:srgbClr val="00B050"/>
                  </a:solidFill>
                </a:rPr>
                <a:t>7</a:t>
              </a:r>
              <a:endParaRPr/>
            </a:p>
          </p:txBody>
        </p:sp>
        <p:sp>
          <p:nvSpPr>
            <p:cNvPr id="16" name="TextBox 15"/>
            <p:cNvSpPr txBox="1"/>
            <p:nvPr/>
          </p:nvSpPr>
          <p:spPr bwMode="auto">
            <a:xfrm>
              <a:off x="4754772" y="4451747"/>
              <a:ext cx="41870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defRPr/>
              </a:pPr>
              <a:r>
                <a:rPr lang="en-US" sz="3600" b="1">
                  <a:solidFill>
                    <a:srgbClr val="00B050"/>
                  </a:solidFill>
                </a:rPr>
                <a:t>8</a:t>
              </a:r>
              <a:endParaRPr/>
            </a:p>
          </p:txBody>
        </p:sp>
      </p:grpSp>
      <p:sp>
        <p:nvSpPr>
          <p:cNvPr id="1521806207" name="TextBox 4"/>
          <p:cNvSpPr txBox="1"/>
          <p:nvPr/>
        </p:nvSpPr>
        <p:spPr bwMode="auto">
          <a:xfrm>
            <a:off x="-2395" y="606342"/>
            <a:ext cx="91487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2400" b="1">
                <a:solidFill>
                  <a:srgbClr val="FF0000"/>
                </a:solidFill>
              </a:rPr>
              <a:t>Strings</a:t>
            </a:r>
            <a:r>
              <a:rPr lang="en-US" sz="2400" b="1"/>
              <a:t> have a property called </a:t>
            </a:r>
            <a:r>
              <a:rPr lang="en-US" sz="2400" b="1">
                <a:solidFill>
                  <a:srgbClr val="0000CC"/>
                </a:solidFill>
              </a:rPr>
              <a:t>indexes</a:t>
            </a:r>
            <a:r>
              <a:rPr lang="en-US" sz="2400" b="1"/>
              <a:t>, which are positions in the string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5503772" name="Title 1"/>
          <p:cNvSpPr txBox="1"/>
          <p:nvPr/>
        </p:nvSpPr>
        <p:spPr bwMode="auto">
          <a:xfrm>
            <a:off x="0" y="0"/>
            <a:ext cx="9143999" cy="121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>
            <a:noAutofit/>
          </a:bodyPr>
          <a:lstStyle>
            <a:lvl1pPr algn="ctr" defTabSz="914400" rtl="0">
              <a:lnSpc>
                <a:spcPct val="90000"/>
              </a:lnSpc>
              <a:spcBef>
                <a:spcPts val="0"/>
              </a:spcBef>
              <a:buNone/>
              <a:defRPr sz="44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4100">
                <a:latin typeface="Times New Roman"/>
                <a:cs typeface="Times New Roman"/>
              </a:rPr>
              <a:t>Indexing a </a:t>
            </a:r>
            <a:r>
              <a:rPr lang="en-US" sz="4100">
                <a:solidFill>
                  <a:srgbClr val="0000CC"/>
                </a:solidFill>
                <a:latin typeface="Times New Roman"/>
                <a:cs typeface="Times New Roman"/>
              </a:rPr>
              <a:t>String</a:t>
            </a:r>
            <a:endParaRPr lang="en-US" sz="4100">
              <a:solidFill>
                <a:srgbClr val="0000CC"/>
              </a:solidFill>
            </a:endParaRPr>
          </a:p>
        </p:txBody>
      </p:sp>
      <p:sp>
        <p:nvSpPr>
          <p:cNvPr id="78016664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144BBB-DA99-4FDF-9E1F-B5EEC68D5D7C}" type="slidenum">
              <a:rPr lang="es-ES_tradnl"/>
              <a:t>42</a:t>
            </a:fld>
            <a:endParaRPr lang="es-ES_tradnl"/>
          </a:p>
        </p:txBody>
      </p:sp>
      <p:pic>
        <p:nvPicPr>
          <p:cNvPr id="674539979" name="Picture 6" descr="Graphical user interface, text, application&#10;&#10;Description automatically generated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14399" y="1219200"/>
            <a:ext cx="7315200" cy="3526971"/>
          </a:xfrm>
          <a:prstGeom prst="rect">
            <a:avLst/>
          </a:prstGeom>
        </p:spPr>
      </p:pic>
      <p:grpSp>
        <p:nvGrpSpPr>
          <p:cNvPr id="62539266" name="Group 16"/>
          <p:cNvGrpSpPr/>
          <p:nvPr/>
        </p:nvGrpSpPr>
        <p:grpSpPr bwMode="auto">
          <a:xfrm>
            <a:off x="2464230" y="4368209"/>
            <a:ext cx="2647253" cy="662935"/>
            <a:chOff x="2526223" y="4437355"/>
            <a:chExt cx="2647253" cy="662935"/>
          </a:xfrm>
        </p:grpSpPr>
        <p:sp>
          <p:nvSpPr>
            <p:cNvPr id="8" name="TextBox 7"/>
            <p:cNvSpPr txBox="1"/>
            <p:nvPr/>
          </p:nvSpPr>
          <p:spPr bwMode="auto">
            <a:xfrm>
              <a:off x="2526223" y="4451747"/>
              <a:ext cx="41870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defRPr/>
              </a:pPr>
              <a:r>
                <a:rPr lang="en-US" sz="3600" b="1">
                  <a:solidFill>
                    <a:srgbClr val="00B050"/>
                  </a:solidFill>
                </a:rPr>
                <a:t>0</a:t>
              </a:r>
              <a:endParaRPr/>
            </a:p>
          </p:txBody>
        </p:sp>
        <p:sp>
          <p:nvSpPr>
            <p:cNvPr id="9" name="TextBox 8"/>
            <p:cNvSpPr txBox="1"/>
            <p:nvPr/>
          </p:nvSpPr>
          <p:spPr bwMode="auto">
            <a:xfrm>
              <a:off x="2812475" y="4437355"/>
              <a:ext cx="41870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defRPr/>
              </a:pPr>
              <a:r>
                <a:rPr lang="en-US" sz="3600" b="1">
                  <a:solidFill>
                    <a:srgbClr val="00B050"/>
                  </a:solidFill>
                </a:rPr>
                <a:t>1</a:t>
              </a:r>
              <a:endParaRPr/>
            </a:p>
          </p:txBody>
        </p:sp>
        <p:sp>
          <p:nvSpPr>
            <p:cNvPr id="10" name="TextBox 9"/>
            <p:cNvSpPr txBox="1"/>
            <p:nvPr/>
          </p:nvSpPr>
          <p:spPr bwMode="auto">
            <a:xfrm>
              <a:off x="3083662" y="4451747"/>
              <a:ext cx="41870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defRPr/>
              </a:pPr>
              <a:r>
                <a:rPr lang="en-US" sz="3600" b="1">
                  <a:solidFill>
                    <a:srgbClr val="00B050"/>
                  </a:solidFill>
                </a:rPr>
                <a:t>2</a:t>
              </a:r>
              <a:endParaRPr/>
            </a:p>
          </p:txBody>
        </p:sp>
        <p:sp>
          <p:nvSpPr>
            <p:cNvPr id="11" name="TextBox 10"/>
            <p:cNvSpPr txBox="1"/>
            <p:nvPr/>
          </p:nvSpPr>
          <p:spPr bwMode="auto">
            <a:xfrm>
              <a:off x="3357690" y="4451747"/>
              <a:ext cx="41870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defRPr/>
              </a:pPr>
              <a:r>
                <a:rPr lang="en-US" sz="3600" b="1">
                  <a:solidFill>
                    <a:srgbClr val="00B050"/>
                  </a:solidFill>
                </a:rPr>
                <a:t>3</a:t>
              </a:r>
              <a:endParaRPr/>
            </a:p>
          </p:txBody>
        </p:sp>
        <p:sp>
          <p:nvSpPr>
            <p:cNvPr id="12" name="TextBox 11"/>
            <p:cNvSpPr txBox="1"/>
            <p:nvPr/>
          </p:nvSpPr>
          <p:spPr bwMode="auto">
            <a:xfrm>
              <a:off x="3656535" y="4451747"/>
              <a:ext cx="41870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defRPr/>
              </a:pPr>
              <a:r>
                <a:rPr lang="en-US" sz="3600" b="1">
                  <a:solidFill>
                    <a:srgbClr val="00B050"/>
                  </a:solidFill>
                </a:rPr>
                <a:t>4</a:t>
              </a:r>
              <a:endParaRPr/>
            </a:p>
          </p:txBody>
        </p:sp>
        <p:sp>
          <p:nvSpPr>
            <p:cNvPr id="13" name="TextBox 12"/>
            <p:cNvSpPr txBox="1"/>
            <p:nvPr/>
          </p:nvSpPr>
          <p:spPr bwMode="auto">
            <a:xfrm>
              <a:off x="3958221" y="4451747"/>
              <a:ext cx="41870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defRPr/>
              </a:pPr>
              <a:r>
                <a:rPr lang="en-US" sz="3600" b="1">
                  <a:solidFill>
                    <a:srgbClr val="00B050"/>
                  </a:solidFill>
                </a:rPr>
                <a:t>5</a:t>
              </a:r>
              <a:endParaRPr/>
            </a:p>
          </p:txBody>
        </p:sp>
        <p:sp>
          <p:nvSpPr>
            <p:cNvPr id="14" name="TextBox 13"/>
            <p:cNvSpPr txBox="1"/>
            <p:nvPr/>
          </p:nvSpPr>
          <p:spPr bwMode="auto">
            <a:xfrm>
              <a:off x="4207258" y="4453959"/>
              <a:ext cx="41870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defRPr/>
              </a:pPr>
              <a:r>
                <a:rPr lang="en-US" sz="3600" b="1">
                  <a:solidFill>
                    <a:srgbClr val="00B050"/>
                  </a:solidFill>
                </a:rPr>
                <a:t>6</a:t>
              </a:r>
              <a:endParaRPr/>
            </a:p>
          </p:txBody>
        </p:sp>
        <p:sp>
          <p:nvSpPr>
            <p:cNvPr id="15" name="TextBox 14"/>
            <p:cNvSpPr txBox="1"/>
            <p:nvPr/>
          </p:nvSpPr>
          <p:spPr bwMode="auto">
            <a:xfrm>
              <a:off x="4478445" y="4451747"/>
              <a:ext cx="41870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defRPr/>
              </a:pPr>
              <a:r>
                <a:rPr lang="en-US" sz="3600" b="1">
                  <a:solidFill>
                    <a:srgbClr val="00B050"/>
                  </a:solidFill>
                </a:rPr>
                <a:t>7</a:t>
              </a:r>
              <a:endParaRPr/>
            </a:p>
          </p:txBody>
        </p:sp>
        <p:sp>
          <p:nvSpPr>
            <p:cNvPr id="16" name="TextBox 15"/>
            <p:cNvSpPr txBox="1"/>
            <p:nvPr/>
          </p:nvSpPr>
          <p:spPr bwMode="auto">
            <a:xfrm>
              <a:off x="4754772" y="4451747"/>
              <a:ext cx="41870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defRPr/>
              </a:pPr>
              <a:r>
                <a:rPr lang="en-US" sz="3600" b="1">
                  <a:solidFill>
                    <a:srgbClr val="00B050"/>
                  </a:solidFill>
                </a:rPr>
                <a:t>8</a:t>
              </a:r>
              <a:endParaRPr/>
            </a:p>
          </p:txBody>
        </p:sp>
      </p:grpSp>
      <p:sp>
        <p:nvSpPr>
          <p:cNvPr id="198395232" name="TextBox 17"/>
          <p:cNvSpPr txBox="1"/>
          <p:nvPr/>
        </p:nvSpPr>
        <p:spPr bwMode="auto">
          <a:xfrm>
            <a:off x="1323026" y="5520846"/>
            <a:ext cx="269825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2800" b="1"/>
              <a:t>The index of the first position is 0 </a:t>
            </a:r>
            <a:endParaRPr/>
          </a:p>
        </p:txBody>
      </p:sp>
      <p:cxnSp>
        <p:nvCxnSpPr>
          <p:cNvPr id="1168665089" name="Straight Arrow Connector 19"/>
          <p:cNvCxnSpPr>
            <a:stCxn id="198395232" idx="0"/>
            <a:endCxn id="8" idx="2"/>
          </p:cNvCxnSpPr>
          <p:nvPr/>
        </p:nvCxnSpPr>
        <p:spPr bwMode="auto">
          <a:xfrm flipV="1">
            <a:off x="2672154" y="5028932"/>
            <a:ext cx="1428" cy="491914"/>
          </a:xfrm>
          <a:prstGeom prst="straightConnector1">
            <a:avLst/>
          </a:prstGeom>
          <a:ln w="57150">
            <a:solidFill>
              <a:srgbClr val="0000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5196130" name="TextBox 4"/>
          <p:cNvSpPr txBox="1"/>
          <p:nvPr/>
        </p:nvSpPr>
        <p:spPr bwMode="auto">
          <a:xfrm>
            <a:off x="-2395" y="606342"/>
            <a:ext cx="91487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2400" b="1">
                <a:solidFill>
                  <a:srgbClr val="FF0000"/>
                </a:solidFill>
              </a:rPr>
              <a:t>Strings</a:t>
            </a:r>
            <a:r>
              <a:rPr lang="en-US" sz="2400" b="1"/>
              <a:t> have a property called </a:t>
            </a:r>
            <a:r>
              <a:rPr lang="en-US" sz="2400" b="1">
                <a:solidFill>
                  <a:srgbClr val="0000CC"/>
                </a:solidFill>
              </a:rPr>
              <a:t>indexes</a:t>
            </a:r>
            <a:r>
              <a:rPr lang="en-US" sz="2400" b="1"/>
              <a:t>, which are positions in the string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3757553" name="Title 1"/>
          <p:cNvSpPr txBox="1"/>
          <p:nvPr/>
        </p:nvSpPr>
        <p:spPr bwMode="auto">
          <a:xfrm>
            <a:off x="0" y="0"/>
            <a:ext cx="9143999" cy="121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>
            <a:noAutofit/>
          </a:bodyPr>
          <a:lstStyle>
            <a:lvl1pPr algn="ctr" defTabSz="914400" rtl="0">
              <a:lnSpc>
                <a:spcPct val="90000"/>
              </a:lnSpc>
              <a:spcBef>
                <a:spcPts val="0"/>
              </a:spcBef>
              <a:buNone/>
              <a:defRPr sz="44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4100">
                <a:latin typeface="Times New Roman"/>
                <a:cs typeface="Times New Roman"/>
              </a:rPr>
              <a:t>Indexing a </a:t>
            </a:r>
            <a:r>
              <a:rPr lang="en-US" sz="4100">
                <a:solidFill>
                  <a:srgbClr val="0000CC"/>
                </a:solidFill>
                <a:latin typeface="Times New Roman"/>
                <a:cs typeface="Times New Roman"/>
              </a:rPr>
              <a:t>String</a:t>
            </a:r>
            <a:endParaRPr lang="en-US" sz="4100">
              <a:solidFill>
                <a:srgbClr val="0000CC"/>
              </a:solidFill>
            </a:endParaRPr>
          </a:p>
        </p:txBody>
      </p:sp>
      <p:sp>
        <p:nvSpPr>
          <p:cNvPr id="1990889036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144BBB-DA99-4FDF-9E1F-B5EEC68D5D7C}" type="slidenum">
              <a:rPr lang="es-ES_tradnl"/>
              <a:t>43</a:t>
            </a:fld>
            <a:endParaRPr lang="es-ES_tradnl"/>
          </a:p>
        </p:txBody>
      </p:sp>
      <p:grpSp>
        <p:nvGrpSpPr>
          <p:cNvPr id="1277157036" name="Group 5"/>
          <p:cNvGrpSpPr/>
          <p:nvPr/>
        </p:nvGrpSpPr>
        <p:grpSpPr bwMode="auto">
          <a:xfrm>
            <a:off x="1921790" y="2445745"/>
            <a:ext cx="6075335" cy="1074079"/>
            <a:chOff x="914399" y="3957065"/>
            <a:chExt cx="6075335" cy="1074079"/>
          </a:xfrm>
        </p:grpSpPr>
        <p:pic>
          <p:nvPicPr>
            <p:cNvPr id="5" name="Picture 4" descr="Graphical user interface, text, application&#10;&#10;Description automatically generated"/>
            <p:cNvPicPr>
              <a:picLocks noChangeAspect="1"/>
            </p:cNvPicPr>
            <p:nvPr/>
          </p:nvPicPr>
          <p:blipFill rotWithShape="1">
            <a:blip r:embed="rId3"/>
            <a:srcRect l="0" t="77627" r="16948" b="0"/>
            <a:stretch/>
          </p:blipFill>
          <p:spPr bwMode="auto">
            <a:xfrm>
              <a:off x="914399" y="3957065"/>
              <a:ext cx="6075335" cy="789104"/>
            </a:xfrm>
            <a:prstGeom prst="rect">
              <a:avLst/>
            </a:prstGeom>
          </p:spPr>
        </p:pic>
        <p:grpSp>
          <p:nvGrpSpPr>
            <p:cNvPr id="17" name="Group 16"/>
            <p:cNvGrpSpPr/>
            <p:nvPr/>
          </p:nvGrpSpPr>
          <p:grpSpPr bwMode="auto">
            <a:xfrm>
              <a:off x="2464230" y="4368209"/>
              <a:ext cx="2647253" cy="662935"/>
              <a:chOff x="2526223" y="4437355"/>
              <a:chExt cx="2647253" cy="662935"/>
            </a:xfrm>
          </p:grpSpPr>
          <p:sp>
            <p:nvSpPr>
              <p:cNvPr id="8" name="TextBox 7"/>
              <p:cNvSpPr txBox="1"/>
              <p:nvPr/>
            </p:nvSpPr>
            <p:spPr bwMode="auto">
              <a:xfrm>
                <a:off x="2526223" y="4451747"/>
                <a:ext cx="41870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defRPr/>
                </a:pPr>
                <a:r>
                  <a:rPr lang="en-US" sz="3600" b="1">
                    <a:solidFill>
                      <a:srgbClr val="00B050"/>
                    </a:solidFill>
                  </a:rPr>
                  <a:t>0</a:t>
                </a:r>
                <a:endParaRPr/>
              </a:p>
            </p:txBody>
          </p:sp>
          <p:sp>
            <p:nvSpPr>
              <p:cNvPr id="9" name="TextBox 8"/>
              <p:cNvSpPr txBox="1"/>
              <p:nvPr/>
            </p:nvSpPr>
            <p:spPr bwMode="auto">
              <a:xfrm>
                <a:off x="2812475" y="4437355"/>
                <a:ext cx="41870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defRPr/>
                </a:pPr>
                <a:r>
                  <a:rPr lang="en-US" sz="3600" b="1">
                    <a:solidFill>
                      <a:srgbClr val="00B050"/>
                    </a:solidFill>
                  </a:rPr>
                  <a:t>1</a:t>
                </a:r>
                <a:endParaRPr/>
              </a:p>
            </p:txBody>
          </p:sp>
          <p:sp>
            <p:nvSpPr>
              <p:cNvPr id="10" name="TextBox 9"/>
              <p:cNvSpPr txBox="1"/>
              <p:nvPr/>
            </p:nvSpPr>
            <p:spPr bwMode="auto">
              <a:xfrm>
                <a:off x="3083662" y="4451747"/>
                <a:ext cx="41870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defRPr/>
                </a:pPr>
                <a:r>
                  <a:rPr lang="en-US" sz="3600" b="1">
                    <a:solidFill>
                      <a:srgbClr val="00B050"/>
                    </a:solidFill>
                  </a:rPr>
                  <a:t>2</a:t>
                </a:r>
                <a:endParaRPr/>
              </a:p>
            </p:txBody>
          </p:sp>
          <p:sp>
            <p:nvSpPr>
              <p:cNvPr id="11" name="TextBox 10"/>
              <p:cNvSpPr txBox="1"/>
              <p:nvPr/>
            </p:nvSpPr>
            <p:spPr bwMode="auto">
              <a:xfrm>
                <a:off x="3357690" y="4451747"/>
                <a:ext cx="41870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defRPr/>
                </a:pPr>
                <a:r>
                  <a:rPr lang="en-US" sz="3600" b="1">
                    <a:solidFill>
                      <a:srgbClr val="00B050"/>
                    </a:solidFill>
                  </a:rPr>
                  <a:t>3</a:t>
                </a:r>
                <a:endParaRPr/>
              </a:p>
            </p:txBody>
          </p:sp>
          <p:sp>
            <p:nvSpPr>
              <p:cNvPr id="12" name="TextBox 11"/>
              <p:cNvSpPr txBox="1"/>
              <p:nvPr/>
            </p:nvSpPr>
            <p:spPr bwMode="auto">
              <a:xfrm>
                <a:off x="3656535" y="4451747"/>
                <a:ext cx="41870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defRPr/>
                </a:pPr>
                <a:r>
                  <a:rPr lang="en-US" sz="3600" b="1">
                    <a:solidFill>
                      <a:srgbClr val="00B050"/>
                    </a:solidFill>
                  </a:rPr>
                  <a:t>4</a:t>
                </a:r>
                <a:endParaRPr/>
              </a:p>
            </p:txBody>
          </p:sp>
          <p:sp>
            <p:nvSpPr>
              <p:cNvPr id="13" name="TextBox 12"/>
              <p:cNvSpPr txBox="1"/>
              <p:nvPr/>
            </p:nvSpPr>
            <p:spPr bwMode="auto">
              <a:xfrm>
                <a:off x="3958221" y="4451747"/>
                <a:ext cx="41870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defRPr/>
                </a:pPr>
                <a:r>
                  <a:rPr lang="en-US" sz="3600" b="1">
                    <a:solidFill>
                      <a:srgbClr val="00B050"/>
                    </a:solidFill>
                  </a:rPr>
                  <a:t>5</a:t>
                </a:r>
                <a:endParaRPr/>
              </a:p>
            </p:txBody>
          </p:sp>
          <p:sp>
            <p:nvSpPr>
              <p:cNvPr id="14" name="TextBox 13"/>
              <p:cNvSpPr txBox="1"/>
              <p:nvPr/>
            </p:nvSpPr>
            <p:spPr bwMode="auto">
              <a:xfrm>
                <a:off x="4207258" y="4453959"/>
                <a:ext cx="41870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defRPr/>
                </a:pPr>
                <a:r>
                  <a:rPr lang="en-US" sz="3600" b="1">
                    <a:solidFill>
                      <a:srgbClr val="00B050"/>
                    </a:solidFill>
                  </a:rPr>
                  <a:t>6</a:t>
                </a:r>
                <a:endParaRPr/>
              </a:p>
            </p:txBody>
          </p:sp>
          <p:sp>
            <p:nvSpPr>
              <p:cNvPr id="15" name="TextBox 14"/>
              <p:cNvSpPr txBox="1"/>
              <p:nvPr/>
            </p:nvSpPr>
            <p:spPr bwMode="auto">
              <a:xfrm>
                <a:off x="4478445" y="4451747"/>
                <a:ext cx="41870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defRPr/>
                </a:pPr>
                <a:r>
                  <a:rPr lang="en-US" sz="3600" b="1">
                    <a:solidFill>
                      <a:srgbClr val="00B050"/>
                    </a:solidFill>
                  </a:rPr>
                  <a:t>7</a:t>
                </a:r>
                <a:endParaRPr/>
              </a:p>
            </p:txBody>
          </p:sp>
          <p:sp>
            <p:nvSpPr>
              <p:cNvPr id="16" name="TextBox 15"/>
              <p:cNvSpPr txBox="1"/>
              <p:nvPr/>
            </p:nvSpPr>
            <p:spPr bwMode="auto">
              <a:xfrm>
                <a:off x="4754772" y="4451747"/>
                <a:ext cx="41870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defRPr/>
                </a:pPr>
                <a:r>
                  <a:rPr lang="en-US" sz="3600" b="1">
                    <a:solidFill>
                      <a:srgbClr val="00B050"/>
                    </a:solidFill>
                  </a:rPr>
                  <a:t>8</a:t>
                </a:r>
                <a:endParaRPr/>
              </a:p>
            </p:txBody>
          </p:sp>
        </p:grpSp>
      </p:grpSp>
      <p:sp>
        <p:nvSpPr>
          <p:cNvPr id="1909282457" name="TextBox 17"/>
          <p:cNvSpPr txBox="1"/>
          <p:nvPr/>
        </p:nvSpPr>
        <p:spPr bwMode="auto">
          <a:xfrm>
            <a:off x="3430795" y="1150322"/>
            <a:ext cx="269825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2800" b="1"/>
              <a:t>The index of the first position is 0 </a:t>
            </a:r>
            <a:endParaRPr/>
          </a:p>
        </p:txBody>
      </p:sp>
      <p:cxnSp>
        <p:nvCxnSpPr>
          <p:cNvPr id="1356610720" name="Straight Arrow Connector 19"/>
          <p:cNvCxnSpPr/>
          <p:nvPr/>
        </p:nvCxnSpPr>
        <p:spPr bwMode="auto">
          <a:xfrm flipH="1">
            <a:off x="3720158" y="2104429"/>
            <a:ext cx="912274" cy="516976"/>
          </a:xfrm>
          <a:prstGeom prst="straightConnector1">
            <a:avLst/>
          </a:prstGeom>
          <a:ln w="57150">
            <a:solidFill>
              <a:srgbClr val="0000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80764976" name="Picture 1"/>
          <p:cNvPicPr>
            <a:picLocks noChangeAspect="1"/>
          </p:cNvPicPr>
          <p:nvPr/>
        </p:nvPicPr>
        <p:blipFill rotWithShape="1">
          <a:blip r:embed="rId4"/>
          <a:srcRect l="0" t="0" r="0" b="36252"/>
          <a:stretch/>
        </p:blipFill>
        <p:spPr bwMode="auto">
          <a:xfrm>
            <a:off x="1153685" y="3738704"/>
            <a:ext cx="7315200" cy="2248361"/>
          </a:xfrm>
          <a:prstGeom prst="rect">
            <a:avLst/>
          </a:prstGeom>
        </p:spPr>
      </p:pic>
      <p:cxnSp>
        <p:nvCxnSpPr>
          <p:cNvPr id="459020899" name="Straight Arrow Connector 22"/>
          <p:cNvCxnSpPr/>
          <p:nvPr/>
        </p:nvCxnSpPr>
        <p:spPr bwMode="auto">
          <a:xfrm>
            <a:off x="3720158" y="3394127"/>
            <a:ext cx="1392813" cy="530817"/>
          </a:xfrm>
          <a:prstGeom prst="straightConnector1">
            <a:avLst/>
          </a:prstGeom>
          <a:ln w="57150">
            <a:solidFill>
              <a:srgbClr val="0000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5653198" name="TextBox 27"/>
          <p:cNvSpPr txBox="1"/>
          <p:nvPr/>
        </p:nvSpPr>
        <p:spPr bwMode="auto">
          <a:xfrm>
            <a:off x="6288135" y="3576165"/>
            <a:ext cx="2204030" cy="1384995"/>
          </a:xfrm>
          <a:prstGeom prst="rect">
            <a:avLst/>
          </a:prstGeom>
          <a:solidFill>
            <a:schemeClr val="bg1"/>
          </a:solidFill>
          <a:ln w="57150">
            <a:solidFill>
              <a:srgbClr val="0000CC"/>
            </a:solidFill>
          </a:ln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2800" b="1"/>
              <a:t>Call the character at index 0</a:t>
            </a:r>
            <a:endParaRPr/>
          </a:p>
        </p:txBody>
      </p:sp>
      <p:cxnSp>
        <p:nvCxnSpPr>
          <p:cNvPr id="300722212" name="Straight Arrow Connector 18"/>
          <p:cNvCxnSpPr/>
          <p:nvPr/>
        </p:nvCxnSpPr>
        <p:spPr bwMode="auto">
          <a:xfrm flipH="1">
            <a:off x="5617854" y="4308527"/>
            <a:ext cx="557688" cy="0"/>
          </a:xfrm>
          <a:prstGeom prst="straightConnector1">
            <a:avLst/>
          </a:prstGeom>
          <a:ln w="57150">
            <a:solidFill>
              <a:srgbClr val="0000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4670015" name="Picture 25" descr="Graphical user interface, text, application, chat or text message&#10;&#10;Description automatically generated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053527" y="2562822"/>
            <a:ext cx="5036946" cy="4002572"/>
          </a:xfrm>
          <a:prstGeom prst="rect">
            <a:avLst/>
          </a:prstGeom>
        </p:spPr>
      </p:pic>
      <p:sp>
        <p:nvSpPr>
          <p:cNvPr id="1034431450" name="Title 1"/>
          <p:cNvSpPr txBox="1"/>
          <p:nvPr/>
        </p:nvSpPr>
        <p:spPr bwMode="auto">
          <a:xfrm>
            <a:off x="0" y="0"/>
            <a:ext cx="9143999" cy="121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>
            <a:noAutofit/>
          </a:bodyPr>
          <a:lstStyle>
            <a:lvl1pPr algn="ctr" defTabSz="914400" rtl="0">
              <a:lnSpc>
                <a:spcPct val="90000"/>
              </a:lnSpc>
              <a:spcBef>
                <a:spcPts val="0"/>
              </a:spcBef>
              <a:buNone/>
              <a:defRPr sz="44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4100">
                <a:latin typeface="Times New Roman"/>
                <a:cs typeface="Times New Roman"/>
              </a:rPr>
              <a:t>Indexing a </a:t>
            </a:r>
            <a:r>
              <a:rPr lang="en-US" sz="4100">
                <a:solidFill>
                  <a:srgbClr val="0000CC"/>
                </a:solidFill>
                <a:latin typeface="Times New Roman"/>
                <a:cs typeface="Times New Roman"/>
              </a:rPr>
              <a:t>String</a:t>
            </a:r>
            <a:endParaRPr lang="en-US" sz="4100">
              <a:solidFill>
                <a:srgbClr val="0000CC"/>
              </a:solidFill>
            </a:endParaRPr>
          </a:p>
        </p:txBody>
      </p:sp>
      <p:sp>
        <p:nvSpPr>
          <p:cNvPr id="1773971162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144BBB-DA99-4FDF-9E1F-B5EEC68D5D7C}" type="slidenum">
              <a:rPr lang="es-ES_tradnl"/>
              <a:t>44</a:t>
            </a:fld>
            <a:endParaRPr lang="es-ES_tradnl"/>
          </a:p>
        </p:txBody>
      </p:sp>
      <p:grpSp>
        <p:nvGrpSpPr>
          <p:cNvPr id="235142226" name="Group 5"/>
          <p:cNvGrpSpPr/>
          <p:nvPr/>
        </p:nvGrpSpPr>
        <p:grpSpPr bwMode="auto">
          <a:xfrm>
            <a:off x="1921790" y="1562341"/>
            <a:ext cx="6075335" cy="1074079"/>
            <a:chOff x="914399" y="3957065"/>
            <a:chExt cx="6075335" cy="1074079"/>
          </a:xfrm>
        </p:grpSpPr>
        <p:pic>
          <p:nvPicPr>
            <p:cNvPr id="5" name="Picture 4" descr="Graphical user interface, text, application&#10;&#10;Description automatically generated"/>
            <p:cNvPicPr>
              <a:picLocks noChangeAspect="1"/>
            </p:cNvPicPr>
            <p:nvPr/>
          </p:nvPicPr>
          <p:blipFill rotWithShape="1">
            <a:blip r:embed="rId4"/>
            <a:srcRect l="0" t="77627" r="16948" b="0"/>
            <a:stretch/>
          </p:blipFill>
          <p:spPr bwMode="auto">
            <a:xfrm>
              <a:off x="914399" y="3957065"/>
              <a:ext cx="6075335" cy="789104"/>
            </a:xfrm>
            <a:prstGeom prst="rect">
              <a:avLst/>
            </a:prstGeom>
          </p:spPr>
        </p:pic>
        <p:grpSp>
          <p:nvGrpSpPr>
            <p:cNvPr id="17" name="Group 16"/>
            <p:cNvGrpSpPr/>
            <p:nvPr/>
          </p:nvGrpSpPr>
          <p:grpSpPr bwMode="auto">
            <a:xfrm>
              <a:off x="2464230" y="4368209"/>
              <a:ext cx="2647253" cy="662935"/>
              <a:chOff x="2526223" y="4437355"/>
              <a:chExt cx="2647253" cy="662935"/>
            </a:xfrm>
          </p:grpSpPr>
          <p:sp>
            <p:nvSpPr>
              <p:cNvPr id="8" name="TextBox 7"/>
              <p:cNvSpPr txBox="1"/>
              <p:nvPr/>
            </p:nvSpPr>
            <p:spPr bwMode="auto">
              <a:xfrm>
                <a:off x="2526223" y="4451747"/>
                <a:ext cx="41870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defRPr/>
                </a:pPr>
                <a:r>
                  <a:rPr lang="en-US" sz="3600" b="1">
                    <a:solidFill>
                      <a:srgbClr val="00B050"/>
                    </a:solidFill>
                  </a:rPr>
                  <a:t>0</a:t>
                </a:r>
                <a:endParaRPr/>
              </a:p>
            </p:txBody>
          </p:sp>
          <p:sp>
            <p:nvSpPr>
              <p:cNvPr id="9" name="TextBox 8"/>
              <p:cNvSpPr txBox="1"/>
              <p:nvPr/>
            </p:nvSpPr>
            <p:spPr bwMode="auto">
              <a:xfrm>
                <a:off x="2812475" y="4437355"/>
                <a:ext cx="41870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defRPr/>
                </a:pPr>
                <a:r>
                  <a:rPr lang="en-US" sz="3600" b="1">
                    <a:solidFill>
                      <a:srgbClr val="00B050"/>
                    </a:solidFill>
                  </a:rPr>
                  <a:t>1</a:t>
                </a:r>
                <a:endParaRPr/>
              </a:p>
            </p:txBody>
          </p:sp>
          <p:sp>
            <p:nvSpPr>
              <p:cNvPr id="10" name="TextBox 9"/>
              <p:cNvSpPr txBox="1"/>
              <p:nvPr/>
            </p:nvSpPr>
            <p:spPr bwMode="auto">
              <a:xfrm>
                <a:off x="3083662" y="4451747"/>
                <a:ext cx="41870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defRPr/>
                </a:pPr>
                <a:r>
                  <a:rPr lang="en-US" sz="3600" b="1">
                    <a:solidFill>
                      <a:srgbClr val="00B050"/>
                    </a:solidFill>
                  </a:rPr>
                  <a:t>2</a:t>
                </a:r>
                <a:endParaRPr/>
              </a:p>
            </p:txBody>
          </p:sp>
          <p:sp>
            <p:nvSpPr>
              <p:cNvPr id="11" name="TextBox 10"/>
              <p:cNvSpPr txBox="1"/>
              <p:nvPr/>
            </p:nvSpPr>
            <p:spPr bwMode="auto">
              <a:xfrm>
                <a:off x="3357690" y="4451747"/>
                <a:ext cx="41870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defRPr/>
                </a:pPr>
                <a:r>
                  <a:rPr lang="en-US" sz="3600" b="1">
                    <a:solidFill>
                      <a:srgbClr val="00B050"/>
                    </a:solidFill>
                  </a:rPr>
                  <a:t>3</a:t>
                </a:r>
                <a:endParaRPr/>
              </a:p>
            </p:txBody>
          </p:sp>
          <p:sp>
            <p:nvSpPr>
              <p:cNvPr id="12" name="TextBox 11"/>
              <p:cNvSpPr txBox="1"/>
              <p:nvPr/>
            </p:nvSpPr>
            <p:spPr bwMode="auto">
              <a:xfrm>
                <a:off x="3656535" y="4451747"/>
                <a:ext cx="41870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defRPr/>
                </a:pPr>
                <a:r>
                  <a:rPr lang="en-US" sz="3600" b="1">
                    <a:solidFill>
                      <a:srgbClr val="00B050"/>
                    </a:solidFill>
                  </a:rPr>
                  <a:t>4</a:t>
                </a:r>
                <a:endParaRPr/>
              </a:p>
            </p:txBody>
          </p:sp>
          <p:sp>
            <p:nvSpPr>
              <p:cNvPr id="13" name="TextBox 12"/>
              <p:cNvSpPr txBox="1"/>
              <p:nvPr/>
            </p:nvSpPr>
            <p:spPr bwMode="auto">
              <a:xfrm>
                <a:off x="3958221" y="4451747"/>
                <a:ext cx="41870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defRPr/>
                </a:pPr>
                <a:r>
                  <a:rPr lang="en-US" sz="3600" b="1">
                    <a:solidFill>
                      <a:srgbClr val="00B050"/>
                    </a:solidFill>
                  </a:rPr>
                  <a:t>5</a:t>
                </a:r>
                <a:endParaRPr/>
              </a:p>
            </p:txBody>
          </p:sp>
          <p:sp>
            <p:nvSpPr>
              <p:cNvPr id="14" name="TextBox 13"/>
              <p:cNvSpPr txBox="1"/>
              <p:nvPr/>
            </p:nvSpPr>
            <p:spPr bwMode="auto">
              <a:xfrm>
                <a:off x="4207258" y="4453959"/>
                <a:ext cx="41870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defRPr/>
                </a:pPr>
                <a:r>
                  <a:rPr lang="en-US" sz="3600" b="1">
                    <a:solidFill>
                      <a:srgbClr val="00B050"/>
                    </a:solidFill>
                  </a:rPr>
                  <a:t>6</a:t>
                </a:r>
                <a:endParaRPr/>
              </a:p>
            </p:txBody>
          </p:sp>
          <p:sp>
            <p:nvSpPr>
              <p:cNvPr id="15" name="TextBox 14"/>
              <p:cNvSpPr txBox="1"/>
              <p:nvPr/>
            </p:nvSpPr>
            <p:spPr bwMode="auto">
              <a:xfrm>
                <a:off x="4478445" y="4451747"/>
                <a:ext cx="41870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defRPr/>
                </a:pPr>
                <a:r>
                  <a:rPr lang="en-US" sz="3600" b="1">
                    <a:solidFill>
                      <a:srgbClr val="00B050"/>
                    </a:solidFill>
                  </a:rPr>
                  <a:t>7</a:t>
                </a:r>
                <a:endParaRPr/>
              </a:p>
            </p:txBody>
          </p:sp>
          <p:sp>
            <p:nvSpPr>
              <p:cNvPr id="16" name="TextBox 15"/>
              <p:cNvSpPr txBox="1"/>
              <p:nvPr/>
            </p:nvSpPr>
            <p:spPr bwMode="auto">
              <a:xfrm>
                <a:off x="4754772" y="4451747"/>
                <a:ext cx="41870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defRPr/>
                </a:pPr>
                <a:r>
                  <a:rPr lang="en-US" sz="3600" b="1">
                    <a:solidFill>
                      <a:srgbClr val="00B050"/>
                    </a:solidFill>
                  </a:rPr>
                  <a:t>8</a:t>
                </a:r>
                <a:endParaRPr/>
              </a:p>
            </p:txBody>
          </p:sp>
        </p:grpSp>
      </p:grpSp>
      <p:sp>
        <p:nvSpPr>
          <p:cNvPr id="280045942" name="TextBox 17"/>
          <p:cNvSpPr txBox="1"/>
          <p:nvPr/>
        </p:nvSpPr>
        <p:spPr bwMode="auto">
          <a:xfrm>
            <a:off x="972170" y="796497"/>
            <a:ext cx="71996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2800" b="1"/>
              <a:t>The index of the last position is can be 8 or -1</a:t>
            </a:r>
            <a:endParaRPr/>
          </a:p>
        </p:txBody>
      </p:sp>
      <p:cxnSp>
        <p:nvCxnSpPr>
          <p:cNvPr id="2091202450" name="Straight Arrow Connector 19"/>
          <p:cNvCxnSpPr/>
          <p:nvPr/>
        </p:nvCxnSpPr>
        <p:spPr bwMode="auto">
          <a:xfrm>
            <a:off x="5700169" y="1273319"/>
            <a:ext cx="209352" cy="441189"/>
          </a:xfrm>
          <a:prstGeom prst="straightConnector1">
            <a:avLst/>
          </a:prstGeom>
          <a:ln w="57150">
            <a:solidFill>
              <a:srgbClr val="0000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9887312" name="TextBox 27"/>
          <p:cNvSpPr txBox="1"/>
          <p:nvPr/>
        </p:nvSpPr>
        <p:spPr bwMode="auto">
          <a:xfrm>
            <a:off x="5793094" y="2606753"/>
            <a:ext cx="2722255" cy="954107"/>
          </a:xfrm>
          <a:prstGeom prst="rect">
            <a:avLst/>
          </a:prstGeom>
          <a:solidFill>
            <a:schemeClr val="bg1"/>
          </a:solidFill>
          <a:ln w="57150">
            <a:solidFill>
              <a:srgbClr val="0000CC"/>
            </a:solidFill>
          </a:ln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2800" b="1"/>
              <a:t>Call the last character using 8</a:t>
            </a:r>
            <a:endParaRPr/>
          </a:p>
        </p:txBody>
      </p:sp>
      <p:cxnSp>
        <p:nvCxnSpPr>
          <p:cNvPr id="379782454" name="Straight Arrow Connector 18"/>
          <p:cNvCxnSpPr/>
          <p:nvPr/>
        </p:nvCxnSpPr>
        <p:spPr bwMode="auto">
          <a:xfrm flipH="1">
            <a:off x="5122813" y="3083807"/>
            <a:ext cx="557688" cy="0"/>
          </a:xfrm>
          <a:prstGeom prst="straightConnector1">
            <a:avLst/>
          </a:prstGeom>
          <a:ln w="57150">
            <a:solidFill>
              <a:srgbClr val="0000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4070466" name="TextBox 31"/>
          <p:cNvSpPr txBox="1"/>
          <p:nvPr/>
        </p:nvSpPr>
        <p:spPr bwMode="auto">
          <a:xfrm>
            <a:off x="5965910" y="4618487"/>
            <a:ext cx="2899121" cy="954107"/>
          </a:xfrm>
          <a:prstGeom prst="rect">
            <a:avLst/>
          </a:prstGeom>
          <a:solidFill>
            <a:schemeClr val="bg1"/>
          </a:solidFill>
          <a:ln w="57150">
            <a:solidFill>
              <a:srgbClr val="0000CC"/>
            </a:solidFill>
          </a:ln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2800" b="1"/>
              <a:t>Call the last character using -1</a:t>
            </a:r>
            <a:endParaRPr/>
          </a:p>
        </p:txBody>
      </p:sp>
      <p:cxnSp>
        <p:nvCxnSpPr>
          <p:cNvPr id="1322721179" name="Straight Arrow Connector 32"/>
          <p:cNvCxnSpPr/>
          <p:nvPr/>
        </p:nvCxnSpPr>
        <p:spPr bwMode="auto">
          <a:xfrm flipH="1">
            <a:off x="5295630" y="5095541"/>
            <a:ext cx="557688" cy="0"/>
          </a:xfrm>
          <a:prstGeom prst="straightConnector1">
            <a:avLst/>
          </a:prstGeom>
          <a:ln w="57150">
            <a:solidFill>
              <a:srgbClr val="0000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5202339" name="TextBox 33"/>
          <p:cNvSpPr txBox="1"/>
          <p:nvPr/>
        </p:nvSpPr>
        <p:spPr bwMode="auto">
          <a:xfrm>
            <a:off x="85317" y="5567310"/>
            <a:ext cx="2662726" cy="1200329"/>
          </a:xfrm>
          <a:prstGeom prst="rect">
            <a:avLst/>
          </a:prstGeom>
          <a:solidFill>
            <a:schemeClr val="bg1"/>
          </a:solidFill>
          <a:effectLst>
            <a:outerShdw blurRad="50800" dist="76200" dir="2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2400" b="1">
                <a:solidFill>
                  <a:srgbClr val="FF0000"/>
                </a:solidFill>
              </a:rPr>
              <a:t>Note:</a:t>
            </a:r>
            <a:r>
              <a:rPr lang="en-US" sz="2400" b="1"/>
              <a:t> Using </a:t>
            </a:r>
            <a:r>
              <a:rPr lang="en-US" sz="2400" b="1">
                <a:solidFill>
                  <a:srgbClr val="0000CC"/>
                </a:solidFill>
              </a:rPr>
              <a:t>-1</a:t>
            </a:r>
            <a:r>
              <a:rPr lang="en-US" sz="2400" b="1"/>
              <a:t> is useful when last index is unknown</a:t>
            </a:r>
            <a:r>
              <a:rPr lang="en-US" sz="2400" b="1">
                <a:latin typeface="Times New Roman"/>
                <a:cs typeface="Times New Roman"/>
              </a:rPr>
              <a:t>!</a:t>
            </a:r>
            <a:endParaRPr lang="en-US" sz="2400" b="1">
              <a:solidFill>
                <a:srgbClr val="92D05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67610471" name="Picture 6" descr="Graphical user interface, text, application&#10;&#10;Description automatically generated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519025" y="2712188"/>
            <a:ext cx="6584519" cy="2381009"/>
          </a:xfrm>
          <a:prstGeom prst="rect">
            <a:avLst/>
          </a:prstGeom>
        </p:spPr>
      </p:pic>
      <p:sp>
        <p:nvSpPr>
          <p:cNvPr id="197369066" name="Title 1"/>
          <p:cNvSpPr txBox="1"/>
          <p:nvPr/>
        </p:nvSpPr>
        <p:spPr bwMode="auto">
          <a:xfrm>
            <a:off x="0" y="0"/>
            <a:ext cx="9143999" cy="121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>
            <a:noAutofit/>
          </a:bodyPr>
          <a:lstStyle>
            <a:lvl1pPr algn="ctr" defTabSz="914400" rtl="0">
              <a:lnSpc>
                <a:spcPct val="90000"/>
              </a:lnSpc>
              <a:spcBef>
                <a:spcPts val="0"/>
              </a:spcBef>
              <a:buNone/>
              <a:defRPr sz="44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4100">
                <a:latin typeface="Times New Roman"/>
                <a:cs typeface="Times New Roman"/>
              </a:rPr>
              <a:t>Indexing a </a:t>
            </a:r>
            <a:r>
              <a:rPr lang="en-US" sz="4100">
                <a:solidFill>
                  <a:srgbClr val="0000CC"/>
                </a:solidFill>
                <a:latin typeface="Times New Roman"/>
                <a:cs typeface="Times New Roman"/>
              </a:rPr>
              <a:t>String</a:t>
            </a:r>
            <a:endParaRPr lang="en-US" sz="4100">
              <a:solidFill>
                <a:srgbClr val="0000CC"/>
              </a:solidFill>
            </a:endParaRPr>
          </a:p>
        </p:txBody>
      </p:sp>
      <p:sp>
        <p:nvSpPr>
          <p:cNvPr id="1361330094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144BBB-DA99-4FDF-9E1F-B5EEC68D5D7C}" type="slidenum">
              <a:rPr lang="es-ES_tradnl"/>
              <a:t>45</a:t>
            </a:fld>
            <a:endParaRPr lang="es-ES_tradnl"/>
          </a:p>
        </p:txBody>
      </p:sp>
      <p:grpSp>
        <p:nvGrpSpPr>
          <p:cNvPr id="1488955496" name="Group 5"/>
          <p:cNvGrpSpPr/>
          <p:nvPr/>
        </p:nvGrpSpPr>
        <p:grpSpPr bwMode="auto">
          <a:xfrm>
            <a:off x="1921790" y="1562341"/>
            <a:ext cx="6075335" cy="1074079"/>
            <a:chOff x="914399" y="3957065"/>
            <a:chExt cx="6075335" cy="1074079"/>
          </a:xfrm>
        </p:grpSpPr>
        <p:pic>
          <p:nvPicPr>
            <p:cNvPr id="5" name="Picture 4" descr="Graphical user interface, text, application&#10;&#10;Description automatically generated"/>
            <p:cNvPicPr>
              <a:picLocks noChangeAspect="1"/>
            </p:cNvPicPr>
            <p:nvPr/>
          </p:nvPicPr>
          <p:blipFill rotWithShape="1">
            <a:blip r:embed="rId4"/>
            <a:srcRect l="0" t="77627" r="16948" b="0"/>
            <a:stretch/>
          </p:blipFill>
          <p:spPr bwMode="auto">
            <a:xfrm>
              <a:off x="914399" y="3957065"/>
              <a:ext cx="6075335" cy="789104"/>
            </a:xfrm>
            <a:prstGeom prst="rect">
              <a:avLst/>
            </a:prstGeom>
          </p:spPr>
        </p:pic>
        <p:grpSp>
          <p:nvGrpSpPr>
            <p:cNvPr id="17" name="Group 16"/>
            <p:cNvGrpSpPr/>
            <p:nvPr/>
          </p:nvGrpSpPr>
          <p:grpSpPr bwMode="auto">
            <a:xfrm>
              <a:off x="2464230" y="4368209"/>
              <a:ext cx="2647253" cy="662935"/>
              <a:chOff x="2526223" y="4437355"/>
              <a:chExt cx="2647253" cy="662935"/>
            </a:xfrm>
          </p:grpSpPr>
          <p:sp>
            <p:nvSpPr>
              <p:cNvPr id="8" name="TextBox 7"/>
              <p:cNvSpPr txBox="1"/>
              <p:nvPr/>
            </p:nvSpPr>
            <p:spPr bwMode="auto">
              <a:xfrm>
                <a:off x="2526223" y="4451747"/>
                <a:ext cx="41870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defRPr/>
                </a:pPr>
                <a:r>
                  <a:rPr lang="en-US" sz="3600" b="1">
                    <a:solidFill>
                      <a:srgbClr val="00B050"/>
                    </a:solidFill>
                  </a:rPr>
                  <a:t>0</a:t>
                </a:r>
                <a:endParaRPr/>
              </a:p>
            </p:txBody>
          </p:sp>
          <p:sp>
            <p:nvSpPr>
              <p:cNvPr id="9" name="TextBox 8"/>
              <p:cNvSpPr txBox="1"/>
              <p:nvPr/>
            </p:nvSpPr>
            <p:spPr bwMode="auto">
              <a:xfrm>
                <a:off x="2812475" y="4437355"/>
                <a:ext cx="41870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defRPr/>
                </a:pPr>
                <a:r>
                  <a:rPr lang="en-US" sz="3600" b="1">
                    <a:solidFill>
                      <a:srgbClr val="00B050"/>
                    </a:solidFill>
                  </a:rPr>
                  <a:t>1</a:t>
                </a:r>
                <a:endParaRPr/>
              </a:p>
            </p:txBody>
          </p:sp>
          <p:sp>
            <p:nvSpPr>
              <p:cNvPr id="10" name="TextBox 9"/>
              <p:cNvSpPr txBox="1"/>
              <p:nvPr/>
            </p:nvSpPr>
            <p:spPr bwMode="auto">
              <a:xfrm>
                <a:off x="3083662" y="4451747"/>
                <a:ext cx="41870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defRPr/>
                </a:pPr>
                <a:r>
                  <a:rPr lang="en-US" sz="3600" b="1">
                    <a:solidFill>
                      <a:srgbClr val="00B050"/>
                    </a:solidFill>
                  </a:rPr>
                  <a:t>2</a:t>
                </a:r>
                <a:endParaRPr/>
              </a:p>
            </p:txBody>
          </p:sp>
          <p:sp>
            <p:nvSpPr>
              <p:cNvPr id="11" name="TextBox 10"/>
              <p:cNvSpPr txBox="1"/>
              <p:nvPr/>
            </p:nvSpPr>
            <p:spPr bwMode="auto">
              <a:xfrm>
                <a:off x="3357690" y="4451747"/>
                <a:ext cx="41870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defRPr/>
                </a:pPr>
                <a:r>
                  <a:rPr lang="en-US" sz="3600" b="1">
                    <a:solidFill>
                      <a:srgbClr val="00B050"/>
                    </a:solidFill>
                  </a:rPr>
                  <a:t>3</a:t>
                </a:r>
                <a:endParaRPr/>
              </a:p>
            </p:txBody>
          </p:sp>
          <p:sp>
            <p:nvSpPr>
              <p:cNvPr id="12" name="TextBox 11"/>
              <p:cNvSpPr txBox="1"/>
              <p:nvPr/>
            </p:nvSpPr>
            <p:spPr bwMode="auto">
              <a:xfrm>
                <a:off x="3656535" y="4451747"/>
                <a:ext cx="41870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defRPr/>
                </a:pPr>
                <a:r>
                  <a:rPr lang="en-US" sz="3600" b="1">
                    <a:solidFill>
                      <a:srgbClr val="00B050"/>
                    </a:solidFill>
                  </a:rPr>
                  <a:t>4</a:t>
                </a:r>
                <a:endParaRPr/>
              </a:p>
            </p:txBody>
          </p:sp>
          <p:sp>
            <p:nvSpPr>
              <p:cNvPr id="13" name="TextBox 12"/>
              <p:cNvSpPr txBox="1"/>
              <p:nvPr/>
            </p:nvSpPr>
            <p:spPr bwMode="auto">
              <a:xfrm>
                <a:off x="3958221" y="4451747"/>
                <a:ext cx="41870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defRPr/>
                </a:pPr>
                <a:r>
                  <a:rPr lang="en-US" sz="3600" b="1">
                    <a:solidFill>
                      <a:srgbClr val="00B050"/>
                    </a:solidFill>
                  </a:rPr>
                  <a:t>5</a:t>
                </a:r>
                <a:endParaRPr/>
              </a:p>
            </p:txBody>
          </p:sp>
          <p:sp>
            <p:nvSpPr>
              <p:cNvPr id="14" name="TextBox 13"/>
              <p:cNvSpPr txBox="1"/>
              <p:nvPr/>
            </p:nvSpPr>
            <p:spPr bwMode="auto">
              <a:xfrm>
                <a:off x="4207258" y="4453959"/>
                <a:ext cx="41870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defRPr/>
                </a:pPr>
                <a:r>
                  <a:rPr lang="en-US" sz="3600" b="1">
                    <a:solidFill>
                      <a:srgbClr val="00B050"/>
                    </a:solidFill>
                  </a:rPr>
                  <a:t>6</a:t>
                </a:r>
                <a:endParaRPr/>
              </a:p>
            </p:txBody>
          </p:sp>
          <p:sp>
            <p:nvSpPr>
              <p:cNvPr id="15" name="TextBox 14"/>
              <p:cNvSpPr txBox="1"/>
              <p:nvPr/>
            </p:nvSpPr>
            <p:spPr bwMode="auto">
              <a:xfrm>
                <a:off x="4478445" y="4451747"/>
                <a:ext cx="41870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defRPr/>
                </a:pPr>
                <a:r>
                  <a:rPr lang="en-US" sz="3600" b="1">
                    <a:solidFill>
                      <a:srgbClr val="00B050"/>
                    </a:solidFill>
                  </a:rPr>
                  <a:t>7</a:t>
                </a:r>
                <a:endParaRPr/>
              </a:p>
            </p:txBody>
          </p:sp>
          <p:sp>
            <p:nvSpPr>
              <p:cNvPr id="16" name="TextBox 15"/>
              <p:cNvSpPr txBox="1"/>
              <p:nvPr/>
            </p:nvSpPr>
            <p:spPr bwMode="auto">
              <a:xfrm>
                <a:off x="4754772" y="4451747"/>
                <a:ext cx="41870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defRPr/>
                </a:pPr>
                <a:r>
                  <a:rPr lang="en-US" sz="3600" b="1">
                    <a:solidFill>
                      <a:srgbClr val="00B050"/>
                    </a:solidFill>
                  </a:rPr>
                  <a:t>8</a:t>
                </a:r>
                <a:endParaRPr/>
              </a:p>
            </p:txBody>
          </p:sp>
        </p:grpSp>
      </p:grpSp>
      <p:sp>
        <p:nvSpPr>
          <p:cNvPr id="948371174" name="TextBox 17"/>
          <p:cNvSpPr txBox="1"/>
          <p:nvPr/>
        </p:nvSpPr>
        <p:spPr bwMode="auto">
          <a:xfrm>
            <a:off x="972170" y="796497"/>
            <a:ext cx="71996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2800" b="1"/>
              <a:t>Index a range of the sequence</a:t>
            </a:r>
            <a:endParaRPr/>
          </a:p>
        </p:txBody>
      </p:sp>
      <p:sp>
        <p:nvSpPr>
          <p:cNvPr id="807268546" name="TextBox 27"/>
          <p:cNvSpPr txBox="1"/>
          <p:nvPr/>
        </p:nvSpPr>
        <p:spPr bwMode="auto">
          <a:xfrm>
            <a:off x="3194256" y="5168965"/>
            <a:ext cx="2229587" cy="1384995"/>
          </a:xfrm>
          <a:prstGeom prst="rect">
            <a:avLst/>
          </a:prstGeom>
          <a:solidFill>
            <a:schemeClr val="bg1"/>
          </a:solidFill>
          <a:ln w="57150">
            <a:solidFill>
              <a:srgbClr val="0000CC"/>
            </a:solidFill>
          </a:ln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2800" b="1"/>
              <a:t>Index is not included in new string</a:t>
            </a:r>
            <a:endParaRPr/>
          </a:p>
        </p:txBody>
      </p:sp>
      <p:cxnSp>
        <p:nvCxnSpPr>
          <p:cNvPr id="517018164" name="Straight Arrow Connector 18"/>
          <p:cNvCxnSpPr/>
          <p:nvPr/>
        </p:nvCxnSpPr>
        <p:spPr bwMode="auto">
          <a:xfrm flipH="1" flipV="1">
            <a:off x="4385772" y="4541002"/>
            <a:ext cx="64675" cy="536873"/>
          </a:xfrm>
          <a:prstGeom prst="straightConnector1">
            <a:avLst/>
          </a:prstGeom>
          <a:ln w="57150">
            <a:solidFill>
              <a:srgbClr val="0000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8229079" name="TextBox 31"/>
          <p:cNvSpPr txBox="1"/>
          <p:nvPr/>
        </p:nvSpPr>
        <p:spPr bwMode="auto">
          <a:xfrm>
            <a:off x="228623" y="3633061"/>
            <a:ext cx="2229587" cy="1815882"/>
          </a:xfrm>
          <a:prstGeom prst="rect">
            <a:avLst/>
          </a:prstGeom>
          <a:solidFill>
            <a:schemeClr val="bg1"/>
          </a:solidFill>
          <a:ln w="57150">
            <a:solidFill>
              <a:srgbClr val="0000CC"/>
            </a:solidFill>
          </a:ln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2800" b="1"/>
              <a:t>Index is included and starts new string</a:t>
            </a:r>
            <a:endParaRPr/>
          </a:p>
        </p:txBody>
      </p:sp>
      <p:cxnSp>
        <p:nvCxnSpPr>
          <p:cNvPr id="1748088662" name="Straight Arrow Connector 32"/>
          <p:cNvCxnSpPr/>
          <p:nvPr/>
        </p:nvCxnSpPr>
        <p:spPr bwMode="auto">
          <a:xfrm flipH="1">
            <a:off x="4358404" y="3429000"/>
            <a:ext cx="1274791" cy="784504"/>
          </a:xfrm>
          <a:prstGeom prst="straightConnector1">
            <a:avLst/>
          </a:prstGeom>
          <a:ln w="57150">
            <a:solidFill>
              <a:srgbClr val="0000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9692376" name="Straight Arrow Connector 20"/>
          <p:cNvCxnSpPr/>
          <p:nvPr/>
        </p:nvCxnSpPr>
        <p:spPr bwMode="auto">
          <a:xfrm>
            <a:off x="4256594" y="1287615"/>
            <a:ext cx="0" cy="424066"/>
          </a:xfrm>
          <a:prstGeom prst="straightConnector1">
            <a:avLst/>
          </a:prstGeom>
          <a:ln w="57150">
            <a:solidFill>
              <a:srgbClr val="0000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3797546" name="Straight Arrow Connector 22"/>
          <p:cNvCxnSpPr/>
          <p:nvPr/>
        </p:nvCxnSpPr>
        <p:spPr bwMode="auto">
          <a:xfrm>
            <a:off x="5633195" y="1283928"/>
            <a:ext cx="0" cy="424066"/>
          </a:xfrm>
          <a:prstGeom prst="straightConnector1">
            <a:avLst/>
          </a:prstGeom>
          <a:ln w="57150">
            <a:solidFill>
              <a:srgbClr val="0000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1132015" name="Straight Arrow Connector 36"/>
          <p:cNvCxnSpPr/>
          <p:nvPr/>
        </p:nvCxnSpPr>
        <p:spPr bwMode="auto">
          <a:xfrm flipV="1">
            <a:off x="2516718" y="4525680"/>
            <a:ext cx="520950" cy="283758"/>
          </a:xfrm>
          <a:prstGeom prst="straightConnector1">
            <a:avLst/>
          </a:prstGeom>
          <a:ln w="57150">
            <a:solidFill>
              <a:srgbClr val="0000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4085903" name="Straight Arrow Connector 40"/>
          <p:cNvCxnSpPr/>
          <p:nvPr/>
        </p:nvCxnSpPr>
        <p:spPr bwMode="auto">
          <a:xfrm flipH="1">
            <a:off x="3194256" y="3426119"/>
            <a:ext cx="1955579" cy="787385"/>
          </a:xfrm>
          <a:prstGeom prst="straightConnector1">
            <a:avLst/>
          </a:prstGeom>
          <a:ln w="57150">
            <a:solidFill>
              <a:srgbClr val="0000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7047189" name="Straight Arrow Connector 42"/>
          <p:cNvCxnSpPr/>
          <p:nvPr/>
        </p:nvCxnSpPr>
        <p:spPr bwMode="auto">
          <a:xfrm flipH="1">
            <a:off x="5633195" y="2525965"/>
            <a:ext cx="276327" cy="542292"/>
          </a:xfrm>
          <a:prstGeom prst="straightConnector1">
            <a:avLst/>
          </a:prstGeom>
          <a:ln w="57150">
            <a:solidFill>
              <a:srgbClr val="0000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7530075" name="Straight Arrow Connector 44"/>
          <p:cNvCxnSpPr/>
          <p:nvPr/>
        </p:nvCxnSpPr>
        <p:spPr bwMode="auto">
          <a:xfrm>
            <a:off x="4263560" y="2525965"/>
            <a:ext cx="866684" cy="504995"/>
          </a:xfrm>
          <a:prstGeom prst="straightConnector1">
            <a:avLst/>
          </a:prstGeom>
          <a:ln w="57150">
            <a:solidFill>
              <a:srgbClr val="0000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3687103" name="Title 1"/>
          <p:cNvSpPr>
            <a:spLocks noGrp="1"/>
          </p:cNvSpPr>
          <p:nvPr>
            <p:ph type="ctrTitle"/>
          </p:nvPr>
        </p:nvSpPr>
        <p:spPr bwMode="auto">
          <a:xfrm>
            <a:off x="685800" y="1104900"/>
            <a:ext cx="7772400" cy="4648200"/>
          </a:xfrm>
        </p:spPr>
        <p:txBody>
          <a:bodyPr anchor="ctr">
            <a:noAutofit/>
          </a:bodyPr>
          <a:lstStyle/>
          <a:p>
            <a:pPr>
              <a:defRPr/>
            </a:pPr>
            <a:r>
              <a:rPr lang="en-US" sz="6600" u="sng"/>
              <a:t>Lesson 1.3.0</a:t>
            </a:r>
            <a:br>
              <a:rPr lang="en-US" sz="6600"/>
            </a:br>
            <a:r>
              <a:rPr lang="en-US" sz="6600"/>
              <a:t>Evaluate the GC content of a DNA sequence.</a:t>
            </a:r>
            <a:endParaRPr lang="en-US" sz="6600" b="1"/>
          </a:p>
        </p:txBody>
      </p:sp>
      <p:sp>
        <p:nvSpPr>
          <p:cNvPr id="1259184175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3AD70ED5-6128-491B-B98E-94BED0CDCE15}" type="slidenum">
              <a:rPr lang="en-US">
                <a:solidFill>
                  <a:schemeClr val="tx1"/>
                </a:solidFill>
              </a:rPr>
              <a:t>46</a:t>
            </a:fld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67887040" name="Picture 4" descr="UniProt"/>
          <p:cNvPicPr>
            <a:picLocks noChangeAspect="1" noChangeArrowheads="1"/>
          </p:cNvPicPr>
          <p:nvPr/>
        </p:nvPicPr>
        <p:blipFill rotWithShape="1">
          <a:blip r:embed="rId3"/>
          <a:stretch/>
        </p:blipFill>
        <p:spPr bwMode="auto">
          <a:xfrm>
            <a:off x="7486650" y="854302"/>
            <a:ext cx="1580990" cy="1580990"/>
          </a:xfrm>
          <a:prstGeom prst="rect">
            <a:avLst/>
          </a:prstGeom>
          <a:noFill/>
        </p:spPr>
      </p:pic>
      <p:sp>
        <p:nvSpPr>
          <p:cNvPr id="1431377447" name="Slide Number Placeholder 1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144BBB-DA99-4FDF-9E1F-B5EEC68D5D7C}" type="slidenum">
              <a:rPr lang="es-ES_tradnl"/>
              <a:t>47</a:t>
            </a:fld>
            <a:endParaRPr lang="es-ES_tradnl"/>
          </a:p>
        </p:txBody>
      </p:sp>
      <p:sp>
        <p:nvSpPr>
          <p:cNvPr id="256769413" name="Title 1"/>
          <p:cNvSpPr txBox="1"/>
          <p:nvPr/>
        </p:nvSpPr>
        <p:spPr bwMode="auto">
          <a:xfrm>
            <a:off x="0" y="2158925"/>
            <a:ext cx="9144000" cy="769442"/>
          </a:xfrm>
          <a:prstGeom prst="rect">
            <a:avLst/>
          </a:prstGeom>
          <a:noFill/>
          <a:ln w="76200">
            <a:noFill/>
          </a:ln>
        </p:spPr>
        <p:txBody>
          <a:bodyPr>
            <a:noAutofit/>
          </a:bodyPr>
          <a:lstStyle>
            <a:lvl1pPr algn="ctr" defTabSz="914400" rtl="0">
              <a:lnSpc>
                <a:spcPct val="90000"/>
              </a:lnSpc>
              <a:spcBef>
                <a:spcPts val="0"/>
              </a:spcBef>
              <a:buNone/>
              <a:defRPr sz="44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US" sz="6600" b="1"/>
              <a:t>Connect to </a:t>
            </a:r>
            <a:r>
              <a:rPr lang="en-US" sz="6600" b="1"/>
              <a:t>Uniprot</a:t>
            </a:r>
            <a:endParaRPr lang="en-US" sz="6600" b="1"/>
          </a:p>
        </p:txBody>
      </p:sp>
      <p:sp>
        <p:nvSpPr>
          <p:cNvPr id="1367569813" name="TextBox 6"/>
          <p:cNvSpPr txBox="1"/>
          <p:nvPr/>
        </p:nvSpPr>
        <p:spPr bwMode="auto">
          <a:xfrm>
            <a:off x="3273943" y="5941159"/>
            <a:ext cx="2596114" cy="461665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2400"/>
              <a:t>Activate link</a:t>
            </a:r>
            <a:endParaRPr/>
          </a:p>
        </p:txBody>
      </p:sp>
      <p:grpSp>
        <p:nvGrpSpPr>
          <p:cNvPr id="291337090" name="Group 10"/>
          <p:cNvGrpSpPr/>
          <p:nvPr/>
        </p:nvGrpSpPr>
        <p:grpSpPr bwMode="auto">
          <a:xfrm>
            <a:off x="4164807" y="3999374"/>
            <a:ext cx="822325" cy="1762128"/>
            <a:chOff x="2640" y="-486"/>
            <a:chExt cx="518" cy="1110"/>
          </a:xfrm>
        </p:grpSpPr>
        <p:cxnSp>
          <p:nvCxnSpPr>
            <p:cNvPr id="9" name="Straight Arrow Connector 8"/>
            <p:cNvCxnSpPr>
              <a:cxnSpLocks noChangeShapeType="1"/>
            </p:cNvCxnSpPr>
            <p:nvPr/>
          </p:nvCxnSpPr>
          <p:spPr bwMode="auto">
            <a:xfrm rot="16199999">
              <a:off x="2608" y="-199"/>
              <a:ext cx="576" cy="1"/>
            </a:xfrm>
            <a:prstGeom prst="straightConnector1">
              <a:avLst/>
            </a:prstGeom>
            <a:noFill/>
            <a:ln w="73025" algn="ctr">
              <a:solidFill>
                <a:srgbClr val="FF0000"/>
              </a:solidFill>
              <a:round/>
              <a:headEnd/>
              <a:tailEnd type="arrow" w="med" len="med"/>
            </a:ln>
          </p:spPr>
        </p:cxnSp>
        <p:sp>
          <p:nvSpPr>
            <p:cNvPr id="10" name="Oval 10"/>
            <p:cNvSpPr>
              <a:spLocks noChangeArrowheads="1"/>
            </p:cNvSpPr>
            <p:nvPr/>
          </p:nvSpPr>
          <p:spPr bwMode="auto">
            <a:xfrm rot="10800000" flipV="1">
              <a:off x="2640" y="96"/>
              <a:ext cx="518" cy="528"/>
            </a:xfrm>
            <a:prstGeom prst="ellipse">
              <a:avLst/>
            </a:prstGeom>
            <a:solidFill>
              <a:schemeClr val="bg1"/>
            </a:solidFill>
            <a:ln w="73025" algn="ctr">
              <a:solidFill>
                <a:srgbClr val="FF0000"/>
              </a:solidFill>
              <a:round/>
              <a:headEnd/>
              <a:tailEnd/>
            </a:ln>
          </p:spPr>
          <p:txBody>
            <a:bodyPr wrap="none"/>
            <a:lstStyle/>
            <a:p>
              <a:pPr algn="ctr">
                <a:defRPr/>
              </a:pPr>
              <a:r>
                <a:rPr lang="en-US" sz="3600" b="1">
                  <a:solidFill>
                    <a:srgbClr val="000000"/>
                  </a:solidFill>
                </a:rPr>
                <a:t>1</a:t>
              </a:r>
              <a:endParaRPr/>
            </a:p>
          </p:txBody>
        </p:sp>
      </p:grpSp>
      <p:sp>
        <p:nvSpPr>
          <p:cNvPr id="643763537" name="TextBox 10"/>
          <p:cNvSpPr txBox="1"/>
          <p:nvPr/>
        </p:nvSpPr>
        <p:spPr bwMode="auto">
          <a:xfrm>
            <a:off x="360191" y="3098201"/>
            <a:ext cx="8423618" cy="769441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4400" u="sng">
                <a:hlinkClick r:id="rId4" tooltip=""/>
              </a:rPr>
              <a:t>https://www.uniprot.org</a:t>
            </a:r>
            <a:endParaRPr lang="en-US" sz="4400"/>
          </a:p>
        </p:txBody>
      </p:sp>
      <p:pic>
        <p:nvPicPr>
          <p:cNvPr id="168650578" name="Picture 2" descr="UniProt - Wikipedia"/>
          <p:cNvPicPr>
            <a:picLocks noChangeAspect="1" noChangeArrowheads="1"/>
          </p:cNvPicPr>
          <p:nvPr/>
        </p:nvPicPr>
        <p:blipFill rotWithShape="1">
          <a:blip r:embed="rId5"/>
          <a:stretch/>
        </p:blipFill>
        <p:spPr bwMode="auto">
          <a:xfrm>
            <a:off x="200722" y="954661"/>
            <a:ext cx="2932770" cy="1338076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0872672" name="Slide Number Placeholder 1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144BBB-DA99-4FDF-9E1F-B5EEC68D5D7C}" type="slidenum">
              <a:rPr lang="es-ES_tradnl"/>
              <a:t>48</a:t>
            </a:fld>
            <a:endParaRPr lang="es-ES_tradnl"/>
          </a:p>
        </p:txBody>
      </p:sp>
      <p:pic>
        <p:nvPicPr>
          <p:cNvPr id="455544823" name="Picture 5" descr="Graphical user interface, website&#10;&#10;Description automatically generated"/>
          <p:cNvPicPr>
            <a:picLocks noChangeAspect="1"/>
          </p:cNvPicPr>
          <p:nvPr/>
        </p:nvPicPr>
        <p:blipFill rotWithShape="1">
          <a:blip r:embed="rId3"/>
          <a:srcRect l="4394" t="9714" r="4501" b="16265"/>
          <a:stretch/>
        </p:blipFill>
        <p:spPr bwMode="auto">
          <a:xfrm>
            <a:off x="206297" y="1225792"/>
            <a:ext cx="8731406" cy="461660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74770547" name="Title 1"/>
          <p:cNvSpPr txBox="1"/>
          <p:nvPr/>
        </p:nvSpPr>
        <p:spPr bwMode="auto">
          <a:xfrm>
            <a:off x="13084" y="0"/>
            <a:ext cx="9144000" cy="862761"/>
          </a:xfrm>
          <a:prstGeom prst="rect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txBody>
          <a:bodyPr anchor="ctr">
            <a:normAutofit/>
          </a:bodyPr>
          <a:lstStyle>
            <a:lvl1pPr algn="ctr" defTabSz="914400" rtl="0">
              <a:lnSpc>
                <a:spcPct val="90000"/>
              </a:lnSpc>
              <a:spcBef>
                <a:spcPts val="0"/>
              </a:spcBef>
              <a:buNone/>
              <a:defRPr sz="44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>
                <a:latin typeface="Times New Roman"/>
                <a:cs typeface="Times New Roman"/>
              </a:rPr>
              <a:t>Activate </a:t>
            </a:r>
            <a:r>
              <a:rPr lang="en-US" sz="4400" u="sng">
                <a:hlinkClick r:id="rId4" tooltip=""/>
              </a:rPr>
              <a:t>uniprot.org</a:t>
            </a:r>
            <a:endParaRPr lang="en-US" sz="3600">
              <a:solidFill>
                <a:srgbClr val="0000CC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7570687" name="Slide Number Placeholder 1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144BBB-DA99-4FDF-9E1F-B5EEC68D5D7C}" type="slidenum">
              <a:rPr lang="es-ES_tradnl"/>
              <a:t>49</a:t>
            </a:fld>
            <a:endParaRPr lang="es-ES_tradnl"/>
          </a:p>
        </p:txBody>
      </p:sp>
      <p:sp>
        <p:nvSpPr>
          <p:cNvPr id="757574928" name="Title 1"/>
          <p:cNvSpPr txBox="1"/>
          <p:nvPr/>
        </p:nvSpPr>
        <p:spPr bwMode="auto">
          <a:xfrm>
            <a:off x="1" y="0"/>
            <a:ext cx="9144000" cy="1851103"/>
          </a:xfrm>
          <a:prstGeom prst="rect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txBody>
          <a:bodyPr>
            <a:noAutofit/>
          </a:bodyPr>
          <a:lstStyle>
            <a:lvl1pPr algn="ctr" defTabSz="914400" rtl="0">
              <a:lnSpc>
                <a:spcPct val="90000"/>
              </a:lnSpc>
              <a:spcBef>
                <a:spcPts val="0"/>
              </a:spcBef>
              <a:buNone/>
              <a:defRPr sz="44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US" sz="4400" b="1"/>
              <a:t>CRTAM is a biomarker found in prostate cancer and was a major part of my undergraduate research.</a:t>
            </a:r>
            <a:endParaRPr/>
          </a:p>
        </p:txBody>
      </p:sp>
      <p:pic>
        <p:nvPicPr>
          <p:cNvPr id="222571987" name="Picture 8" descr="Graphical user interface, website&#10;&#10;Description automatically generated"/>
          <p:cNvPicPr>
            <a:picLocks noChangeAspect="1"/>
          </p:cNvPicPr>
          <p:nvPr/>
        </p:nvPicPr>
        <p:blipFill rotWithShape="1">
          <a:blip r:embed="rId3"/>
          <a:srcRect l="12669" t="32923" r="34791" b="49073"/>
          <a:stretch/>
        </p:blipFill>
        <p:spPr bwMode="auto">
          <a:xfrm>
            <a:off x="310574" y="2319656"/>
            <a:ext cx="8522852" cy="190059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58859708" name="TextBox 9"/>
          <p:cNvSpPr txBox="1"/>
          <p:nvPr/>
        </p:nvSpPr>
        <p:spPr bwMode="auto">
          <a:xfrm>
            <a:off x="905955" y="5370785"/>
            <a:ext cx="2596114" cy="461665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2400"/>
              <a:t>Search CRTAM</a:t>
            </a:r>
            <a:endParaRPr/>
          </a:p>
        </p:txBody>
      </p:sp>
      <p:grpSp>
        <p:nvGrpSpPr>
          <p:cNvPr id="1035146329" name="Group 10"/>
          <p:cNvGrpSpPr/>
          <p:nvPr/>
        </p:nvGrpSpPr>
        <p:grpSpPr bwMode="auto">
          <a:xfrm>
            <a:off x="1796819" y="3429000"/>
            <a:ext cx="822325" cy="1762128"/>
            <a:chOff x="2640" y="-486"/>
            <a:chExt cx="518" cy="1110"/>
          </a:xfrm>
        </p:grpSpPr>
        <p:cxnSp>
          <p:nvCxnSpPr>
            <p:cNvPr id="12" name="Straight Arrow Connector 11"/>
            <p:cNvCxnSpPr>
              <a:cxnSpLocks noChangeShapeType="1"/>
            </p:cNvCxnSpPr>
            <p:nvPr/>
          </p:nvCxnSpPr>
          <p:spPr bwMode="auto">
            <a:xfrm rot="16199999">
              <a:off x="2608" y="-199"/>
              <a:ext cx="576" cy="1"/>
            </a:xfrm>
            <a:prstGeom prst="straightConnector1">
              <a:avLst/>
            </a:prstGeom>
            <a:noFill/>
            <a:ln w="73025" algn="ctr">
              <a:solidFill>
                <a:srgbClr val="FF0000"/>
              </a:solidFill>
              <a:round/>
              <a:headEnd/>
              <a:tailEnd type="arrow" w="med" len="med"/>
            </a:ln>
          </p:spPr>
        </p:cxnSp>
        <p:sp>
          <p:nvSpPr>
            <p:cNvPr id="13" name="Oval 10"/>
            <p:cNvSpPr>
              <a:spLocks noChangeArrowheads="1"/>
            </p:cNvSpPr>
            <p:nvPr/>
          </p:nvSpPr>
          <p:spPr bwMode="auto">
            <a:xfrm rot="10800000" flipV="1">
              <a:off x="2640" y="96"/>
              <a:ext cx="518" cy="528"/>
            </a:xfrm>
            <a:prstGeom prst="ellipse">
              <a:avLst/>
            </a:prstGeom>
            <a:solidFill>
              <a:schemeClr val="bg1"/>
            </a:solidFill>
            <a:ln w="73025" algn="ctr">
              <a:solidFill>
                <a:srgbClr val="FF0000"/>
              </a:solidFill>
              <a:round/>
              <a:headEnd/>
              <a:tailEnd/>
            </a:ln>
          </p:spPr>
          <p:txBody>
            <a:bodyPr wrap="none"/>
            <a:lstStyle/>
            <a:p>
              <a:pPr algn="ctr">
                <a:defRPr/>
              </a:pPr>
              <a:r>
                <a:rPr lang="en-US" sz="3600" b="1">
                  <a:solidFill>
                    <a:srgbClr val="000000"/>
                  </a:solidFill>
                </a:rPr>
                <a:t>2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0304499" name="Slide Number Placeholder 1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144BBB-DA99-4FDF-9E1F-B5EEC68D5D7C}" type="slidenum">
              <a:rPr lang="es-ES_tradnl"/>
              <a:t>50</a:t>
            </a:fld>
            <a:endParaRPr lang="es-ES_tradnl"/>
          </a:p>
        </p:txBody>
      </p:sp>
      <p:sp>
        <p:nvSpPr>
          <p:cNvPr id="307493973" name="Title 1"/>
          <p:cNvSpPr txBox="1"/>
          <p:nvPr/>
        </p:nvSpPr>
        <p:spPr bwMode="auto">
          <a:xfrm>
            <a:off x="1" y="0"/>
            <a:ext cx="9144000" cy="1851103"/>
          </a:xfrm>
          <a:prstGeom prst="rect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txBody>
          <a:bodyPr>
            <a:noAutofit/>
          </a:bodyPr>
          <a:lstStyle>
            <a:lvl1pPr algn="ctr" defTabSz="914400" rtl="0">
              <a:lnSpc>
                <a:spcPct val="90000"/>
              </a:lnSpc>
              <a:spcBef>
                <a:spcPts val="0"/>
              </a:spcBef>
              <a:buNone/>
              <a:defRPr sz="44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US" sz="4400" b="1"/>
              <a:t>CRTAM is a biomarker found in prostate cancer and was a major part of my undergraduate research.</a:t>
            </a:r>
            <a:endParaRPr/>
          </a:p>
        </p:txBody>
      </p:sp>
      <p:pic>
        <p:nvPicPr>
          <p:cNvPr id="37455387" name="Picture 4" descr="Graphical user interface, application, Teams&#10;&#10;Description automatically generated"/>
          <p:cNvPicPr>
            <a:picLocks noChangeAspect="1"/>
          </p:cNvPicPr>
          <p:nvPr/>
        </p:nvPicPr>
        <p:blipFill rotWithShape="1">
          <a:blip r:embed="rId3"/>
          <a:srcRect l="6027" t="9700" r="7212" b="22176"/>
          <a:stretch/>
        </p:blipFill>
        <p:spPr bwMode="auto">
          <a:xfrm>
            <a:off x="0" y="1898193"/>
            <a:ext cx="9144000" cy="467236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13022242" name="TextBox 7"/>
          <p:cNvSpPr txBox="1"/>
          <p:nvPr/>
        </p:nvSpPr>
        <p:spPr bwMode="auto">
          <a:xfrm>
            <a:off x="285444" y="4605597"/>
            <a:ext cx="2596114" cy="461665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2400"/>
              <a:t>Select Table</a:t>
            </a:r>
            <a:endParaRPr/>
          </a:p>
        </p:txBody>
      </p:sp>
      <p:grpSp>
        <p:nvGrpSpPr>
          <p:cNvPr id="638704551" name="Group 9"/>
          <p:cNvGrpSpPr/>
          <p:nvPr/>
        </p:nvGrpSpPr>
        <p:grpSpPr bwMode="auto">
          <a:xfrm rot="5400000">
            <a:off x="3574091" y="3963303"/>
            <a:ext cx="838200" cy="1754191"/>
            <a:chOff x="2635" y="-486"/>
            <a:chExt cx="528" cy="1105"/>
          </a:xfrm>
        </p:grpSpPr>
        <p:cxnSp>
          <p:nvCxnSpPr>
            <p:cNvPr id="11" name="Straight Arrow Connector 10"/>
            <p:cNvCxnSpPr>
              <a:cxnSpLocks noChangeShapeType="1"/>
            </p:cNvCxnSpPr>
            <p:nvPr/>
          </p:nvCxnSpPr>
          <p:spPr bwMode="auto">
            <a:xfrm rot="16199999">
              <a:off x="2608" y="-199"/>
              <a:ext cx="576" cy="1"/>
            </a:xfrm>
            <a:prstGeom prst="straightConnector1">
              <a:avLst/>
            </a:prstGeom>
            <a:noFill/>
            <a:ln w="73025" algn="ctr">
              <a:solidFill>
                <a:srgbClr val="FF0000"/>
              </a:solidFill>
              <a:round/>
              <a:headEnd/>
              <a:tailEnd type="arrow" w="med" len="med"/>
            </a:ln>
          </p:spPr>
        </p:cxnSp>
        <p:sp>
          <p:nvSpPr>
            <p:cNvPr id="12" name="Oval 10"/>
            <p:cNvSpPr>
              <a:spLocks noChangeArrowheads="1"/>
            </p:cNvSpPr>
            <p:nvPr/>
          </p:nvSpPr>
          <p:spPr bwMode="auto">
            <a:xfrm rot="5400000" flipV="1">
              <a:off x="2640" y="96"/>
              <a:ext cx="518" cy="528"/>
            </a:xfrm>
            <a:prstGeom prst="ellipse">
              <a:avLst/>
            </a:prstGeom>
            <a:solidFill>
              <a:schemeClr val="bg1"/>
            </a:solidFill>
            <a:ln w="73025" algn="ctr">
              <a:solidFill>
                <a:srgbClr val="FF0000"/>
              </a:solidFill>
              <a:round/>
              <a:headEnd/>
              <a:tailEnd/>
            </a:ln>
          </p:spPr>
          <p:txBody>
            <a:bodyPr wrap="none"/>
            <a:lstStyle/>
            <a:p>
              <a:pPr algn="ctr">
                <a:defRPr/>
              </a:pPr>
              <a:r>
                <a:rPr lang="en-US" sz="3600" b="1">
                  <a:solidFill>
                    <a:srgbClr val="000000"/>
                  </a:solidFill>
                </a:rPr>
                <a:t>3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1582863" name="Slide Number Placeholder 1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144BBB-DA99-4FDF-9E1F-B5EEC68D5D7C}" type="slidenum">
              <a:rPr lang="es-ES_tradnl"/>
              <a:t>51</a:t>
            </a:fld>
            <a:endParaRPr lang="es-ES_tradnl"/>
          </a:p>
        </p:txBody>
      </p:sp>
      <p:sp>
        <p:nvSpPr>
          <p:cNvPr id="1617529309" name="Title 1"/>
          <p:cNvSpPr txBox="1"/>
          <p:nvPr/>
        </p:nvSpPr>
        <p:spPr bwMode="auto">
          <a:xfrm>
            <a:off x="1" y="0"/>
            <a:ext cx="9144000" cy="1851103"/>
          </a:xfrm>
          <a:prstGeom prst="rect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txBody>
          <a:bodyPr>
            <a:noAutofit/>
          </a:bodyPr>
          <a:lstStyle>
            <a:lvl1pPr algn="ctr" defTabSz="914400" rtl="0">
              <a:lnSpc>
                <a:spcPct val="90000"/>
              </a:lnSpc>
              <a:spcBef>
                <a:spcPts val="0"/>
              </a:spcBef>
              <a:buNone/>
              <a:defRPr sz="44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US" sz="4400" b="1"/>
              <a:t>CRTAM is a biomarker found in prostate cancer and was a major part of my undergraduate research.</a:t>
            </a:r>
            <a:endParaRPr/>
          </a:p>
        </p:txBody>
      </p:sp>
      <p:pic>
        <p:nvPicPr>
          <p:cNvPr id="1569956227" name="Picture 6" descr="Graphical user interface, text, application&#10;&#10;Description automatically generated"/>
          <p:cNvPicPr>
            <a:picLocks noChangeAspect="1"/>
          </p:cNvPicPr>
          <p:nvPr/>
        </p:nvPicPr>
        <p:blipFill rotWithShape="1">
          <a:blip r:embed="rId3"/>
          <a:srcRect l="0" t="6158" r="0" b="30978"/>
          <a:stretch/>
        </p:blipFill>
        <p:spPr bwMode="auto">
          <a:xfrm>
            <a:off x="73464" y="2090852"/>
            <a:ext cx="8997071" cy="353493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980025759" name="TextBox 3"/>
          <p:cNvSpPr txBox="1"/>
          <p:nvPr/>
        </p:nvSpPr>
        <p:spPr bwMode="auto">
          <a:xfrm>
            <a:off x="874316" y="5743765"/>
            <a:ext cx="2929050" cy="461665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2400"/>
              <a:t>Activate link to Entry</a:t>
            </a:r>
            <a:endParaRPr/>
          </a:p>
        </p:txBody>
      </p:sp>
      <p:grpSp>
        <p:nvGrpSpPr>
          <p:cNvPr id="1093519913" name="Group 5"/>
          <p:cNvGrpSpPr/>
          <p:nvPr/>
        </p:nvGrpSpPr>
        <p:grpSpPr bwMode="auto">
          <a:xfrm>
            <a:off x="1931648" y="3717976"/>
            <a:ext cx="822325" cy="1762128"/>
            <a:chOff x="2640" y="-486"/>
            <a:chExt cx="518" cy="1110"/>
          </a:xfrm>
        </p:grpSpPr>
        <p:cxnSp>
          <p:nvCxnSpPr>
            <p:cNvPr id="8" name="Straight Arrow Connector 7"/>
            <p:cNvCxnSpPr>
              <a:cxnSpLocks noChangeShapeType="1"/>
            </p:cNvCxnSpPr>
            <p:nvPr/>
          </p:nvCxnSpPr>
          <p:spPr bwMode="auto">
            <a:xfrm rot="16199999">
              <a:off x="2608" y="-199"/>
              <a:ext cx="576" cy="1"/>
            </a:xfrm>
            <a:prstGeom prst="straightConnector1">
              <a:avLst/>
            </a:prstGeom>
            <a:noFill/>
            <a:ln w="73025" algn="ctr">
              <a:solidFill>
                <a:srgbClr val="FF0000"/>
              </a:solidFill>
              <a:round/>
              <a:headEnd/>
              <a:tailEnd type="arrow" w="med" len="med"/>
            </a:ln>
          </p:spPr>
        </p:cxnSp>
        <p:sp>
          <p:nvSpPr>
            <p:cNvPr id="9" name="Oval 10"/>
            <p:cNvSpPr>
              <a:spLocks noChangeArrowheads="1"/>
            </p:cNvSpPr>
            <p:nvPr/>
          </p:nvSpPr>
          <p:spPr bwMode="auto">
            <a:xfrm rot="10800000" flipV="1">
              <a:off x="2640" y="96"/>
              <a:ext cx="518" cy="528"/>
            </a:xfrm>
            <a:prstGeom prst="ellipse">
              <a:avLst/>
            </a:prstGeom>
            <a:solidFill>
              <a:schemeClr val="bg1"/>
            </a:solidFill>
            <a:ln w="73025" algn="ctr">
              <a:solidFill>
                <a:srgbClr val="FF0000"/>
              </a:solidFill>
              <a:round/>
              <a:headEnd/>
              <a:tailEnd/>
            </a:ln>
          </p:spPr>
          <p:txBody>
            <a:bodyPr wrap="none"/>
            <a:lstStyle/>
            <a:p>
              <a:pPr algn="ctr">
                <a:defRPr/>
              </a:pPr>
              <a:r>
                <a:rPr lang="en-US" sz="3600" b="1">
                  <a:solidFill>
                    <a:srgbClr val="000000"/>
                  </a:solidFill>
                </a:rPr>
                <a:t>4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4492461" name="Slide Number Placeholder 1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144BBB-DA99-4FDF-9E1F-B5EEC68D5D7C}" type="slidenum">
              <a:rPr lang="es-ES_tradnl"/>
              <a:t>52</a:t>
            </a:fld>
            <a:endParaRPr lang="es-ES_tradnl"/>
          </a:p>
        </p:txBody>
      </p:sp>
      <p:sp>
        <p:nvSpPr>
          <p:cNvPr id="857001380" name="Title 1"/>
          <p:cNvSpPr txBox="1"/>
          <p:nvPr/>
        </p:nvSpPr>
        <p:spPr bwMode="auto">
          <a:xfrm>
            <a:off x="1" y="0"/>
            <a:ext cx="9144000" cy="1851103"/>
          </a:xfrm>
          <a:prstGeom prst="rect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txBody>
          <a:bodyPr>
            <a:noAutofit/>
          </a:bodyPr>
          <a:lstStyle>
            <a:lvl1pPr algn="ctr" defTabSz="914400" rtl="0">
              <a:lnSpc>
                <a:spcPct val="90000"/>
              </a:lnSpc>
              <a:spcBef>
                <a:spcPts val="0"/>
              </a:spcBef>
              <a:buNone/>
              <a:defRPr sz="44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US" sz="4400" b="1"/>
              <a:t>CRTAM is a biomarker found in prostate cancer and was a major part of my undergraduate research.</a:t>
            </a:r>
            <a:endParaRPr/>
          </a:p>
        </p:txBody>
      </p:sp>
      <p:pic>
        <p:nvPicPr>
          <p:cNvPr id="534697741" name="Picture 4" descr="Graphical user interface, text, application&#10;&#10;Description automatically generated"/>
          <p:cNvPicPr>
            <a:picLocks noChangeAspect="1"/>
          </p:cNvPicPr>
          <p:nvPr/>
        </p:nvPicPr>
        <p:blipFill rotWithShape="1">
          <a:blip r:embed="rId3"/>
          <a:srcRect l="4161" t="13298" r="4304" b="30924"/>
          <a:stretch/>
        </p:blipFill>
        <p:spPr bwMode="auto">
          <a:xfrm>
            <a:off x="172843" y="2101332"/>
            <a:ext cx="8798313" cy="348898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528579681" name="TextBox 8"/>
          <p:cNvSpPr txBox="1"/>
          <p:nvPr/>
        </p:nvSpPr>
        <p:spPr bwMode="auto">
          <a:xfrm>
            <a:off x="6042106" y="4193314"/>
            <a:ext cx="2929050" cy="461665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2400"/>
              <a:t>Scroll</a:t>
            </a:r>
            <a:endParaRPr/>
          </a:p>
        </p:txBody>
      </p:sp>
      <p:grpSp>
        <p:nvGrpSpPr>
          <p:cNvPr id="1198820689" name="Group 9"/>
          <p:cNvGrpSpPr/>
          <p:nvPr/>
        </p:nvGrpSpPr>
        <p:grpSpPr bwMode="auto">
          <a:xfrm rot="10800000">
            <a:off x="7095469" y="4808426"/>
            <a:ext cx="822325" cy="1762128"/>
            <a:chOff x="2640" y="-486"/>
            <a:chExt cx="518" cy="1110"/>
          </a:xfrm>
        </p:grpSpPr>
        <p:cxnSp>
          <p:nvCxnSpPr>
            <p:cNvPr id="11" name="Straight Arrow Connector 10"/>
            <p:cNvCxnSpPr>
              <a:cxnSpLocks noChangeShapeType="1"/>
            </p:cNvCxnSpPr>
            <p:nvPr/>
          </p:nvCxnSpPr>
          <p:spPr bwMode="auto">
            <a:xfrm rot="16199999">
              <a:off x="2608" y="-199"/>
              <a:ext cx="576" cy="1"/>
            </a:xfrm>
            <a:prstGeom prst="straightConnector1">
              <a:avLst/>
            </a:prstGeom>
            <a:noFill/>
            <a:ln w="73025" algn="ctr">
              <a:solidFill>
                <a:srgbClr val="FF0000"/>
              </a:solidFill>
              <a:round/>
              <a:headEnd/>
              <a:tailEnd type="arrow" w="med" len="med"/>
            </a:ln>
          </p:spPr>
        </p:cxnSp>
        <p:sp>
          <p:nvSpPr>
            <p:cNvPr id="12" name="Oval 10"/>
            <p:cNvSpPr>
              <a:spLocks noChangeArrowheads="1"/>
            </p:cNvSpPr>
            <p:nvPr/>
          </p:nvSpPr>
          <p:spPr bwMode="auto">
            <a:xfrm flipV="1">
              <a:off x="2640" y="96"/>
              <a:ext cx="518" cy="528"/>
            </a:xfrm>
            <a:prstGeom prst="ellipse">
              <a:avLst/>
            </a:prstGeom>
            <a:solidFill>
              <a:schemeClr val="bg1"/>
            </a:solidFill>
            <a:ln w="73025" algn="ctr">
              <a:solidFill>
                <a:srgbClr val="FF0000"/>
              </a:solidFill>
              <a:round/>
              <a:headEnd/>
              <a:tailEnd/>
            </a:ln>
          </p:spPr>
          <p:txBody>
            <a:bodyPr wrap="none"/>
            <a:lstStyle/>
            <a:p>
              <a:pPr algn="ctr">
                <a:defRPr/>
              </a:pPr>
              <a:r>
                <a:rPr lang="en-US" sz="3600" b="1">
                  <a:solidFill>
                    <a:srgbClr val="000000"/>
                  </a:solidFill>
                </a:rPr>
                <a:t>5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5647316" name="Slide Number Placeholder 1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144BBB-DA99-4FDF-9E1F-B5EEC68D5D7C}" type="slidenum">
              <a:rPr lang="es-ES_tradnl"/>
              <a:t>53</a:t>
            </a:fld>
            <a:endParaRPr lang="es-ES_tradnl"/>
          </a:p>
        </p:txBody>
      </p:sp>
      <p:sp>
        <p:nvSpPr>
          <p:cNvPr id="1780326888" name="Title 1"/>
          <p:cNvSpPr txBox="1"/>
          <p:nvPr/>
        </p:nvSpPr>
        <p:spPr bwMode="auto">
          <a:xfrm>
            <a:off x="1" y="0"/>
            <a:ext cx="9144000" cy="1851103"/>
          </a:xfrm>
          <a:prstGeom prst="rect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txBody>
          <a:bodyPr>
            <a:noAutofit/>
          </a:bodyPr>
          <a:lstStyle>
            <a:lvl1pPr algn="ctr" defTabSz="914400" rtl="0">
              <a:lnSpc>
                <a:spcPct val="90000"/>
              </a:lnSpc>
              <a:spcBef>
                <a:spcPts val="0"/>
              </a:spcBef>
              <a:buNone/>
              <a:defRPr sz="44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US" sz="4400" b="1"/>
              <a:t>CRTAM is a biomarker found in prostate cancer and was a major part of my undergraduate research.</a:t>
            </a:r>
            <a:endParaRPr/>
          </a:p>
        </p:txBody>
      </p:sp>
      <p:pic>
        <p:nvPicPr>
          <p:cNvPr id="727148793" name="Picture 5" descr="Graphical user interface, application&#10;&#10;Description automatically generated"/>
          <p:cNvPicPr>
            <a:picLocks noChangeAspect="1"/>
          </p:cNvPicPr>
          <p:nvPr/>
        </p:nvPicPr>
        <p:blipFill rotWithShape="1">
          <a:blip r:embed="rId3"/>
          <a:srcRect l="4304" t="38711" r="17468" b="32188"/>
          <a:stretch/>
        </p:blipFill>
        <p:spPr bwMode="auto">
          <a:xfrm>
            <a:off x="150036" y="2364055"/>
            <a:ext cx="8843928" cy="214103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614552302" name="TextBox 6"/>
          <p:cNvSpPr txBox="1"/>
          <p:nvPr/>
        </p:nvSpPr>
        <p:spPr bwMode="auto">
          <a:xfrm>
            <a:off x="2056345" y="5933336"/>
            <a:ext cx="2929050" cy="461665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2400"/>
              <a:t>Activate link to EMBL</a:t>
            </a:r>
            <a:endParaRPr/>
          </a:p>
        </p:txBody>
      </p:sp>
      <p:grpSp>
        <p:nvGrpSpPr>
          <p:cNvPr id="1460102231" name="Group 8"/>
          <p:cNvGrpSpPr/>
          <p:nvPr/>
        </p:nvGrpSpPr>
        <p:grpSpPr bwMode="auto">
          <a:xfrm>
            <a:off x="3113677" y="3907547"/>
            <a:ext cx="822325" cy="1762128"/>
            <a:chOff x="2640" y="-486"/>
            <a:chExt cx="518" cy="1110"/>
          </a:xfrm>
        </p:grpSpPr>
        <p:cxnSp>
          <p:nvCxnSpPr>
            <p:cNvPr id="10" name="Straight Arrow Connector 9"/>
            <p:cNvCxnSpPr>
              <a:cxnSpLocks noChangeShapeType="1"/>
            </p:cNvCxnSpPr>
            <p:nvPr/>
          </p:nvCxnSpPr>
          <p:spPr bwMode="auto">
            <a:xfrm rot="16199999">
              <a:off x="2608" y="-199"/>
              <a:ext cx="576" cy="1"/>
            </a:xfrm>
            <a:prstGeom prst="straightConnector1">
              <a:avLst/>
            </a:prstGeom>
            <a:noFill/>
            <a:ln w="73025" algn="ctr">
              <a:solidFill>
                <a:srgbClr val="FF0000"/>
              </a:solidFill>
              <a:round/>
              <a:headEnd/>
              <a:tailEnd type="arrow" w="med" len="med"/>
            </a:ln>
          </p:spPr>
        </p:cxnSp>
        <p:sp>
          <p:nvSpPr>
            <p:cNvPr id="11" name="Oval 10"/>
            <p:cNvSpPr>
              <a:spLocks noChangeArrowheads="1"/>
            </p:cNvSpPr>
            <p:nvPr/>
          </p:nvSpPr>
          <p:spPr bwMode="auto">
            <a:xfrm rot="10800000" flipV="1">
              <a:off x="2640" y="96"/>
              <a:ext cx="518" cy="528"/>
            </a:xfrm>
            <a:prstGeom prst="ellipse">
              <a:avLst/>
            </a:prstGeom>
            <a:solidFill>
              <a:schemeClr val="bg1"/>
            </a:solidFill>
            <a:ln w="73025" algn="ctr">
              <a:solidFill>
                <a:srgbClr val="FF0000"/>
              </a:solidFill>
              <a:round/>
              <a:headEnd/>
              <a:tailEnd/>
            </a:ln>
          </p:spPr>
          <p:txBody>
            <a:bodyPr wrap="none"/>
            <a:lstStyle/>
            <a:p>
              <a:pPr algn="ctr">
                <a:defRPr/>
              </a:pPr>
              <a:r>
                <a:rPr lang="en-US" sz="3600" b="1">
                  <a:solidFill>
                    <a:srgbClr val="000000"/>
                  </a:solidFill>
                </a:rPr>
                <a:t>6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391071" name="Slide Number Placeholder 1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144BBB-DA99-4FDF-9E1F-B5EEC68D5D7C}" type="slidenum">
              <a:rPr lang="es-ES_tradnl"/>
              <a:t>54</a:t>
            </a:fld>
            <a:endParaRPr lang="es-ES_tradnl"/>
          </a:p>
        </p:txBody>
      </p:sp>
      <p:sp>
        <p:nvSpPr>
          <p:cNvPr id="310128457" name="Title 1"/>
          <p:cNvSpPr txBox="1"/>
          <p:nvPr/>
        </p:nvSpPr>
        <p:spPr bwMode="auto">
          <a:xfrm>
            <a:off x="1" y="0"/>
            <a:ext cx="9144000" cy="1851103"/>
          </a:xfrm>
          <a:prstGeom prst="rect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txBody>
          <a:bodyPr>
            <a:noAutofit/>
          </a:bodyPr>
          <a:lstStyle>
            <a:lvl1pPr algn="ctr" defTabSz="914400" rtl="0">
              <a:lnSpc>
                <a:spcPct val="90000"/>
              </a:lnSpc>
              <a:spcBef>
                <a:spcPts val="0"/>
              </a:spcBef>
              <a:buNone/>
              <a:defRPr sz="44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US" sz="4400" b="1"/>
              <a:t>CRTAM is a biomarker found in prostate cancer and was a major part of my undergraduate research.</a:t>
            </a:r>
            <a:endParaRPr/>
          </a:p>
        </p:txBody>
      </p:sp>
      <p:pic>
        <p:nvPicPr>
          <p:cNvPr id="1630486812" name="Picture 4" descr="A screenshot of a computer&#10;&#10;Description automatically generated"/>
          <p:cNvPicPr>
            <a:picLocks noChangeAspect="1"/>
          </p:cNvPicPr>
          <p:nvPr/>
        </p:nvPicPr>
        <p:blipFill rotWithShape="1">
          <a:blip r:embed="rId3"/>
          <a:srcRect l="5023" t="16768" r="5738" b="15361"/>
          <a:stretch/>
        </p:blipFill>
        <p:spPr bwMode="auto">
          <a:xfrm>
            <a:off x="356793" y="2174488"/>
            <a:ext cx="8430414" cy="417256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708445773" name="TextBox 6"/>
          <p:cNvSpPr txBox="1"/>
          <p:nvPr/>
        </p:nvSpPr>
        <p:spPr bwMode="auto">
          <a:xfrm>
            <a:off x="5117950" y="5885387"/>
            <a:ext cx="2929050" cy="461665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2400"/>
              <a:t>Activate link to FASTA</a:t>
            </a:r>
            <a:endParaRPr/>
          </a:p>
        </p:txBody>
      </p:sp>
      <p:grpSp>
        <p:nvGrpSpPr>
          <p:cNvPr id="1094106487" name="Group 7"/>
          <p:cNvGrpSpPr/>
          <p:nvPr/>
        </p:nvGrpSpPr>
        <p:grpSpPr bwMode="auto">
          <a:xfrm rot="1295833">
            <a:off x="7139268" y="3993891"/>
            <a:ext cx="822325" cy="1762128"/>
            <a:chOff x="2640" y="-486"/>
            <a:chExt cx="518" cy="1110"/>
          </a:xfrm>
        </p:grpSpPr>
        <p:cxnSp>
          <p:nvCxnSpPr>
            <p:cNvPr id="9" name="Straight Arrow Connector 8"/>
            <p:cNvCxnSpPr>
              <a:cxnSpLocks noChangeShapeType="1"/>
            </p:cNvCxnSpPr>
            <p:nvPr/>
          </p:nvCxnSpPr>
          <p:spPr bwMode="auto">
            <a:xfrm rot="16199999">
              <a:off x="2608" y="-199"/>
              <a:ext cx="576" cy="1"/>
            </a:xfrm>
            <a:prstGeom prst="straightConnector1">
              <a:avLst/>
            </a:prstGeom>
            <a:noFill/>
            <a:ln w="73025" algn="ctr">
              <a:solidFill>
                <a:srgbClr val="FF0000"/>
              </a:solidFill>
              <a:round/>
              <a:headEnd/>
              <a:tailEnd type="arrow" w="med" len="med"/>
            </a:ln>
          </p:spPr>
        </p:cxnSp>
        <p:sp>
          <p:nvSpPr>
            <p:cNvPr id="10" name="Oval 9"/>
            <p:cNvSpPr>
              <a:spLocks noChangeArrowheads="1"/>
            </p:cNvSpPr>
            <p:nvPr/>
          </p:nvSpPr>
          <p:spPr bwMode="auto">
            <a:xfrm rot="9504167" flipV="1">
              <a:off x="2640" y="96"/>
              <a:ext cx="518" cy="528"/>
            </a:xfrm>
            <a:prstGeom prst="ellipse">
              <a:avLst/>
            </a:prstGeom>
            <a:solidFill>
              <a:schemeClr val="bg1"/>
            </a:solidFill>
            <a:ln w="73025" algn="ctr">
              <a:solidFill>
                <a:srgbClr val="FF0000"/>
              </a:solidFill>
              <a:round/>
              <a:headEnd/>
              <a:tailEnd/>
            </a:ln>
          </p:spPr>
          <p:txBody>
            <a:bodyPr wrap="none"/>
            <a:lstStyle/>
            <a:p>
              <a:pPr algn="ctr">
                <a:defRPr/>
              </a:pPr>
              <a:r>
                <a:rPr lang="en-US" sz="3600" b="1">
                  <a:solidFill>
                    <a:srgbClr val="000000"/>
                  </a:solidFill>
                </a:rPr>
                <a:t>6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6841823" name="Slide Number Placeholder 1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144BBB-DA99-4FDF-9E1F-B5EEC68D5D7C}" type="slidenum">
              <a:rPr lang="es-ES_tradnl"/>
              <a:t>55</a:t>
            </a:fld>
            <a:endParaRPr lang="es-ES_tradnl"/>
          </a:p>
        </p:txBody>
      </p:sp>
      <p:sp>
        <p:nvSpPr>
          <p:cNvPr id="1041764768" name="Title 1"/>
          <p:cNvSpPr txBox="1"/>
          <p:nvPr/>
        </p:nvSpPr>
        <p:spPr bwMode="auto">
          <a:xfrm>
            <a:off x="1" y="0"/>
            <a:ext cx="9144000" cy="1851103"/>
          </a:xfrm>
          <a:prstGeom prst="rect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txBody>
          <a:bodyPr>
            <a:noAutofit/>
          </a:bodyPr>
          <a:lstStyle>
            <a:lvl1pPr algn="ctr" defTabSz="914400" rtl="0">
              <a:lnSpc>
                <a:spcPct val="90000"/>
              </a:lnSpc>
              <a:spcBef>
                <a:spcPts val="0"/>
              </a:spcBef>
              <a:buNone/>
              <a:defRPr sz="44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US" sz="4400" b="1"/>
              <a:t>CRTAM is a biomarker found in prostate cancer and was a major part of my undergraduate research.</a:t>
            </a:r>
            <a:endParaRPr/>
          </a:p>
        </p:txBody>
      </p:sp>
      <p:pic>
        <p:nvPicPr>
          <p:cNvPr id="39014194" name="Picture 5" descr="Text&#10;&#10;Description automatically generated with medium confidence"/>
          <p:cNvPicPr>
            <a:picLocks noChangeAspect="1"/>
          </p:cNvPicPr>
          <p:nvPr/>
        </p:nvPicPr>
        <p:blipFill rotWithShape="1">
          <a:blip r:embed="rId3"/>
          <a:srcRect l="3820" t="12249" r="33626" b="36303"/>
          <a:stretch/>
        </p:blipFill>
        <p:spPr bwMode="auto">
          <a:xfrm>
            <a:off x="330286" y="1996069"/>
            <a:ext cx="8104281" cy="433782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77881234" name="TextBox 6"/>
          <p:cNvSpPr txBox="1"/>
          <p:nvPr/>
        </p:nvSpPr>
        <p:spPr bwMode="auto">
          <a:xfrm>
            <a:off x="6467245" y="3617267"/>
            <a:ext cx="2397971" cy="461665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2400"/>
              <a:t>Copy Sequence</a:t>
            </a:r>
            <a:endParaRPr/>
          </a:p>
        </p:txBody>
      </p:sp>
      <p:grpSp>
        <p:nvGrpSpPr>
          <p:cNvPr id="911168896" name="Group 7"/>
          <p:cNvGrpSpPr/>
          <p:nvPr/>
        </p:nvGrpSpPr>
        <p:grpSpPr bwMode="auto">
          <a:xfrm rot="16199999">
            <a:off x="4994484" y="2971004"/>
            <a:ext cx="838200" cy="1754191"/>
            <a:chOff x="2635" y="-486"/>
            <a:chExt cx="528" cy="1105"/>
          </a:xfrm>
        </p:grpSpPr>
        <p:cxnSp>
          <p:nvCxnSpPr>
            <p:cNvPr id="9" name="Straight Arrow Connector 8"/>
            <p:cNvCxnSpPr>
              <a:cxnSpLocks noChangeShapeType="1"/>
            </p:cNvCxnSpPr>
            <p:nvPr/>
          </p:nvCxnSpPr>
          <p:spPr bwMode="auto">
            <a:xfrm rot="16199999">
              <a:off x="2608" y="-199"/>
              <a:ext cx="576" cy="1"/>
            </a:xfrm>
            <a:prstGeom prst="straightConnector1">
              <a:avLst/>
            </a:prstGeom>
            <a:noFill/>
            <a:ln w="73025" algn="ctr">
              <a:solidFill>
                <a:srgbClr val="FF0000"/>
              </a:solidFill>
              <a:round/>
              <a:headEnd/>
              <a:tailEnd type="arrow" w="med" len="med"/>
            </a:ln>
          </p:spPr>
        </p:cxnSp>
        <p:sp>
          <p:nvSpPr>
            <p:cNvPr id="10" name="Oval 9"/>
            <p:cNvSpPr>
              <a:spLocks noChangeArrowheads="1"/>
            </p:cNvSpPr>
            <p:nvPr/>
          </p:nvSpPr>
          <p:spPr bwMode="auto">
            <a:xfrm rot="16199999" flipV="1">
              <a:off x="2640" y="96"/>
              <a:ext cx="518" cy="528"/>
            </a:xfrm>
            <a:prstGeom prst="ellipse">
              <a:avLst/>
            </a:prstGeom>
            <a:solidFill>
              <a:schemeClr val="bg1"/>
            </a:solidFill>
            <a:ln w="73025" algn="ctr">
              <a:solidFill>
                <a:srgbClr val="FF0000"/>
              </a:solidFill>
              <a:round/>
              <a:headEnd/>
              <a:tailEnd/>
            </a:ln>
          </p:spPr>
          <p:txBody>
            <a:bodyPr wrap="none"/>
            <a:lstStyle/>
            <a:p>
              <a:pPr algn="ctr">
                <a:defRPr/>
              </a:pPr>
              <a:r>
                <a:rPr lang="en-US" sz="3600" b="1">
                  <a:solidFill>
                    <a:srgbClr val="000000"/>
                  </a:solidFill>
                </a:rPr>
                <a:t>7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0911572" name="Slide Number Placeholder 1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144BBB-DA99-4FDF-9E1F-B5EEC68D5D7C}" type="slidenum">
              <a:rPr lang="es-ES_tradnl"/>
              <a:t>56</a:t>
            </a:fld>
            <a:endParaRPr lang="es-ES_tradnl"/>
          </a:p>
        </p:txBody>
      </p:sp>
      <p:sp>
        <p:nvSpPr>
          <p:cNvPr id="1748946647" name="Title 1"/>
          <p:cNvSpPr txBox="1"/>
          <p:nvPr/>
        </p:nvSpPr>
        <p:spPr bwMode="auto">
          <a:xfrm>
            <a:off x="1" y="0"/>
            <a:ext cx="9144000" cy="1851103"/>
          </a:xfrm>
          <a:prstGeom prst="rect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txBody>
          <a:bodyPr>
            <a:noAutofit/>
          </a:bodyPr>
          <a:lstStyle>
            <a:lvl1pPr algn="ctr" defTabSz="914400" rtl="0">
              <a:lnSpc>
                <a:spcPct val="90000"/>
              </a:lnSpc>
              <a:spcBef>
                <a:spcPts val="0"/>
              </a:spcBef>
              <a:buNone/>
              <a:defRPr sz="44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US" sz="4400" b="1"/>
              <a:t>CRTAM is a biomarker found in prostate cancer and was a major part of my undergraduate research.</a:t>
            </a:r>
            <a:endParaRPr/>
          </a:p>
        </p:txBody>
      </p:sp>
      <p:pic>
        <p:nvPicPr>
          <p:cNvPr id="1271557442" name="Picture 4" descr="Graphical user interface, text, application&#10;&#10;Description automatically generated"/>
          <p:cNvPicPr>
            <a:picLocks noChangeAspect="1"/>
          </p:cNvPicPr>
          <p:nvPr/>
        </p:nvPicPr>
        <p:blipFill rotWithShape="1">
          <a:blip r:embed="rId3"/>
          <a:srcRect l="25252" t="23362" r="27976" b="23150"/>
          <a:stretch/>
        </p:blipFill>
        <p:spPr bwMode="auto">
          <a:xfrm>
            <a:off x="1279950" y="1984918"/>
            <a:ext cx="6584099" cy="470581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83599680" name="TextBox 5"/>
          <p:cNvSpPr txBox="1"/>
          <p:nvPr/>
        </p:nvSpPr>
        <p:spPr bwMode="auto">
          <a:xfrm>
            <a:off x="185039" y="4200732"/>
            <a:ext cx="2397971" cy="1200329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2400"/>
              <a:t>Assign sequence to variable as a string</a:t>
            </a:r>
            <a:endParaRPr/>
          </a:p>
        </p:txBody>
      </p:sp>
      <p:grpSp>
        <p:nvGrpSpPr>
          <p:cNvPr id="283445892" name="Group 6"/>
          <p:cNvGrpSpPr/>
          <p:nvPr/>
        </p:nvGrpSpPr>
        <p:grpSpPr bwMode="auto">
          <a:xfrm rot="1261676">
            <a:off x="976831" y="2276338"/>
            <a:ext cx="822325" cy="1762128"/>
            <a:chOff x="2640" y="-486"/>
            <a:chExt cx="518" cy="1110"/>
          </a:xfrm>
        </p:grpSpPr>
        <p:cxnSp>
          <p:nvCxnSpPr>
            <p:cNvPr id="8" name="Straight Arrow Connector 7"/>
            <p:cNvCxnSpPr>
              <a:cxnSpLocks noChangeShapeType="1"/>
            </p:cNvCxnSpPr>
            <p:nvPr/>
          </p:nvCxnSpPr>
          <p:spPr bwMode="auto">
            <a:xfrm rot="16199999">
              <a:off x="2608" y="-199"/>
              <a:ext cx="576" cy="1"/>
            </a:xfrm>
            <a:prstGeom prst="straightConnector1">
              <a:avLst/>
            </a:prstGeom>
            <a:noFill/>
            <a:ln w="73025" algn="ctr">
              <a:solidFill>
                <a:srgbClr val="FF0000"/>
              </a:solidFill>
              <a:round/>
              <a:headEnd/>
              <a:tailEnd type="arrow" w="med" len="med"/>
            </a:ln>
          </p:spPr>
        </p:cxnSp>
        <p:sp>
          <p:nvSpPr>
            <p:cNvPr id="9" name="Oval 8"/>
            <p:cNvSpPr>
              <a:spLocks noChangeArrowheads="1"/>
            </p:cNvSpPr>
            <p:nvPr/>
          </p:nvSpPr>
          <p:spPr bwMode="auto">
            <a:xfrm rot="9538324" flipV="1">
              <a:off x="2640" y="96"/>
              <a:ext cx="518" cy="528"/>
            </a:xfrm>
            <a:prstGeom prst="ellipse">
              <a:avLst/>
            </a:prstGeom>
            <a:solidFill>
              <a:schemeClr val="bg1"/>
            </a:solidFill>
            <a:ln w="73025" algn="ctr">
              <a:solidFill>
                <a:srgbClr val="FF0000"/>
              </a:solidFill>
              <a:round/>
              <a:headEnd/>
              <a:tailEnd/>
            </a:ln>
          </p:spPr>
          <p:txBody>
            <a:bodyPr wrap="none"/>
            <a:lstStyle/>
            <a:p>
              <a:pPr algn="ctr">
                <a:defRPr/>
              </a:pPr>
              <a:r>
                <a:rPr lang="en-US" sz="3600" b="1">
                  <a:solidFill>
                    <a:srgbClr val="000000"/>
                  </a:solidFill>
                </a:rPr>
                <a:t>8</a:t>
              </a:r>
              <a:endParaRPr/>
            </a:p>
          </p:txBody>
        </p:sp>
      </p:grpSp>
      <p:sp>
        <p:nvSpPr>
          <p:cNvPr id="56589031" name="TextBox 9"/>
          <p:cNvSpPr txBox="1"/>
          <p:nvPr/>
        </p:nvSpPr>
        <p:spPr bwMode="auto">
          <a:xfrm>
            <a:off x="6287328" y="4568863"/>
            <a:ext cx="2398644" cy="1569660"/>
          </a:xfrm>
          <a:prstGeom prst="rect">
            <a:avLst/>
          </a:prstGeom>
          <a:solidFill>
            <a:schemeClr val="bg1"/>
          </a:solidFill>
          <a:effectLst>
            <a:outerShdw blurRad="50800" dist="76200" dir="2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2400" b="1">
                <a:solidFill>
                  <a:srgbClr val="FF0000"/>
                </a:solidFill>
              </a:rPr>
              <a:t>Note:</a:t>
            </a:r>
            <a:r>
              <a:rPr lang="en-US" sz="2400" b="1"/>
              <a:t> Use triple quotations to fit the sequence in a block of code</a:t>
            </a:r>
            <a:endParaRPr lang="en-US" sz="2400" b="1">
              <a:solidFill>
                <a:srgbClr val="92D05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814592" name="Title 1"/>
          <p:cNvSpPr txBox="1"/>
          <p:nvPr/>
        </p:nvSpPr>
        <p:spPr bwMode="auto">
          <a:xfrm>
            <a:off x="0" y="1"/>
            <a:ext cx="9144000" cy="1282389"/>
          </a:xfrm>
          <a:prstGeom prst="rect">
            <a:avLst/>
          </a:prstGeom>
          <a:solidFill>
            <a:srgbClr val="FFFFFF"/>
          </a:solidFill>
          <a:ln w="76200">
            <a:solidFill>
              <a:srgbClr val="FF0000"/>
            </a:solidFill>
          </a:ln>
        </p:spPr>
        <p:txBody>
          <a:bodyPr anchor="ctr">
            <a:noAutofit/>
          </a:bodyPr>
          <a:lstStyle>
            <a:lvl1pPr algn="ctr" defTabSz="914400" rtl="0">
              <a:lnSpc>
                <a:spcPct val="90000"/>
              </a:lnSpc>
              <a:spcBef>
                <a:spcPts val="0"/>
              </a:spcBef>
              <a:buNone/>
              <a:defRPr sz="44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3600">
                <a:latin typeface="Times New Roman"/>
                <a:cs typeface="Times New Roman"/>
              </a:rPr>
              <a:t>Using the functions that you have learned, get to know the CRTAM DNA sequence.</a:t>
            </a:r>
            <a:endParaRPr lang="en-US" sz="3600"/>
          </a:p>
        </p:txBody>
      </p:sp>
      <p:sp>
        <p:nvSpPr>
          <p:cNvPr id="1680242234" name="Slide Number Placeholder 1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144BBB-DA99-4FDF-9E1F-B5EEC68D5D7C}" type="slidenum">
              <a:rPr lang="es-ES_tradnl"/>
              <a:t>57</a:t>
            </a:fld>
            <a:endParaRPr lang="es-ES_tradnl"/>
          </a:p>
        </p:txBody>
      </p:sp>
      <p:sp>
        <p:nvSpPr>
          <p:cNvPr id="913109721" name="TextBox 4"/>
          <p:cNvSpPr txBox="1"/>
          <p:nvPr/>
        </p:nvSpPr>
        <p:spPr bwMode="auto">
          <a:xfrm>
            <a:off x="771813" y="1507934"/>
            <a:ext cx="76003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/>
              <a:t>Answer the following questions </a:t>
            </a:r>
            <a:r>
              <a:rPr lang="en-US" sz="2400">
                <a:solidFill>
                  <a:srgbClr val="FF0000"/>
                </a:solidFill>
              </a:rPr>
              <a:t>using complete sentences</a:t>
            </a:r>
            <a:r>
              <a:rPr lang="en-US" sz="2400"/>
              <a:t>:</a:t>
            </a:r>
            <a:endParaRPr/>
          </a:p>
          <a:p>
            <a:pPr marL="285750" indent="-285750">
              <a:buFont typeface="Arial"/>
              <a:buChar char="•"/>
              <a:defRPr/>
            </a:pPr>
            <a:r>
              <a:rPr lang="en-US" sz="2400"/>
              <a:t>What is the length of the CRTAM DNA sequence? </a:t>
            </a:r>
            <a:endParaRPr/>
          </a:p>
          <a:p>
            <a:pPr marL="285750" indent="-285750">
              <a:buFont typeface="Arial"/>
              <a:buChar char="•"/>
              <a:defRPr/>
            </a:pPr>
            <a:r>
              <a:rPr lang="en-US" sz="2400"/>
              <a:t>How many Adenines are in your sequence?</a:t>
            </a:r>
            <a:endParaRPr/>
          </a:p>
        </p:txBody>
      </p:sp>
      <p:pic>
        <p:nvPicPr>
          <p:cNvPr id="1003761327" name="Picture 6" descr="A screenshot of a computer&#10;&#10;Description automatically generated with low confidence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31850" y="2933807"/>
            <a:ext cx="7480299" cy="2463800"/>
          </a:xfrm>
          <a:prstGeom prst="rect">
            <a:avLst/>
          </a:prstGeom>
        </p:spPr>
      </p:pic>
      <p:sp>
        <p:nvSpPr>
          <p:cNvPr id="2132955732" name="Rectangle 8"/>
          <p:cNvSpPr/>
          <p:nvPr/>
        </p:nvSpPr>
        <p:spPr bwMode="auto">
          <a:xfrm>
            <a:off x="831849" y="2933806"/>
            <a:ext cx="7540337" cy="2416259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3600" b="1">
                <a:solidFill>
                  <a:srgbClr val="FF0000"/>
                </a:solidFill>
              </a:rPr>
              <a:t>Answer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2184891" name="Title 1"/>
          <p:cNvSpPr txBox="1"/>
          <p:nvPr/>
        </p:nvSpPr>
        <p:spPr bwMode="auto">
          <a:xfrm>
            <a:off x="0" y="1"/>
            <a:ext cx="9144000" cy="1282389"/>
          </a:xfrm>
          <a:prstGeom prst="rect">
            <a:avLst/>
          </a:prstGeom>
          <a:solidFill>
            <a:srgbClr val="FFFFFF"/>
          </a:solidFill>
          <a:ln w="76200">
            <a:solidFill>
              <a:srgbClr val="FF0000"/>
            </a:solidFill>
          </a:ln>
        </p:spPr>
        <p:txBody>
          <a:bodyPr anchor="ctr">
            <a:noAutofit/>
          </a:bodyPr>
          <a:lstStyle>
            <a:lvl1pPr algn="ctr" defTabSz="914400" rtl="0">
              <a:lnSpc>
                <a:spcPct val="90000"/>
              </a:lnSpc>
              <a:spcBef>
                <a:spcPts val="0"/>
              </a:spcBef>
              <a:buNone/>
              <a:defRPr sz="44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3600">
                <a:latin typeface="Times New Roman"/>
                <a:cs typeface="Times New Roman"/>
              </a:rPr>
              <a:t>Using the functions that you have learned, get to know the CRTAM DNA sequence.</a:t>
            </a:r>
            <a:endParaRPr lang="en-US" sz="3600"/>
          </a:p>
        </p:txBody>
      </p:sp>
      <p:sp>
        <p:nvSpPr>
          <p:cNvPr id="1497093016" name="Slide Number Placeholder 1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144BBB-DA99-4FDF-9E1F-B5EEC68D5D7C}" type="slidenum">
              <a:rPr lang="es-ES_tradnl"/>
              <a:t>58</a:t>
            </a:fld>
            <a:endParaRPr lang="es-ES_tradnl"/>
          </a:p>
        </p:txBody>
      </p:sp>
      <p:sp>
        <p:nvSpPr>
          <p:cNvPr id="1507799651" name="TextBox 4"/>
          <p:cNvSpPr txBox="1"/>
          <p:nvPr/>
        </p:nvSpPr>
        <p:spPr bwMode="auto">
          <a:xfrm>
            <a:off x="771813" y="1507934"/>
            <a:ext cx="76003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400"/>
              <a:t>Answer the following questions </a:t>
            </a:r>
            <a:r>
              <a:rPr lang="en-US" sz="2400">
                <a:solidFill>
                  <a:srgbClr val="FF0000"/>
                </a:solidFill>
              </a:rPr>
              <a:t>using complete sentences</a:t>
            </a:r>
            <a:r>
              <a:rPr lang="en-US" sz="2400"/>
              <a:t>:</a:t>
            </a:r>
            <a:endParaRPr/>
          </a:p>
          <a:p>
            <a:pPr marL="285750" indent="-285750">
              <a:buFont typeface="Arial"/>
              <a:buChar char="•"/>
              <a:defRPr/>
            </a:pPr>
            <a:r>
              <a:rPr lang="en-US" sz="2400"/>
              <a:t>What is the length of the CRTAM DNA sequence? </a:t>
            </a:r>
            <a:endParaRPr/>
          </a:p>
          <a:p>
            <a:pPr marL="285750" indent="-285750">
              <a:buFont typeface="Arial"/>
              <a:buChar char="•"/>
              <a:defRPr/>
            </a:pPr>
            <a:r>
              <a:rPr lang="en-US" sz="2400"/>
              <a:t>How many Adenines are in your sequence?</a:t>
            </a:r>
            <a:endParaRPr/>
          </a:p>
        </p:txBody>
      </p:sp>
      <p:pic>
        <p:nvPicPr>
          <p:cNvPr id="657116676" name="Picture 6" descr="A screenshot of a computer&#10;&#10;Description automatically generated with low confidence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31850" y="2933807"/>
            <a:ext cx="7480299" cy="2463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8617514" name="Title 1"/>
          <p:cNvSpPr txBox="1"/>
          <p:nvPr/>
        </p:nvSpPr>
        <p:spPr bwMode="auto">
          <a:xfrm>
            <a:off x="0" y="1"/>
            <a:ext cx="9144000" cy="1282389"/>
          </a:xfrm>
          <a:prstGeom prst="rect">
            <a:avLst/>
          </a:prstGeom>
          <a:solidFill>
            <a:srgbClr val="FFFFFF"/>
          </a:solidFill>
          <a:ln w="76200">
            <a:solidFill>
              <a:srgbClr val="FF0000"/>
            </a:solidFill>
          </a:ln>
        </p:spPr>
        <p:txBody>
          <a:bodyPr>
            <a:noAutofit/>
          </a:bodyPr>
          <a:lstStyle>
            <a:lvl1pPr algn="ctr" defTabSz="914400" rtl="0">
              <a:lnSpc>
                <a:spcPct val="90000"/>
              </a:lnSpc>
              <a:spcBef>
                <a:spcPts val="0"/>
              </a:spcBef>
              <a:buNone/>
              <a:defRPr sz="44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4100">
                <a:latin typeface="Times New Roman"/>
                <a:cs typeface="Times New Roman"/>
              </a:rPr>
              <a:t>Let’s find the GC content of the CRTAM DNA sequence.</a:t>
            </a:r>
            <a:endParaRPr lang="en-US" sz="4100"/>
          </a:p>
        </p:txBody>
      </p:sp>
      <p:sp>
        <p:nvSpPr>
          <p:cNvPr id="1833352648" name="Slide Number Placeholder 1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144BBB-DA99-4FDF-9E1F-B5EEC68D5D7C}" type="slidenum">
              <a:rPr lang="es-ES_tradnl"/>
              <a:t>59</a:t>
            </a:fld>
            <a:endParaRPr lang="es-ES_tradnl"/>
          </a:p>
        </p:txBody>
      </p:sp>
      <p:grpSp>
        <p:nvGrpSpPr>
          <p:cNvPr id="1490968989" name="Group 13"/>
          <p:cNvGrpSpPr/>
          <p:nvPr/>
        </p:nvGrpSpPr>
        <p:grpSpPr bwMode="auto">
          <a:xfrm>
            <a:off x="992458" y="1616110"/>
            <a:ext cx="7248292" cy="2082346"/>
            <a:chOff x="992458" y="1530650"/>
            <a:chExt cx="7248292" cy="2082346"/>
          </a:xfrm>
        </p:grpSpPr>
        <p:sp>
          <p:nvSpPr>
            <p:cNvPr id="15" name="TextBox 14"/>
            <p:cNvSpPr txBox="1"/>
            <p:nvPr/>
          </p:nvSpPr>
          <p:spPr bwMode="auto">
            <a:xfrm>
              <a:off x="2839279" y="1597914"/>
              <a:ext cx="5401471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US" b="1" u="sng"/>
                <a:t>GC content</a:t>
              </a:r>
              <a:endParaRPr/>
            </a:p>
            <a:p>
              <a:pPr marL="285750" indent="-285750">
                <a:buFont typeface="Arial"/>
                <a:buChar char="•"/>
                <a:defRPr/>
              </a:pPr>
              <a:r>
                <a:rPr lang="en-US"/>
                <a:t>The percentage of the proportion of guanines and cytosines to the total length of the DNA sequence. </a:t>
              </a:r>
              <a:endParaRPr/>
            </a:p>
            <a:p>
              <a:pPr marL="285750" indent="-285750">
                <a:buFont typeface="Arial"/>
                <a:buChar char="•"/>
                <a:defRPr/>
              </a:pPr>
              <a:r>
                <a:rPr lang="en-US"/>
                <a:t>Provides an idea of stable a sequence is.</a:t>
              </a:r>
              <a:endParaRPr/>
            </a:p>
          </p:txBody>
        </p:sp>
        <p:sp>
          <p:nvSpPr>
            <p:cNvPr id="16" name="TextBox 15"/>
            <p:cNvSpPr txBox="1"/>
            <p:nvPr/>
          </p:nvSpPr>
          <p:spPr bwMode="auto">
            <a:xfrm>
              <a:off x="1045242" y="1751674"/>
              <a:ext cx="1839070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US" sz="2800" b="1">
                  <a:ln w="22225">
                    <a:solidFill>
                      <a:srgbClr val="0070C0"/>
                    </a:solidFill>
                    <a:prstDash val="solid"/>
                  </a:ln>
                  <a:solidFill>
                    <a:srgbClr val="FFFF00"/>
                  </a:solidFill>
                </a:rPr>
                <a:t>Knowledge </a:t>
              </a:r>
              <a:endParaRPr/>
            </a:p>
            <a:p>
              <a:pPr algn="ctr">
                <a:defRPr/>
              </a:pPr>
              <a:r>
                <a:rPr lang="en-US" sz="2800" b="1">
                  <a:ln w="22225">
                    <a:solidFill>
                      <a:srgbClr val="0070C0"/>
                    </a:solidFill>
                    <a:prstDash val="solid"/>
                  </a:ln>
                  <a:solidFill>
                    <a:srgbClr val="FFFF00"/>
                  </a:solidFill>
                </a:rPr>
                <a:t>Check</a:t>
              </a:r>
              <a:endParaRPr/>
            </a:p>
          </p:txBody>
        </p:sp>
        <p:sp>
          <p:nvSpPr>
            <p:cNvPr id="17" name="Rectangle 16"/>
            <p:cNvSpPr/>
            <p:nvPr/>
          </p:nvSpPr>
          <p:spPr bwMode="auto">
            <a:xfrm>
              <a:off x="992458" y="1530650"/>
              <a:ext cx="7159083" cy="2082346"/>
            </a:xfrm>
            <a:prstGeom prst="rect">
              <a:avLst/>
            </a:prstGeom>
            <a:noFill/>
            <a:ln w="38100">
              <a:solidFill>
                <a:schemeClr val="bg1">
                  <a:lumMod val="5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8" name="TextBox 17"/>
            <p:cNvSpPr txBox="1"/>
            <p:nvPr/>
          </p:nvSpPr>
          <p:spPr bwMode="auto">
            <a:xfrm>
              <a:off x="3705321" y="2798243"/>
              <a:ext cx="3892412" cy="6626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defRPr/>
              </a:pPr>
              <mc:AlternateContent xmlns:mc="http://schemas.openxmlformats.org/markup-compatibility/2006" xmlns:m="http://schemas.openxmlformats.org/officeDocument/2006/math">
                <mc:Choice xmlns:a14="http://schemas.microsoft.com/office/drawing/2010/main" Requires="a14">
                  <a14:m>
                    <m:oMathPara>
                      <m:oMathParaPr>
                        <m:jc m:val="centerGroup"/>
                      </m:oMathParaPr>
                      <m:oMath>
                        <m:f>
                          <m:fPr>
                            <m:ctrlPr>
                              <a:rPr lang="en-US" i="1"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m:rPr>
                                <m:nor m:val="on"/>
                              </m:rPr>
                              <a:rPr lang="en-US"/>
                              <m:t>Total</m:t>
                            </m:r>
                            <m:r>
                              <m:rPr>
                                <m:nor m:val="on"/>
                              </m:rPr>
                              <a:rPr lang="en-US"/>
                              <m:t> </m:t>
                            </m:r>
                            <m:r>
                              <m:rPr>
                                <m:nor m:val="on"/>
                              </m:rPr>
                              <a:rPr lang="en-US"/>
                              <m:t>Guanines</m:t>
                            </m:r>
                            <m:r>
                              <m:rPr>
                                <m:nor m:val="on"/>
                              </m:rPr>
                              <a:rPr lang="en-US"/>
                              <m:t> + </m:t>
                            </m:r>
                            <m:r>
                              <m:rPr>
                                <m:nor m:val="on"/>
                              </m:rPr>
                              <a:rPr lang="en-US"/>
                              <m:t>Total</m:t>
                            </m:r>
                            <m:r>
                              <m:rPr>
                                <m:nor m:val="on"/>
                              </m:rPr>
                              <a:rPr lang="en-US"/>
                              <m:t> </m:t>
                            </m:r>
                            <m:r>
                              <m:rPr>
                                <m:nor m:val="on"/>
                              </m:rPr>
                              <a:rPr lang="en-US"/>
                              <m:t>Cytosines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US" b="0" i="0">
                                <a:latin typeface="Cambria Math"/>
                              </a:rPr>
                              <m:t>Total</m:t>
                            </m:r>
                            <m:r>
                              <m:rPr/>
                              <a:rPr lang="en-US" b="0" i="0">
                                <a:latin typeface="Cambria Math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b="0" i="0">
                                <a:latin typeface="Cambria Math"/>
                              </a:rPr>
                              <m:t>Sequence</m:t>
                            </m:r>
                            <m:r>
                              <m:rPr/>
                              <a:rPr lang="en-US" b="0" i="0">
                                <a:latin typeface="Cambria Math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b="0" i="0">
                                <a:latin typeface="Cambria Math"/>
                              </a:rPr>
                              <m:t>Length</m:t>
                            </m:r>
                          </m:den>
                        </m:f>
                        <m:r>
                          <m:rPr/>
                          <a:rPr lang="en-US" b="0" i="0">
                            <a:latin typeface="Cambria Math"/>
                          </a:rPr>
                          <m:t> ∗100</m:t>
                        </m:r>
                      </m:oMath>
                    </m:oMathPara>
                  </a14:m>
                </mc:Choice>
                <mc:Fallback/>
              </mc:AlternateContent>
              <a:endParaRPr lang="en-US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7898789" name="Title 1"/>
          <p:cNvSpPr txBox="1"/>
          <p:nvPr/>
        </p:nvSpPr>
        <p:spPr bwMode="auto">
          <a:xfrm>
            <a:off x="0" y="1"/>
            <a:ext cx="9144000" cy="1282389"/>
          </a:xfrm>
          <a:prstGeom prst="rect">
            <a:avLst/>
          </a:prstGeom>
          <a:solidFill>
            <a:srgbClr val="FFFFFF"/>
          </a:solidFill>
          <a:ln w="76200">
            <a:solidFill>
              <a:srgbClr val="FF0000"/>
            </a:solidFill>
          </a:ln>
        </p:spPr>
        <p:txBody>
          <a:bodyPr>
            <a:noAutofit/>
          </a:bodyPr>
          <a:lstStyle>
            <a:lvl1pPr algn="ctr" defTabSz="914400" rtl="0">
              <a:lnSpc>
                <a:spcPct val="90000"/>
              </a:lnSpc>
              <a:spcBef>
                <a:spcPts val="0"/>
              </a:spcBef>
              <a:buNone/>
              <a:defRPr sz="44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4100">
                <a:latin typeface="Times New Roman"/>
                <a:cs typeface="Times New Roman"/>
              </a:rPr>
              <a:t>Let’s find the GC content of the CRTAM DNA sequence.</a:t>
            </a:r>
            <a:endParaRPr lang="en-US" sz="4100"/>
          </a:p>
        </p:txBody>
      </p:sp>
      <p:sp>
        <p:nvSpPr>
          <p:cNvPr id="1362826181" name="Slide Number Placeholder 1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144BBB-DA99-4FDF-9E1F-B5EEC68D5D7C}" type="slidenum">
              <a:rPr lang="es-ES_tradnl"/>
              <a:t>60</a:t>
            </a:fld>
            <a:endParaRPr lang="es-ES_tradnl"/>
          </a:p>
        </p:txBody>
      </p:sp>
      <p:grpSp>
        <p:nvGrpSpPr>
          <p:cNvPr id="1583191630" name="Group 13"/>
          <p:cNvGrpSpPr/>
          <p:nvPr/>
        </p:nvGrpSpPr>
        <p:grpSpPr bwMode="auto">
          <a:xfrm>
            <a:off x="992458" y="1616110"/>
            <a:ext cx="7248292" cy="2082346"/>
            <a:chOff x="992458" y="1530650"/>
            <a:chExt cx="7248292" cy="2082346"/>
          </a:xfrm>
        </p:grpSpPr>
        <p:sp>
          <p:nvSpPr>
            <p:cNvPr id="15" name="TextBox 14"/>
            <p:cNvSpPr txBox="1"/>
            <p:nvPr/>
          </p:nvSpPr>
          <p:spPr bwMode="auto">
            <a:xfrm>
              <a:off x="2839279" y="1597914"/>
              <a:ext cx="5401471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US" b="1" u="sng"/>
                <a:t>GC content</a:t>
              </a:r>
              <a:endParaRPr/>
            </a:p>
            <a:p>
              <a:pPr marL="285750" indent="-285750">
                <a:buFont typeface="Arial"/>
                <a:buChar char="•"/>
                <a:defRPr/>
              </a:pPr>
              <a:r>
                <a:rPr lang="en-US"/>
                <a:t>The percentage of the proportion of guanines and cytosines to the total length of the DNA sequence. </a:t>
              </a:r>
              <a:endParaRPr/>
            </a:p>
            <a:p>
              <a:pPr marL="285750" indent="-285750">
                <a:buFont typeface="Arial"/>
                <a:buChar char="•"/>
                <a:defRPr/>
              </a:pPr>
              <a:r>
                <a:rPr lang="en-US"/>
                <a:t>Provides an idea of stable a sequence is.</a:t>
              </a:r>
              <a:endParaRPr/>
            </a:p>
          </p:txBody>
        </p:sp>
        <p:sp>
          <p:nvSpPr>
            <p:cNvPr id="16" name="TextBox 15"/>
            <p:cNvSpPr txBox="1"/>
            <p:nvPr/>
          </p:nvSpPr>
          <p:spPr bwMode="auto">
            <a:xfrm>
              <a:off x="1045242" y="1751674"/>
              <a:ext cx="1839070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US" sz="2800" b="1">
                  <a:ln w="22225">
                    <a:solidFill>
                      <a:srgbClr val="0070C0"/>
                    </a:solidFill>
                    <a:prstDash val="solid"/>
                  </a:ln>
                  <a:solidFill>
                    <a:srgbClr val="FFFF00"/>
                  </a:solidFill>
                </a:rPr>
                <a:t>Knowledge </a:t>
              </a:r>
              <a:endParaRPr/>
            </a:p>
            <a:p>
              <a:pPr algn="ctr">
                <a:defRPr/>
              </a:pPr>
              <a:r>
                <a:rPr lang="en-US" sz="2800" b="1">
                  <a:ln w="22225">
                    <a:solidFill>
                      <a:srgbClr val="0070C0"/>
                    </a:solidFill>
                    <a:prstDash val="solid"/>
                  </a:ln>
                  <a:solidFill>
                    <a:srgbClr val="FFFF00"/>
                  </a:solidFill>
                </a:rPr>
                <a:t>Check</a:t>
              </a:r>
              <a:endParaRPr/>
            </a:p>
          </p:txBody>
        </p:sp>
        <p:sp>
          <p:nvSpPr>
            <p:cNvPr id="17" name="Rectangle 16"/>
            <p:cNvSpPr/>
            <p:nvPr/>
          </p:nvSpPr>
          <p:spPr bwMode="auto">
            <a:xfrm>
              <a:off x="992458" y="1530650"/>
              <a:ext cx="7159083" cy="2082346"/>
            </a:xfrm>
            <a:prstGeom prst="rect">
              <a:avLst/>
            </a:prstGeom>
            <a:noFill/>
            <a:ln w="38100">
              <a:solidFill>
                <a:schemeClr val="bg1">
                  <a:lumMod val="5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8" name="TextBox 17"/>
            <p:cNvSpPr txBox="1"/>
            <p:nvPr/>
          </p:nvSpPr>
          <p:spPr bwMode="auto">
            <a:xfrm>
              <a:off x="3705321" y="2798243"/>
              <a:ext cx="3892412" cy="6626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defRPr/>
              </a:pPr>
              <mc:AlternateContent xmlns:mc="http://schemas.openxmlformats.org/markup-compatibility/2006" xmlns:m="http://schemas.openxmlformats.org/officeDocument/2006/math">
                <mc:Choice xmlns:a14="http://schemas.microsoft.com/office/drawing/2010/main" Requires="a14">
                  <a14:m>
                    <m:oMathPara>
                      <m:oMathParaPr>
                        <m:jc m:val="centerGroup"/>
                      </m:oMathParaPr>
                      <m:oMath>
                        <m:f>
                          <m:fPr>
                            <m:ctrlPr>
                              <a:rPr lang="en-US" i="1"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m:rPr>
                                <m:nor m:val="on"/>
                              </m:rPr>
                              <a:rPr lang="en-US">
                                <a:solidFill>
                                  <a:srgbClr val="FF0000"/>
                                </a:solidFill>
                              </a:rPr>
                              <m:t>Total</m:t>
                            </m:r>
                            <m:r>
                              <m:rPr>
                                <m:nor m:val="on"/>
                              </m:rPr>
                              <a:rPr lang="en-US">
                                <a:solidFill>
                                  <a:srgbClr val="FF0000"/>
                                </a:solidFill>
                              </a:rPr>
                              <m:t> </m:t>
                            </m:r>
                            <m:r>
                              <m:rPr>
                                <m:nor m:val="on"/>
                              </m:rPr>
                              <a:rPr lang="en-US">
                                <a:solidFill>
                                  <a:srgbClr val="FF0000"/>
                                </a:solidFill>
                              </a:rPr>
                              <m:t>Guanines</m:t>
                            </m:r>
                            <m:r>
                              <m:rPr>
                                <m:nor m:val="on"/>
                              </m:rPr>
                              <a:rPr lang="en-US">
                                <a:solidFill>
                                  <a:srgbClr val="FF0000"/>
                                </a:solidFill>
                              </a:rPr>
                              <m:t> + </m:t>
                            </m:r>
                            <m:r>
                              <m:rPr>
                                <m:nor m:val="on"/>
                              </m:rPr>
                              <a:rPr lang="en-US">
                                <a:solidFill>
                                  <a:srgbClr val="FF0000"/>
                                </a:solidFill>
                              </a:rPr>
                              <m:t>Total</m:t>
                            </m:r>
                            <m:r>
                              <m:rPr>
                                <m:nor m:val="on"/>
                              </m:rPr>
                              <a:rPr lang="en-US">
                                <a:solidFill>
                                  <a:srgbClr val="FF0000"/>
                                </a:solidFill>
                              </a:rPr>
                              <m:t> </m:t>
                            </m:r>
                            <m:r>
                              <m:rPr>
                                <m:nor m:val="on"/>
                              </m:rPr>
                              <a:rPr lang="en-US">
                                <a:solidFill>
                                  <a:srgbClr val="FF0000"/>
                                </a:solidFill>
                              </a:rPr>
                              <m:t>Cytosines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US" b="0" i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Total</m:t>
                            </m:r>
                            <m:r>
                              <m:rPr/>
                              <a:rPr lang="en-US" b="0" i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b="0" i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Sequence</m:t>
                            </m:r>
                            <m:r>
                              <m:rPr/>
                              <a:rPr lang="en-US" b="0" i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b="0" i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Length</m:t>
                            </m:r>
                          </m:den>
                        </m:f>
                        <m:r>
                          <m:rPr/>
                          <a:rPr lang="en-US" b="0" i="0">
                            <a:latin typeface="Cambria Math"/>
                          </a:rPr>
                          <m:t> ∗100</m:t>
                        </m:r>
                      </m:oMath>
                    </m:oMathPara>
                  </a14:m>
                </mc:Choice>
                <mc:Fallback/>
              </mc:AlternateContent>
              <a:endParaRPr lang="en-US"/>
            </a:p>
          </p:txBody>
        </p:sp>
      </p:grpSp>
      <p:sp>
        <p:nvSpPr>
          <p:cNvPr id="1491847403" name="TextBox 3"/>
          <p:cNvSpPr txBox="1"/>
          <p:nvPr/>
        </p:nvSpPr>
        <p:spPr bwMode="auto">
          <a:xfrm>
            <a:off x="2273840" y="4032176"/>
            <a:ext cx="5323893" cy="76944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4400" b="1"/>
              <a:t>What are we missing?</a:t>
            </a:r>
            <a:endParaRPr/>
          </a:p>
        </p:txBody>
      </p:sp>
      <p:sp>
        <p:nvSpPr>
          <p:cNvPr id="600192331" name="TextBox 7"/>
          <p:cNvSpPr txBox="1"/>
          <p:nvPr/>
        </p:nvSpPr>
        <p:spPr bwMode="auto">
          <a:xfrm>
            <a:off x="3903639" y="4776848"/>
            <a:ext cx="134929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9600"/>
              <a:t>🤔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266457" name="Rectangle 5"/>
          <p:cNvSpPr/>
          <p:nvPr/>
        </p:nvSpPr>
        <p:spPr bwMode="auto">
          <a:xfrm>
            <a:off x="360439" y="4099440"/>
            <a:ext cx="8423120" cy="1163017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3600" b="1">
                <a:solidFill>
                  <a:srgbClr val="FF0000"/>
                </a:solidFill>
              </a:rPr>
              <a:t>Return the total length of DNA sequence</a:t>
            </a:r>
            <a:endParaRPr/>
          </a:p>
        </p:txBody>
      </p:sp>
      <p:sp>
        <p:nvSpPr>
          <p:cNvPr id="888287583" name="Title 1"/>
          <p:cNvSpPr txBox="1"/>
          <p:nvPr/>
        </p:nvSpPr>
        <p:spPr bwMode="auto">
          <a:xfrm>
            <a:off x="0" y="1"/>
            <a:ext cx="9144000" cy="1282389"/>
          </a:xfrm>
          <a:prstGeom prst="rect">
            <a:avLst/>
          </a:prstGeom>
          <a:solidFill>
            <a:srgbClr val="FFFFFF"/>
          </a:solidFill>
          <a:ln w="76200">
            <a:solidFill>
              <a:srgbClr val="FF0000"/>
            </a:solidFill>
          </a:ln>
        </p:spPr>
        <p:txBody>
          <a:bodyPr>
            <a:noAutofit/>
          </a:bodyPr>
          <a:lstStyle>
            <a:lvl1pPr algn="ctr" defTabSz="914400" rtl="0">
              <a:lnSpc>
                <a:spcPct val="90000"/>
              </a:lnSpc>
              <a:spcBef>
                <a:spcPts val="0"/>
              </a:spcBef>
              <a:buNone/>
              <a:defRPr sz="44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4100">
                <a:latin typeface="Times New Roman"/>
                <a:cs typeface="Times New Roman"/>
              </a:rPr>
              <a:t>Let’s find the GC content of the CRTAM DNA sequence.</a:t>
            </a:r>
            <a:endParaRPr lang="en-US" sz="4100"/>
          </a:p>
        </p:txBody>
      </p:sp>
      <p:sp>
        <p:nvSpPr>
          <p:cNvPr id="1166901218" name="Slide Number Placeholder 1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144BBB-DA99-4FDF-9E1F-B5EEC68D5D7C}" type="slidenum">
              <a:rPr lang="es-ES_tradnl"/>
              <a:t>61</a:t>
            </a:fld>
            <a:endParaRPr lang="es-ES_tradnl"/>
          </a:p>
        </p:txBody>
      </p:sp>
      <p:grpSp>
        <p:nvGrpSpPr>
          <p:cNvPr id="1562195830" name="Group 13"/>
          <p:cNvGrpSpPr/>
          <p:nvPr/>
        </p:nvGrpSpPr>
        <p:grpSpPr bwMode="auto">
          <a:xfrm>
            <a:off x="992458" y="1616110"/>
            <a:ext cx="7248292" cy="2082346"/>
            <a:chOff x="992458" y="1530650"/>
            <a:chExt cx="7248292" cy="2082346"/>
          </a:xfrm>
        </p:grpSpPr>
        <p:sp>
          <p:nvSpPr>
            <p:cNvPr id="15" name="TextBox 14"/>
            <p:cNvSpPr txBox="1"/>
            <p:nvPr/>
          </p:nvSpPr>
          <p:spPr bwMode="auto">
            <a:xfrm>
              <a:off x="2839279" y="1597914"/>
              <a:ext cx="5401471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US" b="1" u="sng"/>
                <a:t>GC content</a:t>
              </a:r>
              <a:endParaRPr/>
            </a:p>
            <a:p>
              <a:pPr marL="285750" indent="-285750">
                <a:buFont typeface="Arial"/>
                <a:buChar char="•"/>
                <a:defRPr/>
              </a:pPr>
              <a:r>
                <a:rPr lang="en-US"/>
                <a:t>The percentage of the proportion of guanines and cytosines to the total length of the DNA sequence. </a:t>
              </a:r>
              <a:endParaRPr/>
            </a:p>
            <a:p>
              <a:pPr marL="285750" indent="-285750">
                <a:buFont typeface="Arial"/>
                <a:buChar char="•"/>
                <a:defRPr/>
              </a:pPr>
              <a:r>
                <a:rPr lang="en-US"/>
                <a:t>Provides an idea of stable a sequence is.</a:t>
              </a:r>
              <a:endParaRPr/>
            </a:p>
          </p:txBody>
        </p:sp>
        <p:sp>
          <p:nvSpPr>
            <p:cNvPr id="16" name="TextBox 15"/>
            <p:cNvSpPr txBox="1"/>
            <p:nvPr/>
          </p:nvSpPr>
          <p:spPr bwMode="auto">
            <a:xfrm>
              <a:off x="1045242" y="1751674"/>
              <a:ext cx="1839070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US" sz="2800" b="1">
                  <a:ln w="22225">
                    <a:solidFill>
                      <a:srgbClr val="0070C0"/>
                    </a:solidFill>
                    <a:prstDash val="solid"/>
                  </a:ln>
                  <a:solidFill>
                    <a:srgbClr val="FFFF00"/>
                  </a:solidFill>
                </a:rPr>
                <a:t>Knowledge </a:t>
              </a:r>
              <a:endParaRPr/>
            </a:p>
            <a:p>
              <a:pPr algn="ctr">
                <a:defRPr/>
              </a:pPr>
              <a:r>
                <a:rPr lang="en-US" sz="2800" b="1">
                  <a:ln w="22225">
                    <a:solidFill>
                      <a:srgbClr val="0070C0"/>
                    </a:solidFill>
                    <a:prstDash val="solid"/>
                  </a:ln>
                  <a:solidFill>
                    <a:srgbClr val="FFFF00"/>
                  </a:solidFill>
                </a:rPr>
                <a:t>Check</a:t>
              </a:r>
              <a:endParaRPr/>
            </a:p>
          </p:txBody>
        </p:sp>
        <p:sp>
          <p:nvSpPr>
            <p:cNvPr id="17" name="Rectangle 16"/>
            <p:cNvSpPr/>
            <p:nvPr/>
          </p:nvSpPr>
          <p:spPr bwMode="auto">
            <a:xfrm>
              <a:off x="992458" y="1530650"/>
              <a:ext cx="7159083" cy="2082346"/>
            </a:xfrm>
            <a:prstGeom prst="rect">
              <a:avLst/>
            </a:prstGeom>
            <a:noFill/>
            <a:ln w="38100">
              <a:solidFill>
                <a:schemeClr val="bg1">
                  <a:lumMod val="5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8" name="TextBox 17"/>
            <p:cNvSpPr txBox="1"/>
            <p:nvPr/>
          </p:nvSpPr>
          <p:spPr bwMode="auto">
            <a:xfrm>
              <a:off x="3705321" y="2798243"/>
              <a:ext cx="3892412" cy="6626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defRPr/>
              </a:pPr>
              <mc:AlternateContent xmlns:mc="http://schemas.openxmlformats.org/markup-compatibility/2006" xmlns:m="http://schemas.openxmlformats.org/officeDocument/2006/math">
                <mc:Choice xmlns:a14="http://schemas.microsoft.com/office/drawing/2010/main" Requires="a14">
                  <a14:m>
                    <m:oMathPara>
                      <m:oMathParaPr>
                        <m:jc m:val="centerGroup"/>
                      </m:oMathParaPr>
                      <m:oMath>
                        <m:f>
                          <m:fPr>
                            <m:ctrlPr>
                              <a:rPr lang="en-US" i="1"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m:rPr>
                                <m:nor m:val="on"/>
                              </m:rPr>
                              <a:rPr lang="en-US">
                                <a:solidFill>
                                  <a:srgbClr val="FF0000"/>
                                </a:solidFill>
                              </a:rPr>
                              <m:t>Total</m:t>
                            </m:r>
                            <m:r>
                              <m:rPr>
                                <m:nor m:val="on"/>
                              </m:rPr>
                              <a:rPr lang="en-US">
                                <a:solidFill>
                                  <a:srgbClr val="FF0000"/>
                                </a:solidFill>
                              </a:rPr>
                              <m:t> </m:t>
                            </m:r>
                            <m:r>
                              <m:rPr>
                                <m:nor m:val="on"/>
                              </m:rPr>
                              <a:rPr lang="en-US">
                                <a:solidFill>
                                  <a:srgbClr val="FF0000"/>
                                </a:solidFill>
                              </a:rPr>
                              <m:t>Guanines</m:t>
                            </m:r>
                            <m:r>
                              <m:rPr>
                                <m:nor m:val="on"/>
                              </m:rPr>
                              <a:rPr lang="en-US"/>
                              <m:t> + </m:t>
                            </m:r>
                            <m:r>
                              <m:rPr>
                                <m:nor m:val="on"/>
                              </m:rPr>
                              <a:rPr lang="en-US">
                                <a:solidFill>
                                  <a:srgbClr val="FF0000"/>
                                </a:solidFill>
                              </a:rPr>
                              <m:t>Total</m:t>
                            </m:r>
                            <m:r>
                              <m:rPr>
                                <m:nor m:val="on"/>
                              </m:rPr>
                              <a:rPr lang="en-US">
                                <a:solidFill>
                                  <a:srgbClr val="FF0000"/>
                                </a:solidFill>
                              </a:rPr>
                              <m:t> </m:t>
                            </m:r>
                            <m:r>
                              <m:rPr>
                                <m:nor m:val="on"/>
                              </m:rPr>
                              <a:rPr lang="en-US">
                                <a:solidFill>
                                  <a:srgbClr val="FF0000"/>
                                </a:solidFill>
                              </a:rPr>
                              <m:t>Cytosines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US" b="0" i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Total</m:t>
                            </m:r>
                            <m:r>
                              <m:rPr/>
                              <a:rPr lang="en-US" b="0" i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b="0" i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Sequence</m:t>
                            </m:r>
                            <m:r>
                              <m:rPr/>
                              <a:rPr lang="en-US" b="0" i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b="0" i="0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Length</m:t>
                            </m:r>
                          </m:den>
                        </m:f>
                        <m:r>
                          <m:rPr/>
                          <a:rPr lang="en-US" b="0" i="0">
                            <a:latin typeface="Cambria Math"/>
                          </a:rPr>
                          <m:t> ∗100</m:t>
                        </m:r>
                      </m:oMath>
                    </m:oMathPara>
                  </a14:m>
                </mc:Choice>
                <mc:Fallback/>
              </mc:AlternateContent>
              <a:endParaRPr lang="en-US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35544862" name="Picture 9" descr="Graphical user interface, text, application&#10;&#10;Description automatically generated"/>
          <p:cNvPicPr>
            <a:picLocks noChangeAspect="1"/>
          </p:cNvPicPr>
          <p:nvPr/>
        </p:nvPicPr>
        <p:blipFill rotWithShape="1">
          <a:blip r:embed="rId3"/>
          <a:srcRect l="24677" t="36212" r="33860" b="54416"/>
          <a:stretch/>
        </p:blipFill>
        <p:spPr bwMode="auto">
          <a:xfrm>
            <a:off x="370422" y="4069929"/>
            <a:ext cx="8414560" cy="1188720"/>
          </a:xfrm>
          <a:prstGeom prst="rect">
            <a:avLst/>
          </a:prstGeom>
          <a:effectLst/>
        </p:spPr>
      </p:pic>
      <p:sp>
        <p:nvSpPr>
          <p:cNvPr id="1309616645" name="Title 1"/>
          <p:cNvSpPr txBox="1"/>
          <p:nvPr/>
        </p:nvSpPr>
        <p:spPr bwMode="auto">
          <a:xfrm>
            <a:off x="0" y="1"/>
            <a:ext cx="9144000" cy="1282389"/>
          </a:xfrm>
          <a:prstGeom prst="rect">
            <a:avLst/>
          </a:prstGeom>
          <a:solidFill>
            <a:srgbClr val="FFFFFF"/>
          </a:solidFill>
          <a:ln w="76200">
            <a:solidFill>
              <a:srgbClr val="FF0000"/>
            </a:solidFill>
          </a:ln>
        </p:spPr>
        <p:txBody>
          <a:bodyPr>
            <a:noAutofit/>
          </a:bodyPr>
          <a:lstStyle>
            <a:lvl1pPr algn="ctr" defTabSz="914400" rtl="0">
              <a:lnSpc>
                <a:spcPct val="90000"/>
              </a:lnSpc>
              <a:spcBef>
                <a:spcPts val="0"/>
              </a:spcBef>
              <a:buNone/>
              <a:defRPr sz="44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4100">
                <a:latin typeface="Times New Roman"/>
                <a:cs typeface="Times New Roman"/>
              </a:rPr>
              <a:t>Let’s find the GC content of the CRTAM DNA sequence.</a:t>
            </a:r>
            <a:endParaRPr lang="en-US" sz="4100"/>
          </a:p>
        </p:txBody>
      </p:sp>
      <p:sp>
        <p:nvSpPr>
          <p:cNvPr id="635669872" name="Slide Number Placeholder 1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144BBB-DA99-4FDF-9E1F-B5EEC68D5D7C}" type="slidenum">
              <a:rPr lang="es-ES_tradnl"/>
              <a:t>62</a:t>
            </a:fld>
            <a:endParaRPr lang="es-ES_tradnl"/>
          </a:p>
        </p:txBody>
      </p:sp>
      <p:sp>
        <p:nvSpPr>
          <p:cNvPr id="755529743" name="Rectangle 5"/>
          <p:cNvSpPr/>
          <p:nvPr/>
        </p:nvSpPr>
        <p:spPr bwMode="auto">
          <a:xfrm>
            <a:off x="360439" y="4099440"/>
            <a:ext cx="8423120" cy="1163017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3600" b="1">
              <a:solidFill>
                <a:srgbClr val="FF0000"/>
              </a:solidFill>
            </a:endParaRPr>
          </a:p>
        </p:txBody>
      </p:sp>
      <p:grpSp>
        <p:nvGrpSpPr>
          <p:cNvPr id="721689625" name="Group 12"/>
          <p:cNvGrpSpPr/>
          <p:nvPr/>
        </p:nvGrpSpPr>
        <p:grpSpPr bwMode="auto">
          <a:xfrm>
            <a:off x="992458" y="1616110"/>
            <a:ext cx="7248292" cy="2082346"/>
            <a:chOff x="992458" y="1530650"/>
            <a:chExt cx="7248292" cy="2082346"/>
          </a:xfrm>
        </p:grpSpPr>
        <p:sp>
          <p:nvSpPr>
            <p:cNvPr id="7" name="TextBox 6"/>
            <p:cNvSpPr txBox="1"/>
            <p:nvPr/>
          </p:nvSpPr>
          <p:spPr bwMode="auto">
            <a:xfrm>
              <a:off x="2839279" y="1597914"/>
              <a:ext cx="5401471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US" b="1" u="sng"/>
                <a:t>GC content</a:t>
              </a:r>
              <a:endParaRPr/>
            </a:p>
            <a:p>
              <a:pPr marL="285750" indent="-285750">
                <a:buFont typeface="Arial"/>
                <a:buChar char="•"/>
                <a:defRPr/>
              </a:pPr>
              <a:r>
                <a:rPr lang="en-US"/>
                <a:t>The percentage of the proportion of guanines and cytosines to the total length of the DNA sequence. </a:t>
              </a:r>
              <a:endParaRPr/>
            </a:p>
            <a:p>
              <a:pPr marL="285750" indent="-285750">
                <a:buFont typeface="Arial"/>
                <a:buChar char="•"/>
                <a:defRPr/>
              </a:pPr>
              <a:r>
                <a:rPr lang="en-US"/>
                <a:t>Provides an idea of stable a sequence is.</a:t>
              </a:r>
              <a:endParaRPr/>
            </a:p>
          </p:txBody>
        </p:sp>
        <p:sp>
          <p:nvSpPr>
            <p:cNvPr id="9" name="TextBox 8"/>
            <p:cNvSpPr txBox="1"/>
            <p:nvPr/>
          </p:nvSpPr>
          <p:spPr bwMode="auto">
            <a:xfrm>
              <a:off x="1045242" y="1751674"/>
              <a:ext cx="1839070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US" sz="2800" b="1">
                  <a:ln w="22225">
                    <a:solidFill>
                      <a:srgbClr val="0070C0"/>
                    </a:solidFill>
                    <a:prstDash val="solid"/>
                  </a:ln>
                  <a:solidFill>
                    <a:srgbClr val="FFFF00"/>
                  </a:solidFill>
                </a:rPr>
                <a:t>Knowledge </a:t>
              </a:r>
              <a:endParaRPr/>
            </a:p>
            <a:p>
              <a:pPr algn="ctr">
                <a:defRPr/>
              </a:pPr>
              <a:r>
                <a:rPr lang="en-US" sz="2800" b="1">
                  <a:ln w="22225">
                    <a:solidFill>
                      <a:srgbClr val="0070C0"/>
                    </a:solidFill>
                    <a:prstDash val="solid"/>
                  </a:ln>
                  <a:solidFill>
                    <a:srgbClr val="FFFF00"/>
                  </a:solidFill>
                </a:rPr>
                <a:t>Check</a:t>
              </a:r>
              <a:endParaRPr/>
            </a:p>
          </p:txBody>
        </p:sp>
        <p:sp>
          <p:nvSpPr>
            <p:cNvPr id="11" name="Rectangle 10"/>
            <p:cNvSpPr/>
            <p:nvPr/>
          </p:nvSpPr>
          <p:spPr bwMode="auto">
            <a:xfrm>
              <a:off x="992458" y="1530650"/>
              <a:ext cx="7159083" cy="2082346"/>
            </a:xfrm>
            <a:prstGeom prst="rect">
              <a:avLst/>
            </a:prstGeom>
            <a:noFill/>
            <a:ln w="38100">
              <a:solidFill>
                <a:schemeClr val="bg1">
                  <a:lumMod val="5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 bwMode="auto">
            <a:xfrm>
              <a:off x="3705321" y="2798243"/>
              <a:ext cx="3892412" cy="6626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defRPr/>
              </a:pPr>
              <mc:AlternateContent xmlns:mc="http://schemas.openxmlformats.org/markup-compatibility/2006" xmlns:m="http://schemas.openxmlformats.org/officeDocument/2006/math">
                <mc:Choice xmlns:a14="http://schemas.microsoft.com/office/drawing/2010/main" Requires="a14">
                  <a14:m>
                    <m:oMathPara>
                      <m:oMathParaPr>
                        <m:jc m:val="centerGroup"/>
                      </m:oMathParaPr>
                      <m:oMath>
                        <m:f>
                          <m:fPr>
                            <m:ctrlPr>
                              <a:rPr lang="en-US" i="1"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m:rPr>
                                <m:nor m:val="on"/>
                              </m:rPr>
                              <a:rPr lang="en-US">
                                <a:solidFill>
                                  <a:srgbClr val="FF0000"/>
                                </a:solidFill>
                              </a:rPr>
                              <m:t>Total</m:t>
                            </m:r>
                            <m:r>
                              <m:rPr>
                                <m:nor m:val="on"/>
                              </m:rPr>
                              <a:rPr lang="en-US">
                                <a:solidFill>
                                  <a:srgbClr val="FF0000"/>
                                </a:solidFill>
                              </a:rPr>
                              <m:t> </m:t>
                            </m:r>
                            <m:r>
                              <m:rPr>
                                <m:nor m:val="on"/>
                              </m:rPr>
                              <a:rPr lang="en-US">
                                <a:solidFill>
                                  <a:srgbClr val="FF0000"/>
                                </a:solidFill>
                              </a:rPr>
                              <m:t>Guanines</m:t>
                            </m:r>
                            <m:r>
                              <m:rPr>
                                <m:nor m:val="on"/>
                              </m:rPr>
                              <a:rPr lang="en-US"/>
                              <m:t> + </m:t>
                            </m:r>
                            <m:r>
                              <m:rPr>
                                <m:nor m:val="on"/>
                              </m:rPr>
                              <a:rPr lang="en-US">
                                <a:solidFill>
                                  <a:srgbClr val="FF0000"/>
                                </a:solidFill>
                              </a:rPr>
                              <m:t>Total</m:t>
                            </m:r>
                            <m:r>
                              <m:rPr>
                                <m:nor m:val="on"/>
                              </m:rPr>
                              <a:rPr lang="en-US">
                                <a:solidFill>
                                  <a:srgbClr val="FF0000"/>
                                </a:solidFill>
                              </a:rPr>
                              <m:t> </m:t>
                            </m:r>
                            <m:r>
                              <m:rPr>
                                <m:nor m:val="on"/>
                              </m:rPr>
                              <a:rPr lang="en-US">
                                <a:solidFill>
                                  <a:srgbClr val="FF0000"/>
                                </a:solidFill>
                              </a:rPr>
                              <m:t>Cytosines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US" b="0" i="0">
                                <a:solidFill>
                                  <a:srgbClr val="00B050"/>
                                </a:solidFill>
                                <a:latin typeface="Cambria Math"/>
                              </a:rPr>
                              <m:t>Total</m:t>
                            </m:r>
                            <m:r>
                              <m:rPr/>
                              <a:rPr lang="en-US" b="0" i="0">
                                <a:solidFill>
                                  <a:srgbClr val="00B050"/>
                                </a:solidFill>
                                <a:latin typeface="Cambria Math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b="0" i="0">
                                <a:solidFill>
                                  <a:srgbClr val="00B050"/>
                                </a:solidFill>
                                <a:latin typeface="Cambria Math"/>
                              </a:rPr>
                              <m:t>Sequence</m:t>
                            </m:r>
                            <m:r>
                              <m:rPr/>
                              <a:rPr lang="en-US" b="0" i="0">
                                <a:solidFill>
                                  <a:srgbClr val="00B050"/>
                                </a:solidFill>
                                <a:latin typeface="Cambria Math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b="0" i="0">
                                <a:solidFill>
                                  <a:srgbClr val="00B050"/>
                                </a:solidFill>
                                <a:latin typeface="Cambria Math"/>
                              </a:rPr>
                              <m:t>Length</m:t>
                            </m:r>
                          </m:den>
                        </m:f>
                        <m:r>
                          <m:rPr/>
                          <a:rPr lang="en-US" b="0" i="0">
                            <a:latin typeface="Cambria Math"/>
                          </a:rPr>
                          <m:t> ∗100</m:t>
                        </m:r>
                      </m:oMath>
                    </m:oMathPara>
                  </a14:m>
                </mc:Choice>
                <mc:Fallback/>
              </mc:AlternateContent>
              <a:endParaRPr lang="en-US"/>
            </a:p>
          </p:txBody>
        </p:sp>
      </p:grpSp>
      <p:sp>
        <p:nvSpPr>
          <p:cNvPr id="1866614841" name="TextBox 13"/>
          <p:cNvSpPr txBox="1"/>
          <p:nvPr/>
        </p:nvSpPr>
        <p:spPr bwMode="auto">
          <a:xfrm>
            <a:off x="1553879" y="5601631"/>
            <a:ext cx="6043854" cy="830997"/>
          </a:xfrm>
          <a:prstGeom prst="rect">
            <a:avLst/>
          </a:prstGeom>
          <a:solidFill>
            <a:schemeClr val="bg1"/>
          </a:solidFill>
          <a:effectLst>
            <a:outerShdw blurRad="50800" dist="76200" dir="2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2400" b="1">
                <a:solidFill>
                  <a:srgbClr val="FF0000"/>
                </a:solidFill>
              </a:rPr>
              <a:t>Tip:</a:t>
            </a:r>
            <a:r>
              <a:rPr lang="en-US" sz="2400" b="1"/>
              <a:t> Using string formatting eases mixing different datatypes together</a:t>
            </a:r>
            <a:endParaRPr lang="en-US" sz="2400" b="1">
              <a:solidFill>
                <a:srgbClr val="92D05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3380584" name="Title 1"/>
          <p:cNvSpPr txBox="1"/>
          <p:nvPr/>
        </p:nvSpPr>
        <p:spPr bwMode="auto">
          <a:xfrm>
            <a:off x="0" y="1"/>
            <a:ext cx="9144000" cy="1282389"/>
          </a:xfrm>
          <a:prstGeom prst="rect">
            <a:avLst/>
          </a:prstGeom>
          <a:solidFill>
            <a:srgbClr val="FFFFFF"/>
          </a:solidFill>
          <a:ln w="76200">
            <a:solidFill>
              <a:srgbClr val="FF0000"/>
            </a:solidFill>
          </a:ln>
        </p:spPr>
        <p:txBody>
          <a:bodyPr>
            <a:noAutofit/>
          </a:bodyPr>
          <a:lstStyle>
            <a:lvl1pPr algn="ctr" defTabSz="914400" rtl="0">
              <a:lnSpc>
                <a:spcPct val="90000"/>
              </a:lnSpc>
              <a:spcBef>
                <a:spcPts val="0"/>
              </a:spcBef>
              <a:buNone/>
              <a:defRPr sz="44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4100">
                <a:latin typeface="Times New Roman"/>
                <a:cs typeface="Times New Roman"/>
              </a:rPr>
              <a:t>Let’s find the GC content of the CRTAM DNA sequence.</a:t>
            </a:r>
            <a:endParaRPr lang="en-US" sz="4100"/>
          </a:p>
        </p:txBody>
      </p:sp>
      <p:sp>
        <p:nvSpPr>
          <p:cNvPr id="427228751" name="Slide Number Placeholder 1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144BBB-DA99-4FDF-9E1F-B5EEC68D5D7C}" type="slidenum">
              <a:rPr lang="es-ES_tradnl"/>
              <a:t>63</a:t>
            </a:fld>
            <a:endParaRPr lang="es-ES_tradnl"/>
          </a:p>
        </p:txBody>
      </p:sp>
      <p:grpSp>
        <p:nvGrpSpPr>
          <p:cNvPr id="2013229076" name="Group 12"/>
          <p:cNvGrpSpPr/>
          <p:nvPr/>
        </p:nvGrpSpPr>
        <p:grpSpPr bwMode="auto">
          <a:xfrm>
            <a:off x="992458" y="1616110"/>
            <a:ext cx="7248292" cy="2082346"/>
            <a:chOff x="992458" y="1530650"/>
            <a:chExt cx="7248292" cy="2082346"/>
          </a:xfrm>
        </p:grpSpPr>
        <p:sp>
          <p:nvSpPr>
            <p:cNvPr id="7" name="TextBox 6"/>
            <p:cNvSpPr txBox="1"/>
            <p:nvPr/>
          </p:nvSpPr>
          <p:spPr bwMode="auto">
            <a:xfrm>
              <a:off x="2839279" y="1597914"/>
              <a:ext cx="5401471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US" b="1" u="sng"/>
                <a:t>GC content</a:t>
              </a:r>
              <a:endParaRPr/>
            </a:p>
            <a:p>
              <a:pPr marL="285750" indent="-285750">
                <a:buFont typeface="Arial"/>
                <a:buChar char="•"/>
                <a:defRPr/>
              </a:pPr>
              <a:r>
                <a:rPr lang="en-US"/>
                <a:t>The percentage of the proportion of guanines and cytosines to the total length of the DNA sequence. </a:t>
              </a:r>
              <a:endParaRPr/>
            </a:p>
            <a:p>
              <a:pPr marL="285750" indent="-285750">
                <a:buFont typeface="Arial"/>
                <a:buChar char="•"/>
                <a:defRPr/>
              </a:pPr>
              <a:r>
                <a:rPr lang="en-US"/>
                <a:t>Provides an idea of stable a sequence is.</a:t>
              </a:r>
              <a:endParaRPr/>
            </a:p>
          </p:txBody>
        </p:sp>
        <p:sp>
          <p:nvSpPr>
            <p:cNvPr id="9" name="TextBox 8"/>
            <p:cNvSpPr txBox="1"/>
            <p:nvPr/>
          </p:nvSpPr>
          <p:spPr bwMode="auto">
            <a:xfrm>
              <a:off x="1045242" y="1751674"/>
              <a:ext cx="1839070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US" sz="2800" b="1">
                  <a:ln w="22225">
                    <a:solidFill>
                      <a:srgbClr val="0070C0"/>
                    </a:solidFill>
                    <a:prstDash val="solid"/>
                  </a:ln>
                  <a:solidFill>
                    <a:srgbClr val="FFFF00"/>
                  </a:solidFill>
                </a:rPr>
                <a:t>Knowledge </a:t>
              </a:r>
              <a:endParaRPr/>
            </a:p>
            <a:p>
              <a:pPr algn="ctr">
                <a:defRPr/>
              </a:pPr>
              <a:r>
                <a:rPr lang="en-US" sz="2800" b="1">
                  <a:ln w="22225">
                    <a:solidFill>
                      <a:srgbClr val="0070C0"/>
                    </a:solidFill>
                    <a:prstDash val="solid"/>
                  </a:ln>
                  <a:solidFill>
                    <a:srgbClr val="FFFF00"/>
                  </a:solidFill>
                </a:rPr>
                <a:t>Check</a:t>
              </a:r>
              <a:endParaRPr/>
            </a:p>
          </p:txBody>
        </p:sp>
        <p:sp>
          <p:nvSpPr>
            <p:cNvPr id="11" name="Rectangle 10"/>
            <p:cNvSpPr/>
            <p:nvPr/>
          </p:nvSpPr>
          <p:spPr bwMode="auto">
            <a:xfrm>
              <a:off x="992458" y="1530650"/>
              <a:ext cx="7159083" cy="2082346"/>
            </a:xfrm>
            <a:prstGeom prst="rect">
              <a:avLst/>
            </a:prstGeom>
            <a:noFill/>
            <a:ln w="38100">
              <a:solidFill>
                <a:schemeClr val="bg1">
                  <a:lumMod val="5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 bwMode="auto">
            <a:xfrm>
              <a:off x="3705321" y="2798243"/>
              <a:ext cx="3892412" cy="6626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defRPr/>
              </a:pPr>
              <mc:AlternateContent xmlns:mc="http://schemas.openxmlformats.org/markup-compatibility/2006" xmlns:m="http://schemas.openxmlformats.org/officeDocument/2006/math">
                <mc:Choice xmlns:a14="http://schemas.microsoft.com/office/drawing/2010/main" Requires="a14">
                  <a14:m>
                    <m:oMathPara>
                      <m:oMathParaPr>
                        <m:jc m:val="centerGroup"/>
                      </m:oMathParaPr>
                      <m:oMath>
                        <m:f>
                          <m:fPr>
                            <m:ctrlPr>
                              <a:rPr lang="en-US" i="1"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m:rPr>
                                <m:nor m:val="on"/>
                              </m:rPr>
                              <a:rPr lang="en-US">
                                <a:solidFill>
                                  <a:srgbClr val="FF0000"/>
                                </a:solidFill>
                              </a:rPr>
                              <m:t>Total</m:t>
                            </m:r>
                            <m:r>
                              <m:rPr>
                                <m:nor m:val="on"/>
                              </m:rPr>
                              <a:rPr lang="en-US">
                                <a:solidFill>
                                  <a:srgbClr val="FF0000"/>
                                </a:solidFill>
                              </a:rPr>
                              <m:t> </m:t>
                            </m:r>
                            <m:r>
                              <m:rPr>
                                <m:nor m:val="on"/>
                              </m:rPr>
                              <a:rPr lang="en-US">
                                <a:solidFill>
                                  <a:srgbClr val="FF0000"/>
                                </a:solidFill>
                              </a:rPr>
                              <m:t>Guanines</m:t>
                            </m:r>
                            <m:r>
                              <m:rPr>
                                <m:nor m:val="on"/>
                              </m:rPr>
                              <a:rPr lang="en-US"/>
                              <m:t> + </m:t>
                            </m:r>
                            <m:r>
                              <m:rPr>
                                <m:nor m:val="on"/>
                              </m:rPr>
                              <a:rPr lang="en-US">
                                <a:solidFill>
                                  <a:srgbClr val="FF0000"/>
                                </a:solidFill>
                              </a:rPr>
                              <m:t>Total</m:t>
                            </m:r>
                            <m:r>
                              <m:rPr>
                                <m:nor m:val="on"/>
                              </m:rPr>
                              <a:rPr lang="en-US">
                                <a:solidFill>
                                  <a:srgbClr val="FF0000"/>
                                </a:solidFill>
                              </a:rPr>
                              <m:t> </m:t>
                            </m:r>
                            <m:r>
                              <m:rPr>
                                <m:nor m:val="on"/>
                              </m:rPr>
                              <a:rPr lang="en-US">
                                <a:solidFill>
                                  <a:srgbClr val="FF0000"/>
                                </a:solidFill>
                              </a:rPr>
                              <m:t>Cytosines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US" b="0" i="0">
                                <a:solidFill>
                                  <a:srgbClr val="00B050"/>
                                </a:solidFill>
                                <a:latin typeface="Cambria Math"/>
                              </a:rPr>
                              <m:t>Total</m:t>
                            </m:r>
                            <m:r>
                              <m:rPr/>
                              <a:rPr lang="en-US" b="0" i="0">
                                <a:solidFill>
                                  <a:srgbClr val="00B050"/>
                                </a:solidFill>
                                <a:latin typeface="Cambria Math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b="0" i="0">
                                <a:solidFill>
                                  <a:srgbClr val="00B050"/>
                                </a:solidFill>
                                <a:latin typeface="Cambria Math"/>
                              </a:rPr>
                              <m:t>Sequence</m:t>
                            </m:r>
                            <m:r>
                              <m:rPr/>
                              <a:rPr lang="en-US" b="0" i="0">
                                <a:solidFill>
                                  <a:srgbClr val="00B050"/>
                                </a:solidFill>
                                <a:latin typeface="Cambria Math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b="0" i="0">
                                <a:solidFill>
                                  <a:srgbClr val="00B050"/>
                                </a:solidFill>
                                <a:latin typeface="Cambria Math"/>
                              </a:rPr>
                              <m:t>Length</m:t>
                            </m:r>
                          </m:den>
                        </m:f>
                        <m:r>
                          <m:rPr/>
                          <a:rPr lang="en-US" b="0" i="0">
                            <a:latin typeface="Cambria Math"/>
                          </a:rPr>
                          <m:t> ∗100</m:t>
                        </m:r>
                      </m:oMath>
                    </m:oMathPara>
                  </a14:m>
                </mc:Choice>
                <mc:Fallback/>
              </mc:AlternateContent>
              <a:endParaRPr lang="en-US"/>
            </a:p>
          </p:txBody>
        </p:sp>
      </p:grpSp>
      <p:sp>
        <p:nvSpPr>
          <p:cNvPr id="1337326230" name="Rectangle 15"/>
          <p:cNvSpPr/>
          <p:nvPr/>
        </p:nvSpPr>
        <p:spPr bwMode="auto">
          <a:xfrm>
            <a:off x="628649" y="4032176"/>
            <a:ext cx="7886701" cy="193503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3600" b="1">
                <a:solidFill>
                  <a:srgbClr val="FF0000"/>
                </a:solidFill>
              </a:rPr>
              <a:t>Return total Guanines and Cytosines of the DNA sequence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1038682" name="Rectangle 4"/>
          <p:cNvSpPr/>
          <p:nvPr/>
        </p:nvSpPr>
        <p:spPr bwMode="auto">
          <a:xfrm>
            <a:off x="628649" y="4032176"/>
            <a:ext cx="7886701" cy="1935030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3600" b="1">
              <a:solidFill>
                <a:srgbClr val="FF0000"/>
              </a:solidFill>
            </a:endParaRPr>
          </a:p>
        </p:txBody>
      </p:sp>
      <p:sp>
        <p:nvSpPr>
          <p:cNvPr id="1566206858" name="Title 1"/>
          <p:cNvSpPr txBox="1"/>
          <p:nvPr/>
        </p:nvSpPr>
        <p:spPr bwMode="auto">
          <a:xfrm>
            <a:off x="0" y="1"/>
            <a:ext cx="9144000" cy="1282389"/>
          </a:xfrm>
          <a:prstGeom prst="rect">
            <a:avLst/>
          </a:prstGeom>
          <a:solidFill>
            <a:srgbClr val="FFFFFF"/>
          </a:solidFill>
          <a:ln w="76200">
            <a:solidFill>
              <a:srgbClr val="FF0000"/>
            </a:solidFill>
          </a:ln>
        </p:spPr>
        <p:txBody>
          <a:bodyPr>
            <a:noAutofit/>
          </a:bodyPr>
          <a:lstStyle>
            <a:lvl1pPr algn="ctr" defTabSz="914400" rtl="0">
              <a:lnSpc>
                <a:spcPct val="90000"/>
              </a:lnSpc>
              <a:spcBef>
                <a:spcPts val="0"/>
              </a:spcBef>
              <a:buNone/>
              <a:defRPr sz="44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4100">
                <a:latin typeface="Times New Roman"/>
                <a:cs typeface="Times New Roman"/>
              </a:rPr>
              <a:t>Let’s find the GC content of the CRTAM DNA sequence.</a:t>
            </a:r>
            <a:endParaRPr lang="en-US" sz="4100"/>
          </a:p>
        </p:txBody>
      </p:sp>
      <p:sp>
        <p:nvSpPr>
          <p:cNvPr id="426626602" name="Slide Number Placeholder 1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144BBB-DA99-4FDF-9E1F-B5EEC68D5D7C}" type="slidenum">
              <a:rPr lang="es-ES_tradnl"/>
              <a:t>64</a:t>
            </a:fld>
            <a:endParaRPr lang="es-ES_tradnl"/>
          </a:p>
        </p:txBody>
      </p:sp>
      <p:grpSp>
        <p:nvGrpSpPr>
          <p:cNvPr id="167714306" name="Group 12"/>
          <p:cNvGrpSpPr/>
          <p:nvPr/>
        </p:nvGrpSpPr>
        <p:grpSpPr bwMode="auto">
          <a:xfrm>
            <a:off x="992458" y="1616110"/>
            <a:ext cx="7248292" cy="2082346"/>
            <a:chOff x="992458" y="1530650"/>
            <a:chExt cx="7248292" cy="2082346"/>
          </a:xfrm>
        </p:grpSpPr>
        <p:sp>
          <p:nvSpPr>
            <p:cNvPr id="7" name="TextBox 6"/>
            <p:cNvSpPr txBox="1"/>
            <p:nvPr/>
          </p:nvSpPr>
          <p:spPr bwMode="auto">
            <a:xfrm>
              <a:off x="2839279" y="1597914"/>
              <a:ext cx="5401471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US" b="1" u="sng"/>
                <a:t>GC content</a:t>
              </a:r>
              <a:endParaRPr/>
            </a:p>
            <a:p>
              <a:pPr marL="285750" indent="-285750">
                <a:buFont typeface="Arial"/>
                <a:buChar char="•"/>
                <a:defRPr/>
              </a:pPr>
              <a:r>
                <a:rPr lang="en-US"/>
                <a:t>The percentage of the proportion of guanines and cytosines to the total length of the DNA sequence. </a:t>
              </a:r>
              <a:endParaRPr/>
            </a:p>
            <a:p>
              <a:pPr marL="285750" indent="-285750">
                <a:buFont typeface="Arial"/>
                <a:buChar char="•"/>
                <a:defRPr/>
              </a:pPr>
              <a:r>
                <a:rPr lang="en-US"/>
                <a:t>Provides an idea of stable a sequence is.</a:t>
              </a:r>
              <a:endParaRPr/>
            </a:p>
          </p:txBody>
        </p:sp>
        <p:sp>
          <p:nvSpPr>
            <p:cNvPr id="9" name="TextBox 8"/>
            <p:cNvSpPr txBox="1"/>
            <p:nvPr/>
          </p:nvSpPr>
          <p:spPr bwMode="auto">
            <a:xfrm>
              <a:off x="1045242" y="1751674"/>
              <a:ext cx="1839070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US" sz="2800" b="1">
                  <a:ln w="22225">
                    <a:solidFill>
                      <a:srgbClr val="0070C0"/>
                    </a:solidFill>
                    <a:prstDash val="solid"/>
                  </a:ln>
                  <a:solidFill>
                    <a:srgbClr val="FFFF00"/>
                  </a:solidFill>
                </a:rPr>
                <a:t>Knowledge </a:t>
              </a:r>
              <a:endParaRPr/>
            </a:p>
            <a:p>
              <a:pPr algn="ctr">
                <a:defRPr/>
              </a:pPr>
              <a:r>
                <a:rPr lang="en-US" sz="2800" b="1">
                  <a:ln w="22225">
                    <a:solidFill>
                      <a:srgbClr val="0070C0"/>
                    </a:solidFill>
                    <a:prstDash val="solid"/>
                  </a:ln>
                  <a:solidFill>
                    <a:srgbClr val="FFFF00"/>
                  </a:solidFill>
                </a:rPr>
                <a:t>Check</a:t>
              </a:r>
              <a:endParaRPr/>
            </a:p>
          </p:txBody>
        </p:sp>
        <p:sp>
          <p:nvSpPr>
            <p:cNvPr id="11" name="Rectangle 10"/>
            <p:cNvSpPr/>
            <p:nvPr/>
          </p:nvSpPr>
          <p:spPr bwMode="auto">
            <a:xfrm>
              <a:off x="992458" y="1530650"/>
              <a:ext cx="7159083" cy="2082346"/>
            </a:xfrm>
            <a:prstGeom prst="rect">
              <a:avLst/>
            </a:prstGeom>
            <a:noFill/>
            <a:ln w="38100">
              <a:solidFill>
                <a:schemeClr val="bg1">
                  <a:lumMod val="5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 bwMode="auto">
            <a:xfrm>
              <a:off x="3705321" y="2798243"/>
              <a:ext cx="3892412" cy="6626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defRPr/>
              </a:pPr>
              <mc:AlternateContent xmlns:mc="http://schemas.openxmlformats.org/markup-compatibility/2006" xmlns:m="http://schemas.openxmlformats.org/officeDocument/2006/math">
                <mc:Choice xmlns:a14="http://schemas.microsoft.com/office/drawing/2010/main" Requires="a14">
                  <a14:m>
                    <m:oMathPara>
                      <m:oMathParaPr>
                        <m:jc m:val="centerGroup"/>
                      </m:oMathParaPr>
                      <m:oMath>
                        <m:f>
                          <m:fPr>
                            <m:ctrlPr>
                              <a:rPr lang="en-US" i="1"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m:rPr>
                                <m:nor m:val="on"/>
                              </m:rPr>
                              <a:rPr lang="en-US">
                                <a:solidFill>
                                  <a:srgbClr val="00B050"/>
                                </a:solidFill>
                              </a:rPr>
                              <m:t>Total</m:t>
                            </m:r>
                            <m:r>
                              <m:rPr>
                                <m:nor m:val="on"/>
                              </m:rPr>
                              <a:rPr lang="en-US">
                                <a:solidFill>
                                  <a:srgbClr val="00B050"/>
                                </a:solidFill>
                              </a:rPr>
                              <m:t> </m:t>
                            </m:r>
                            <m:r>
                              <m:rPr>
                                <m:nor m:val="on"/>
                              </m:rPr>
                              <a:rPr lang="en-US">
                                <a:solidFill>
                                  <a:srgbClr val="00B050"/>
                                </a:solidFill>
                              </a:rPr>
                              <m:t>Guanines</m:t>
                            </m:r>
                            <m:r>
                              <m:rPr>
                                <m:nor m:val="on"/>
                              </m:rPr>
                              <a:rPr lang="en-US"/>
                              <m:t> + </m:t>
                            </m:r>
                            <m:r>
                              <m:rPr>
                                <m:nor m:val="on"/>
                              </m:rPr>
                              <a:rPr lang="en-US">
                                <a:solidFill>
                                  <a:srgbClr val="00B050"/>
                                </a:solidFill>
                              </a:rPr>
                              <m:t>Total</m:t>
                            </m:r>
                            <m:r>
                              <m:rPr>
                                <m:nor m:val="on"/>
                              </m:rPr>
                              <a:rPr lang="en-US">
                                <a:solidFill>
                                  <a:srgbClr val="00B050"/>
                                </a:solidFill>
                              </a:rPr>
                              <m:t> </m:t>
                            </m:r>
                            <m:r>
                              <m:rPr>
                                <m:nor m:val="on"/>
                              </m:rPr>
                              <a:rPr lang="en-US">
                                <a:solidFill>
                                  <a:srgbClr val="00B050"/>
                                </a:solidFill>
                              </a:rPr>
                              <m:t>Cytosines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US" b="0" i="0">
                                <a:solidFill>
                                  <a:srgbClr val="00B050"/>
                                </a:solidFill>
                                <a:latin typeface="Cambria Math"/>
                              </a:rPr>
                              <m:t>Total</m:t>
                            </m:r>
                            <m:r>
                              <m:rPr/>
                              <a:rPr lang="en-US" b="0" i="0">
                                <a:solidFill>
                                  <a:srgbClr val="00B050"/>
                                </a:solidFill>
                                <a:latin typeface="Cambria Math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b="0" i="0">
                                <a:solidFill>
                                  <a:srgbClr val="00B050"/>
                                </a:solidFill>
                                <a:latin typeface="Cambria Math"/>
                              </a:rPr>
                              <m:t>Sequence</m:t>
                            </m:r>
                            <m:r>
                              <m:rPr/>
                              <a:rPr lang="en-US" b="0" i="0">
                                <a:solidFill>
                                  <a:srgbClr val="00B050"/>
                                </a:solidFill>
                                <a:latin typeface="Cambria Math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b="0" i="0">
                                <a:solidFill>
                                  <a:srgbClr val="00B050"/>
                                </a:solidFill>
                                <a:latin typeface="Cambria Math"/>
                              </a:rPr>
                              <m:t>Length</m:t>
                            </m:r>
                          </m:den>
                        </m:f>
                        <m:r>
                          <m:rPr/>
                          <a:rPr lang="en-US" b="0" i="0">
                            <a:latin typeface="Cambria Math"/>
                          </a:rPr>
                          <m:t> ∗100</m:t>
                        </m:r>
                      </m:oMath>
                    </m:oMathPara>
                  </a14:m>
                </mc:Choice>
                <mc:Fallback/>
              </mc:AlternateContent>
              <a:endParaRPr lang="en-US"/>
            </a:p>
          </p:txBody>
        </p:sp>
      </p:grpSp>
      <p:pic>
        <p:nvPicPr>
          <p:cNvPr id="719092406" name="Picture 9"/>
          <p:cNvPicPr>
            <a:picLocks noChangeAspect="1"/>
          </p:cNvPicPr>
          <p:nvPr/>
        </p:nvPicPr>
        <p:blipFill rotWithShape="1">
          <a:blip r:embed="rId3"/>
          <a:srcRect l="25180" t="50764" r="38124" b="37792"/>
          <a:stretch/>
        </p:blipFill>
        <p:spPr bwMode="auto">
          <a:xfrm>
            <a:off x="691377" y="4145347"/>
            <a:ext cx="7801672" cy="15207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94354614" name="Picture 3" descr="Graphical user interface, text, application&#10;&#10;Description automatically generated"/>
          <p:cNvPicPr>
            <a:picLocks noChangeAspect="1"/>
          </p:cNvPicPr>
          <p:nvPr/>
        </p:nvPicPr>
        <p:blipFill rotWithShape="1">
          <a:blip r:embed="rId3"/>
          <a:srcRect l="24677" t="65096" r="39060" b="24531"/>
          <a:stretch/>
        </p:blipFill>
        <p:spPr bwMode="auto">
          <a:xfrm>
            <a:off x="1167098" y="4032176"/>
            <a:ext cx="6767908" cy="1209714"/>
          </a:xfrm>
          <a:prstGeom prst="rect">
            <a:avLst/>
          </a:prstGeom>
          <a:effectLst/>
        </p:spPr>
      </p:pic>
      <p:sp>
        <p:nvSpPr>
          <p:cNvPr id="1072376269" name="Rectangle 4"/>
          <p:cNvSpPr/>
          <p:nvPr/>
        </p:nvSpPr>
        <p:spPr bwMode="auto">
          <a:xfrm>
            <a:off x="1070503" y="3978615"/>
            <a:ext cx="7002991" cy="1412062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3600" b="1">
                <a:solidFill>
                  <a:srgbClr val="FF0000"/>
                </a:solidFill>
              </a:rPr>
              <a:t>Return GC Content</a:t>
            </a:r>
            <a:endParaRPr/>
          </a:p>
        </p:txBody>
      </p:sp>
      <p:sp>
        <p:nvSpPr>
          <p:cNvPr id="1509113920" name="Title 1"/>
          <p:cNvSpPr txBox="1"/>
          <p:nvPr/>
        </p:nvSpPr>
        <p:spPr bwMode="auto">
          <a:xfrm>
            <a:off x="0" y="1"/>
            <a:ext cx="9144000" cy="1282389"/>
          </a:xfrm>
          <a:prstGeom prst="rect">
            <a:avLst/>
          </a:prstGeom>
          <a:solidFill>
            <a:srgbClr val="FFFFFF"/>
          </a:solidFill>
          <a:ln w="76200">
            <a:solidFill>
              <a:srgbClr val="FF0000"/>
            </a:solidFill>
          </a:ln>
        </p:spPr>
        <p:txBody>
          <a:bodyPr>
            <a:noAutofit/>
          </a:bodyPr>
          <a:lstStyle>
            <a:lvl1pPr algn="ctr" defTabSz="914400" rtl="0">
              <a:lnSpc>
                <a:spcPct val="90000"/>
              </a:lnSpc>
              <a:spcBef>
                <a:spcPts val="0"/>
              </a:spcBef>
              <a:buNone/>
              <a:defRPr sz="44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4100">
                <a:latin typeface="Times New Roman"/>
                <a:cs typeface="Times New Roman"/>
              </a:rPr>
              <a:t>Let’s find the GC content of the CRTAM DNA sequence.</a:t>
            </a:r>
            <a:endParaRPr lang="en-US" sz="4100"/>
          </a:p>
        </p:txBody>
      </p:sp>
      <p:sp>
        <p:nvSpPr>
          <p:cNvPr id="167742736" name="Slide Number Placeholder 1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144BBB-DA99-4FDF-9E1F-B5EEC68D5D7C}" type="slidenum">
              <a:rPr lang="es-ES_tradnl"/>
              <a:t>65</a:t>
            </a:fld>
            <a:endParaRPr lang="es-ES_tradnl"/>
          </a:p>
        </p:txBody>
      </p:sp>
      <p:grpSp>
        <p:nvGrpSpPr>
          <p:cNvPr id="379796633" name="Group 12"/>
          <p:cNvGrpSpPr/>
          <p:nvPr/>
        </p:nvGrpSpPr>
        <p:grpSpPr bwMode="auto">
          <a:xfrm>
            <a:off x="992458" y="1616110"/>
            <a:ext cx="7248292" cy="2082346"/>
            <a:chOff x="992458" y="1530650"/>
            <a:chExt cx="7248292" cy="2082346"/>
          </a:xfrm>
        </p:grpSpPr>
        <p:sp>
          <p:nvSpPr>
            <p:cNvPr id="7" name="TextBox 6"/>
            <p:cNvSpPr txBox="1"/>
            <p:nvPr/>
          </p:nvSpPr>
          <p:spPr bwMode="auto">
            <a:xfrm>
              <a:off x="2839279" y="1597914"/>
              <a:ext cx="5401471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US" b="1" u="sng"/>
                <a:t>GC content</a:t>
              </a:r>
              <a:endParaRPr/>
            </a:p>
            <a:p>
              <a:pPr marL="285750" indent="-285750">
                <a:buFont typeface="Arial"/>
                <a:buChar char="•"/>
                <a:defRPr/>
              </a:pPr>
              <a:r>
                <a:rPr lang="en-US"/>
                <a:t>The percentage of the proportion of guanines and cytosines to the total length of the DNA sequence. </a:t>
              </a:r>
              <a:endParaRPr/>
            </a:p>
            <a:p>
              <a:pPr marL="285750" indent="-285750">
                <a:buFont typeface="Arial"/>
                <a:buChar char="•"/>
                <a:defRPr/>
              </a:pPr>
              <a:r>
                <a:rPr lang="en-US"/>
                <a:t>Provides an idea of stable a sequence is.</a:t>
              </a:r>
              <a:endParaRPr/>
            </a:p>
          </p:txBody>
        </p:sp>
        <p:sp>
          <p:nvSpPr>
            <p:cNvPr id="9" name="TextBox 8"/>
            <p:cNvSpPr txBox="1"/>
            <p:nvPr/>
          </p:nvSpPr>
          <p:spPr bwMode="auto">
            <a:xfrm>
              <a:off x="1045242" y="1751674"/>
              <a:ext cx="1839070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US" sz="2800" b="1">
                  <a:ln w="22225">
                    <a:solidFill>
                      <a:srgbClr val="0070C0"/>
                    </a:solidFill>
                    <a:prstDash val="solid"/>
                  </a:ln>
                  <a:solidFill>
                    <a:srgbClr val="FFFF00"/>
                  </a:solidFill>
                </a:rPr>
                <a:t>Knowledge </a:t>
              </a:r>
              <a:endParaRPr/>
            </a:p>
            <a:p>
              <a:pPr algn="ctr">
                <a:defRPr/>
              </a:pPr>
              <a:r>
                <a:rPr lang="en-US" sz="2800" b="1">
                  <a:ln w="22225">
                    <a:solidFill>
                      <a:srgbClr val="0070C0"/>
                    </a:solidFill>
                    <a:prstDash val="solid"/>
                  </a:ln>
                  <a:solidFill>
                    <a:srgbClr val="FFFF00"/>
                  </a:solidFill>
                </a:rPr>
                <a:t>Check</a:t>
              </a:r>
              <a:endParaRPr/>
            </a:p>
          </p:txBody>
        </p:sp>
        <p:sp>
          <p:nvSpPr>
            <p:cNvPr id="11" name="Rectangle 10"/>
            <p:cNvSpPr/>
            <p:nvPr/>
          </p:nvSpPr>
          <p:spPr bwMode="auto">
            <a:xfrm>
              <a:off x="992458" y="1530650"/>
              <a:ext cx="7159083" cy="2082346"/>
            </a:xfrm>
            <a:prstGeom prst="rect">
              <a:avLst/>
            </a:prstGeom>
            <a:noFill/>
            <a:ln w="38100">
              <a:solidFill>
                <a:schemeClr val="bg1">
                  <a:lumMod val="5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 bwMode="auto">
            <a:xfrm>
              <a:off x="3705321" y="2798243"/>
              <a:ext cx="3892412" cy="6626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defRPr/>
              </a:pPr>
              <mc:AlternateContent xmlns:mc="http://schemas.openxmlformats.org/markup-compatibility/2006" xmlns:m="http://schemas.openxmlformats.org/officeDocument/2006/math">
                <mc:Choice xmlns:a14="http://schemas.microsoft.com/office/drawing/2010/main" Requires="a14">
                  <a14:m>
                    <m:oMathPara>
                      <m:oMathParaPr>
                        <m:jc m:val="centerGroup"/>
                      </m:oMathParaPr>
                      <m:oMath>
                        <m:f>
                          <m:fPr>
                            <m:ctrlPr>
                              <a:rPr lang="en-US" i="1"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m:rPr>
                                <m:nor m:val="on"/>
                              </m:rPr>
                              <a:rPr lang="en-US">
                                <a:solidFill>
                                  <a:srgbClr val="00B050"/>
                                </a:solidFill>
                              </a:rPr>
                              <m:t>Total</m:t>
                            </m:r>
                            <m:r>
                              <m:rPr>
                                <m:nor m:val="on"/>
                              </m:rPr>
                              <a:rPr lang="en-US">
                                <a:solidFill>
                                  <a:srgbClr val="00B050"/>
                                </a:solidFill>
                              </a:rPr>
                              <m:t> </m:t>
                            </m:r>
                            <m:r>
                              <m:rPr>
                                <m:nor m:val="on"/>
                              </m:rPr>
                              <a:rPr lang="en-US">
                                <a:solidFill>
                                  <a:srgbClr val="00B050"/>
                                </a:solidFill>
                              </a:rPr>
                              <m:t>Guanines</m:t>
                            </m:r>
                            <m:r>
                              <m:rPr>
                                <m:nor m:val="on"/>
                              </m:rPr>
                              <a:rPr lang="en-US"/>
                              <m:t> + </m:t>
                            </m:r>
                            <m:r>
                              <m:rPr>
                                <m:nor m:val="on"/>
                              </m:rPr>
                              <a:rPr lang="en-US">
                                <a:solidFill>
                                  <a:srgbClr val="00B050"/>
                                </a:solidFill>
                              </a:rPr>
                              <m:t>Total</m:t>
                            </m:r>
                            <m:r>
                              <m:rPr>
                                <m:nor m:val="on"/>
                              </m:rPr>
                              <a:rPr lang="en-US">
                                <a:solidFill>
                                  <a:srgbClr val="00B050"/>
                                </a:solidFill>
                              </a:rPr>
                              <m:t> </m:t>
                            </m:r>
                            <m:r>
                              <m:rPr>
                                <m:nor m:val="on"/>
                              </m:rPr>
                              <a:rPr lang="en-US">
                                <a:solidFill>
                                  <a:srgbClr val="00B050"/>
                                </a:solidFill>
                              </a:rPr>
                              <m:t>Cytosines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US" b="0" i="0">
                                <a:solidFill>
                                  <a:srgbClr val="00B050"/>
                                </a:solidFill>
                                <a:latin typeface="Cambria Math"/>
                              </a:rPr>
                              <m:t>Total</m:t>
                            </m:r>
                            <m:r>
                              <m:rPr/>
                              <a:rPr lang="en-US" b="0" i="0">
                                <a:solidFill>
                                  <a:srgbClr val="00B050"/>
                                </a:solidFill>
                                <a:latin typeface="Cambria Math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b="0" i="0">
                                <a:solidFill>
                                  <a:srgbClr val="00B050"/>
                                </a:solidFill>
                                <a:latin typeface="Cambria Math"/>
                              </a:rPr>
                              <m:t>Sequence</m:t>
                            </m:r>
                            <m:r>
                              <m:rPr/>
                              <a:rPr lang="en-US" b="0" i="0">
                                <a:solidFill>
                                  <a:srgbClr val="00B050"/>
                                </a:solidFill>
                                <a:latin typeface="Cambria Math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b="0" i="0">
                                <a:solidFill>
                                  <a:srgbClr val="00B050"/>
                                </a:solidFill>
                                <a:latin typeface="Cambria Math"/>
                              </a:rPr>
                              <m:t>Length</m:t>
                            </m:r>
                          </m:den>
                        </m:f>
                        <m:r>
                          <m:rPr/>
                          <a:rPr lang="en-US" b="0" i="0">
                            <a:latin typeface="Cambria Math"/>
                          </a:rPr>
                          <m:t> ∗100</m:t>
                        </m:r>
                      </m:oMath>
                    </m:oMathPara>
                  </a14:m>
                </mc:Choice>
                <mc:Fallback/>
              </mc:AlternateContent>
              <a:endParaRPr lang="en-US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1753093" name="Rectangle 4"/>
          <p:cNvSpPr/>
          <p:nvPr/>
        </p:nvSpPr>
        <p:spPr bwMode="auto">
          <a:xfrm>
            <a:off x="1070503" y="3978615"/>
            <a:ext cx="7002991" cy="1412062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3600" b="1">
              <a:solidFill>
                <a:srgbClr val="FF0000"/>
              </a:solidFill>
            </a:endParaRPr>
          </a:p>
        </p:txBody>
      </p:sp>
      <p:sp>
        <p:nvSpPr>
          <p:cNvPr id="591471901" name="Title 1"/>
          <p:cNvSpPr txBox="1"/>
          <p:nvPr/>
        </p:nvSpPr>
        <p:spPr bwMode="auto">
          <a:xfrm>
            <a:off x="0" y="1"/>
            <a:ext cx="9144000" cy="1282389"/>
          </a:xfrm>
          <a:prstGeom prst="rect">
            <a:avLst/>
          </a:prstGeom>
          <a:solidFill>
            <a:srgbClr val="FFFFFF"/>
          </a:solidFill>
          <a:ln w="76200">
            <a:solidFill>
              <a:srgbClr val="FF0000"/>
            </a:solidFill>
          </a:ln>
        </p:spPr>
        <p:txBody>
          <a:bodyPr>
            <a:noAutofit/>
          </a:bodyPr>
          <a:lstStyle>
            <a:lvl1pPr algn="ctr" defTabSz="914400" rtl="0">
              <a:lnSpc>
                <a:spcPct val="90000"/>
              </a:lnSpc>
              <a:spcBef>
                <a:spcPts val="0"/>
              </a:spcBef>
              <a:buNone/>
              <a:defRPr sz="44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4100">
                <a:latin typeface="Times New Roman"/>
                <a:cs typeface="Times New Roman"/>
              </a:rPr>
              <a:t>Let’s find the GC content of the CRTAM DNA sequence.</a:t>
            </a:r>
            <a:endParaRPr lang="en-US" sz="4100"/>
          </a:p>
        </p:txBody>
      </p:sp>
      <p:sp>
        <p:nvSpPr>
          <p:cNvPr id="1835853275" name="Slide Number Placeholder 1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144BBB-DA99-4FDF-9E1F-B5EEC68D5D7C}" type="slidenum">
              <a:rPr lang="es-ES_tradnl"/>
              <a:t>66</a:t>
            </a:fld>
            <a:endParaRPr lang="es-ES_tradnl"/>
          </a:p>
        </p:txBody>
      </p:sp>
      <p:grpSp>
        <p:nvGrpSpPr>
          <p:cNvPr id="596589598" name="Group 12"/>
          <p:cNvGrpSpPr/>
          <p:nvPr/>
        </p:nvGrpSpPr>
        <p:grpSpPr bwMode="auto">
          <a:xfrm>
            <a:off x="992458" y="1616110"/>
            <a:ext cx="7248292" cy="2082346"/>
            <a:chOff x="992458" y="1530650"/>
            <a:chExt cx="7248292" cy="2082346"/>
          </a:xfrm>
        </p:grpSpPr>
        <p:sp>
          <p:nvSpPr>
            <p:cNvPr id="7" name="TextBox 6"/>
            <p:cNvSpPr txBox="1"/>
            <p:nvPr/>
          </p:nvSpPr>
          <p:spPr bwMode="auto">
            <a:xfrm>
              <a:off x="2839279" y="1597914"/>
              <a:ext cx="5401471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US" b="1" u="sng"/>
                <a:t>GC content</a:t>
              </a:r>
              <a:endParaRPr/>
            </a:p>
            <a:p>
              <a:pPr marL="285750" indent="-285750">
                <a:buFont typeface="Arial"/>
                <a:buChar char="•"/>
                <a:defRPr/>
              </a:pPr>
              <a:r>
                <a:rPr lang="en-US"/>
                <a:t>The percentage of the proportion of guanines and cytosines to the total length of the DNA sequence. </a:t>
              </a:r>
              <a:endParaRPr/>
            </a:p>
            <a:p>
              <a:pPr marL="285750" indent="-285750">
                <a:buFont typeface="Arial"/>
                <a:buChar char="•"/>
                <a:defRPr/>
              </a:pPr>
              <a:r>
                <a:rPr lang="en-US"/>
                <a:t>Provides an idea of stable a sequence is.</a:t>
              </a:r>
              <a:endParaRPr/>
            </a:p>
          </p:txBody>
        </p:sp>
        <p:sp>
          <p:nvSpPr>
            <p:cNvPr id="9" name="TextBox 8"/>
            <p:cNvSpPr txBox="1"/>
            <p:nvPr/>
          </p:nvSpPr>
          <p:spPr bwMode="auto">
            <a:xfrm>
              <a:off x="1045242" y="1751674"/>
              <a:ext cx="1839070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US" sz="2800" b="1">
                  <a:ln w="22225">
                    <a:solidFill>
                      <a:srgbClr val="0070C0"/>
                    </a:solidFill>
                    <a:prstDash val="solid"/>
                  </a:ln>
                  <a:solidFill>
                    <a:srgbClr val="FFFF00"/>
                  </a:solidFill>
                </a:rPr>
                <a:t>Knowledge </a:t>
              </a:r>
              <a:endParaRPr/>
            </a:p>
            <a:p>
              <a:pPr algn="ctr">
                <a:defRPr/>
              </a:pPr>
              <a:r>
                <a:rPr lang="en-US" sz="2800" b="1">
                  <a:ln w="22225">
                    <a:solidFill>
                      <a:srgbClr val="0070C0"/>
                    </a:solidFill>
                    <a:prstDash val="solid"/>
                  </a:ln>
                  <a:solidFill>
                    <a:srgbClr val="FFFF00"/>
                  </a:solidFill>
                </a:rPr>
                <a:t>Check</a:t>
              </a:r>
              <a:endParaRPr/>
            </a:p>
          </p:txBody>
        </p:sp>
        <p:sp>
          <p:nvSpPr>
            <p:cNvPr id="11" name="Rectangle 10"/>
            <p:cNvSpPr/>
            <p:nvPr/>
          </p:nvSpPr>
          <p:spPr bwMode="auto">
            <a:xfrm>
              <a:off x="992458" y="1530650"/>
              <a:ext cx="7159083" cy="2082346"/>
            </a:xfrm>
            <a:prstGeom prst="rect">
              <a:avLst/>
            </a:prstGeom>
            <a:noFill/>
            <a:ln w="38100">
              <a:solidFill>
                <a:schemeClr val="bg1">
                  <a:lumMod val="5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 bwMode="auto">
            <a:xfrm>
              <a:off x="3705321" y="2798243"/>
              <a:ext cx="3892412" cy="6626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defRPr/>
              </a:pPr>
              <mc:AlternateContent xmlns:mc="http://schemas.openxmlformats.org/markup-compatibility/2006" xmlns:m="http://schemas.openxmlformats.org/officeDocument/2006/math">
                <mc:Choice xmlns:a14="http://schemas.microsoft.com/office/drawing/2010/main" Requires="a14">
                  <a14:m>
                    <m:oMathPara>
                      <m:oMathParaPr>
                        <m:jc m:val="centerGroup"/>
                      </m:oMathParaPr>
                      <m:oMath>
                        <m:f>
                          <m:fPr>
                            <m:ctrlPr>
                              <a:rPr lang="en-US" i="1"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m:rPr>
                                <m:nor m:val="on"/>
                              </m:rPr>
                              <a:rPr lang="en-US">
                                <a:solidFill>
                                  <a:srgbClr val="00B050"/>
                                </a:solidFill>
                              </a:rPr>
                              <m:t>Total</m:t>
                            </m:r>
                            <m:r>
                              <m:rPr>
                                <m:nor m:val="on"/>
                              </m:rPr>
                              <a:rPr lang="en-US">
                                <a:solidFill>
                                  <a:srgbClr val="00B050"/>
                                </a:solidFill>
                              </a:rPr>
                              <m:t> </m:t>
                            </m:r>
                            <m:r>
                              <m:rPr>
                                <m:nor m:val="on"/>
                              </m:rPr>
                              <a:rPr lang="en-US">
                                <a:solidFill>
                                  <a:srgbClr val="00B050"/>
                                </a:solidFill>
                              </a:rPr>
                              <m:t>Guanines</m:t>
                            </m:r>
                            <m:r>
                              <m:rPr>
                                <m:nor m:val="on"/>
                              </m:rPr>
                              <a:rPr lang="en-US"/>
                              <m:t> + </m:t>
                            </m:r>
                            <m:r>
                              <m:rPr>
                                <m:nor m:val="on"/>
                              </m:rPr>
                              <a:rPr lang="en-US">
                                <a:solidFill>
                                  <a:srgbClr val="00B050"/>
                                </a:solidFill>
                              </a:rPr>
                              <m:t>Total</m:t>
                            </m:r>
                            <m:r>
                              <m:rPr>
                                <m:nor m:val="on"/>
                              </m:rPr>
                              <a:rPr lang="en-US">
                                <a:solidFill>
                                  <a:srgbClr val="00B050"/>
                                </a:solidFill>
                              </a:rPr>
                              <m:t> </m:t>
                            </m:r>
                            <m:r>
                              <m:rPr>
                                <m:nor m:val="on"/>
                              </m:rPr>
                              <a:rPr lang="en-US">
                                <a:solidFill>
                                  <a:srgbClr val="00B050"/>
                                </a:solidFill>
                              </a:rPr>
                              <m:t>Cytosines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US" b="0" i="0">
                                <a:solidFill>
                                  <a:srgbClr val="00B050"/>
                                </a:solidFill>
                                <a:latin typeface="Cambria Math"/>
                              </a:rPr>
                              <m:t>Total</m:t>
                            </m:r>
                            <m:r>
                              <m:rPr/>
                              <a:rPr lang="en-US" b="0" i="0">
                                <a:solidFill>
                                  <a:srgbClr val="00B050"/>
                                </a:solidFill>
                                <a:latin typeface="Cambria Math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b="0" i="0">
                                <a:solidFill>
                                  <a:srgbClr val="00B050"/>
                                </a:solidFill>
                                <a:latin typeface="Cambria Math"/>
                              </a:rPr>
                              <m:t>Sequence</m:t>
                            </m:r>
                            <m:r>
                              <m:rPr/>
                              <a:rPr lang="en-US" b="0" i="0">
                                <a:solidFill>
                                  <a:srgbClr val="00B050"/>
                                </a:solidFill>
                                <a:latin typeface="Cambria Math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b="0" i="0">
                                <a:solidFill>
                                  <a:srgbClr val="00B050"/>
                                </a:solidFill>
                                <a:latin typeface="Cambria Math"/>
                              </a:rPr>
                              <m:t>Length</m:t>
                            </m:r>
                          </m:den>
                        </m:f>
                        <m:r>
                          <m:rPr/>
                          <a:rPr lang="en-US" b="0" i="0">
                            <a:latin typeface="Cambria Math"/>
                          </a:rPr>
                          <m:t> ∗100</m:t>
                        </m:r>
                      </m:oMath>
                    </m:oMathPara>
                  </a14:m>
                </mc:Choice>
                <mc:Fallback/>
              </mc:AlternateContent>
              <a:endParaRPr lang="en-US"/>
            </a:p>
          </p:txBody>
        </p:sp>
      </p:grpSp>
      <p:pic>
        <p:nvPicPr>
          <p:cNvPr id="1345433460" name="Picture 3" descr="Graphical user interface, text, application&#10;&#10;Description automatically generated"/>
          <p:cNvPicPr>
            <a:picLocks noChangeAspect="1"/>
          </p:cNvPicPr>
          <p:nvPr/>
        </p:nvPicPr>
        <p:blipFill rotWithShape="1">
          <a:blip r:embed="rId3"/>
          <a:srcRect l="24677" t="65096" r="39060" b="24531"/>
          <a:stretch/>
        </p:blipFill>
        <p:spPr bwMode="auto">
          <a:xfrm>
            <a:off x="1167098" y="4032176"/>
            <a:ext cx="6767908" cy="1209714"/>
          </a:xfrm>
          <a:prstGeom prst="rect">
            <a:avLst/>
          </a:prstGeom>
          <a:effectLst/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3213626" name="Slide Number Placeholder 1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144BBB-DA99-4FDF-9E1F-B5EEC68D5D7C}" type="slidenum">
              <a:rPr lang="es-ES_tradnl"/>
              <a:t>67</a:t>
            </a:fld>
            <a:endParaRPr lang="es-ES_tradnl"/>
          </a:p>
        </p:txBody>
      </p:sp>
      <p:sp>
        <p:nvSpPr>
          <p:cNvPr id="10768471" name="Title 1"/>
          <p:cNvSpPr txBox="1"/>
          <p:nvPr/>
        </p:nvSpPr>
        <p:spPr bwMode="auto">
          <a:xfrm>
            <a:off x="0" y="1"/>
            <a:ext cx="9144000" cy="1282389"/>
          </a:xfrm>
          <a:prstGeom prst="rect">
            <a:avLst/>
          </a:prstGeom>
          <a:solidFill>
            <a:srgbClr val="FFFFFF"/>
          </a:solidFill>
          <a:ln w="76200">
            <a:solidFill>
              <a:srgbClr val="FF0000"/>
            </a:solidFill>
          </a:ln>
        </p:spPr>
        <p:txBody>
          <a:bodyPr>
            <a:noAutofit/>
          </a:bodyPr>
          <a:lstStyle>
            <a:lvl1pPr algn="ctr" defTabSz="914400" rtl="0">
              <a:lnSpc>
                <a:spcPct val="90000"/>
              </a:lnSpc>
              <a:spcBef>
                <a:spcPts val="0"/>
              </a:spcBef>
              <a:buNone/>
              <a:defRPr sz="44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4100">
                <a:latin typeface="Times New Roman"/>
                <a:cs typeface="Times New Roman"/>
              </a:rPr>
              <a:t>Let’s find the GC content of the CRTAM DNA sequence.</a:t>
            </a:r>
            <a:endParaRPr lang="en-US" sz="4100"/>
          </a:p>
        </p:txBody>
      </p:sp>
      <p:sp>
        <p:nvSpPr>
          <p:cNvPr id="1565308708" name="TextBox 5"/>
          <p:cNvSpPr txBox="1"/>
          <p:nvPr/>
        </p:nvSpPr>
        <p:spPr bwMode="auto">
          <a:xfrm>
            <a:off x="2089367" y="1450352"/>
            <a:ext cx="49652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2800" b="1">
                <a:ln w="22225">
                  <a:solidFill>
                    <a:srgbClr val="0070C0"/>
                  </a:solidFill>
                  <a:prstDash val="solid"/>
                </a:ln>
                <a:solidFill>
                  <a:srgbClr val="FFFF00"/>
                </a:solidFill>
              </a:rPr>
              <a:t>Overall Code</a:t>
            </a:r>
            <a:endParaRPr/>
          </a:p>
        </p:txBody>
      </p:sp>
      <p:pic>
        <p:nvPicPr>
          <p:cNvPr id="224166540" name="Picture 7"/>
          <p:cNvPicPr>
            <a:picLocks noChangeAspect="1"/>
          </p:cNvPicPr>
          <p:nvPr/>
        </p:nvPicPr>
        <p:blipFill rotWithShape="1">
          <a:blip r:embed="rId3"/>
          <a:srcRect l="23607" t="39633" r="33716" b="20171"/>
          <a:stretch/>
        </p:blipFill>
        <p:spPr bwMode="auto">
          <a:xfrm>
            <a:off x="961214" y="1973572"/>
            <a:ext cx="7221570" cy="425092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8248137" name="Title 1"/>
          <p:cNvSpPr>
            <a:spLocks noGrp="1"/>
          </p:cNvSpPr>
          <p:nvPr>
            <p:ph type="ctrTitle"/>
          </p:nvPr>
        </p:nvSpPr>
        <p:spPr bwMode="auto">
          <a:xfrm>
            <a:off x="685800" y="1104900"/>
            <a:ext cx="7772400" cy="4648200"/>
          </a:xfrm>
        </p:spPr>
        <p:txBody>
          <a:bodyPr anchor="ctr">
            <a:noAutofit/>
          </a:bodyPr>
          <a:lstStyle/>
          <a:p>
            <a:pPr>
              <a:defRPr/>
            </a:pPr>
            <a:r>
              <a:rPr lang="en-US" sz="6600" u="sng"/>
              <a:t>Lesson 1.3.1</a:t>
            </a:r>
            <a:br>
              <a:rPr lang="en-US" sz="6600"/>
            </a:br>
            <a:r>
              <a:rPr lang="en-US" sz="6600"/>
              <a:t>Define a function that returns the GC content of a DNA sequence.</a:t>
            </a:r>
            <a:endParaRPr lang="en-US" sz="6600" b="1"/>
          </a:p>
        </p:txBody>
      </p:sp>
      <p:sp>
        <p:nvSpPr>
          <p:cNvPr id="2138746438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3AD70ED5-6128-491B-B98E-94BED0CDCE15}" type="slidenum">
              <a:rPr lang="en-US">
                <a:solidFill>
                  <a:schemeClr val="tx1"/>
                </a:solidFill>
              </a:rPr>
              <a:t>68</a:t>
            </a:fld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0088046" name="Slide Number Placeholder 1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144BBB-DA99-4FDF-9E1F-B5EEC68D5D7C}" type="slidenum">
              <a:rPr lang="es-ES_tradnl"/>
              <a:t>69</a:t>
            </a:fld>
            <a:endParaRPr lang="es-ES_tradnl"/>
          </a:p>
        </p:txBody>
      </p:sp>
      <p:sp>
        <p:nvSpPr>
          <p:cNvPr id="668907035" name="Title 1"/>
          <p:cNvSpPr txBox="1"/>
          <p:nvPr/>
        </p:nvSpPr>
        <p:spPr bwMode="auto">
          <a:xfrm>
            <a:off x="0" y="1"/>
            <a:ext cx="9144000" cy="1282389"/>
          </a:xfrm>
          <a:prstGeom prst="rect">
            <a:avLst/>
          </a:prstGeom>
          <a:solidFill>
            <a:srgbClr val="FFFFFF"/>
          </a:solidFill>
          <a:ln w="76200">
            <a:solidFill>
              <a:srgbClr val="FF0000"/>
            </a:solidFill>
          </a:ln>
        </p:spPr>
        <p:txBody>
          <a:bodyPr>
            <a:noAutofit/>
          </a:bodyPr>
          <a:lstStyle>
            <a:lvl1pPr algn="ctr" defTabSz="914400" rtl="0">
              <a:lnSpc>
                <a:spcPct val="90000"/>
              </a:lnSpc>
              <a:spcBef>
                <a:spcPts val="0"/>
              </a:spcBef>
              <a:buNone/>
              <a:defRPr sz="44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4100">
                <a:latin typeface="Times New Roman"/>
                <a:cs typeface="Times New Roman"/>
              </a:rPr>
              <a:t>Define a function that calculates GC content</a:t>
            </a:r>
            <a:endParaRPr lang="en-US" sz="4100"/>
          </a:p>
        </p:txBody>
      </p:sp>
      <p:sp>
        <p:nvSpPr>
          <p:cNvPr id="1959183898" name="Rectangle 6"/>
          <p:cNvSpPr/>
          <p:nvPr/>
        </p:nvSpPr>
        <p:spPr bwMode="auto">
          <a:xfrm>
            <a:off x="566415" y="4122548"/>
            <a:ext cx="8159131" cy="14413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1579554959" name="Picture 4" descr="A screenshot of a computer code&#10;&#10;Description automatically generated"/>
          <p:cNvPicPr>
            <a:picLocks noChangeAspect="1"/>
          </p:cNvPicPr>
          <p:nvPr/>
        </p:nvPicPr>
        <p:blipFill rotWithShape="1">
          <a:blip r:embed="rId3"/>
          <a:srcRect l="0" t="0" r="0" b="35984"/>
          <a:stretch/>
        </p:blipFill>
        <p:spPr bwMode="auto">
          <a:xfrm>
            <a:off x="640395" y="1558307"/>
            <a:ext cx="8011169" cy="256424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22024608" name="Picture 5" descr="A screenshot of a computer code&#10;&#10;Description automatically generated with low confidence"/>
          <p:cNvPicPr>
            <a:picLocks noChangeAspect="1"/>
          </p:cNvPicPr>
          <p:nvPr/>
        </p:nvPicPr>
        <p:blipFill rotWithShape="1">
          <a:blip r:embed="rId3"/>
          <a:srcRect l="0" t="0" r="24787" b="0"/>
          <a:stretch/>
        </p:blipFill>
        <p:spPr bwMode="auto">
          <a:xfrm>
            <a:off x="566415" y="1615715"/>
            <a:ext cx="8011170" cy="381570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43162651" name="Slide Number Placeholder 1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144BBB-DA99-4FDF-9E1F-B5EEC68D5D7C}" type="slidenum">
              <a:rPr lang="es-ES_tradnl"/>
              <a:t>70</a:t>
            </a:fld>
            <a:endParaRPr lang="es-ES_tradnl"/>
          </a:p>
        </p:txBody>
      </p:sp>
      <p:sp>
        <p:nvSpPr>
          <p:cNvPr id="776583714" name="Title 1"/>
          <p:cNvSpPr txBox="1"/>
          <p:nvPr/>
        </p:nvSpPr>
        <p:spPr bwMode="auto">
          <a:xfrm>
            <a:off x="0" y="1"/>
            <a:ext cx="9144000" cy="1282389"/>
          </a:xfrm>
          <a:prstGeom prst="rect">
            <a:avLst/>
          </a:prstGeom>
          <a:solidFill>
            <a:srgbClr val="FFFFFF"/>
          </a:solidFill>
          <a:ln w="76200">
            <a:solidFill>
              <a:srgbClr val="FF0000"/>
            </a:solidFill>
          </a:ln>
        </p:spPr>
        <p:txBody>
          <a:bodyPr>
            <a:noAutofit/>
          </a:bodyPr>
          <a:lstStyle>
            <a:lvl1pPr algn="ctr" defTabSz="914400" rtl="0">
              <a:lnSpc>
                <a:spcPct val="90000"/>
              </a:lnSpc>
              <a:spcBef>
                <a:spcPts val="0"/>
              </a:spcBef>
              <a:buNone/>
              <a:defRPr sz="44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4100">
                <a:latin typeface="Times New Roman"/>
                <a:cs typeface="Times New Roman"/>
              </a:rPr>
              <a:t>Define a function that calculates GC content</a:t>
            </a:r>
            <a:endParaRPr lang="en-US" sz="4100"/>
          </a:p>
        </p:txBody>
      </p:sp>
      <p:sp>
        <p:nvSpPr>
          <p:cNvPr id="1850106584" name="Rectangle 6"/>
          <p:cNvSpPr/>
          <p:nvPr/>
        </p:nvSpPr>
        <p:spPr bwMode="auto">
          <a:xfrm>
            <a:off x="566415" y="2088294"/>
            <a:ext cx="8159131" cy="34755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26704635" name="TextBox 7"/>
          <p:cNvSpPr txBox="1"/>
          <p:nvPr/>
        </p:nvSpPr>
        <p:spPr bwMode="auto">
          <a:xfrm>
            <a:off x="79392" y="2913308"/>
            <a:ext cx="2754897" cy="1200329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2400" b="1"/>
              <a:t>In the first line, a function is initiated by using </a:t>
            </a:r>
            <a:r>
              <a:rPr lang="en-US" sz="2400" b="1">
                <a:solidFill>
                  <a:srgbClr val="0000CC"/>
                </a:solidFill>
              </a:rPr>
              <a:t>def</a:t>
            </a:r>
            <a:endParaRPr lang="en-US" sz="2400" b="1"/>
          </a:p>
        </p:txBody>
      </p:sp>
      <p:cxnSp>
        <p:nvCxnSpPr>
          <p:cNvPr id="1447075076" name="Straight Arrow Connector 9"/>
          <p:cNvCxnSpPr>
            <a:cxnSpLocks noChangeShapeType="1"/>
          </p:cNvCxnSpPr>
          <p:nvPr/>
        </p:nvCxnSpPr>
        <p:spPr bwMode="auto">
          <a:xfrm rot="16199999">
            <a:off x="1000434" y="2482708"/>
            <a:ext cx="914402" cy="1587"/>
          </a:xfrm>
          <a:prstGeom prst="straightConnector1">
            <a:avLst/>
          </a:prstGeom>
          <a:noFill/>
          <a:ln w="73025" algn="ctr">
            <a:solidFill>
              <a:srgbClr val="FF0000"/>
            </a:solidFill>
            <a:round/>
            <a:headEnd/>
            <a:tailEnd type="arrow" w="med" len="med"/>
          </a:ln>
        </p:spPr>
      </p:cxnSp>
      <p:sp>
        <p:nvSpPr>
          <p:cNvPr id="486304409" name="Rectangle 11"/>
          <p:cNvSpPr/>
          <p:nvPr/>
        </p:nvSpPr>
        <p:spPr bwMode="auto">
          <a:xfrm>
            <a:off x="1255366" y="1646711"/>
            <a:ext cx="615018" cy="41058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05234219" name="Picture 5" descr="A screenshot of a computer code&#10;&#10;Description automatically generated with low confidence"/>
          <p:cNvPicPr>
            <a:picLocks noChangeAspect="1"/>
          </p:cNvPicPr>
          <p:nvPr/>
        </p:nvPicPr>
        <p:blipFill rotWithShape="1">
          <a:blip r:embed="rId3"/>
          <a:srcRect l="0" t="0" r="24787" b="0"/>
          <a:stretch/>
        </p:blipFill>
        <p:spPr bwMode="auto">
          <a:xfrm>
            <a:off x="566415" y="1615715"/>
            <a:ext cx="8011170" cy="381570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10069779" name="Slide Number Placeholder 1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144BBB-DA99-4FDF-9E1F-B5EEC68D5D7C}" type="slidenum">
              <a:rPr lang="es-ES_tradnl"/>
              <a:t>71</a:t>
            </a:fld>
            <a:endParaRPr lang="es-ES_tradnl"/>
          </a:p>
        </p:txBody>
      </p:sp>
      <p:sp>
        <p:nvSpPr>
          <p:cNvPr id="533043503" name="Title 1"/>
          <p:cNvSpPr txBox="1"/>
          <p:nvPr/>
        </p:nvSpPr>
        <p:spPr bwMode="auto">
          <a:xfrm>
            <a:off x="0" y="1"/>
            <a:ext cx="9144000" cy="1282389"/>
          </a:xfrm>
          <a:prstGeom prst="rect">
            <a:avLst/>
          </a:prstGeom>
          <a:solidFill>
            <a:srgbClr val="FFFFFF"/>
          </a:solidFill>
          <a:ln w="76200">
            <a:solidFill>
              <a:srgbClr val="FF0000"/>
            </a:solidFill>
          </a:ln>
        </p:spPr>
        <p:txBody>
          <a:bodyPr>
            <a:noAutofit/>
          </a:bodyPr>
          <a:lstStyle>
            <a:lvl1pPr algn="ctr" defTabSz="914400" rtl="0">
              <a:lnSpc>
                <a:spcPct val="90000"/>
              </a:lnSpc>
              <a:spcBef>
                <a:spcPts val="0"/>
              </a:spcBef>
              <a:buNone/>
              <a:defRPr sz="44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4100">
                <a:latin typeface="Times New Roman"/>
                <a:cs typeface="Times New Roman"/>
              </a:rPr>
              <a:t>Define a function that calculates GC content</a:t>
            </a:r>
            <a:endParaRPr lang="en-US" sz="4100"/>
          </a:p>
        </p:txBody>
      </p:sp>
      <p:sp>
        <p:nvSpPr>
          <p:cNvPr id="478745809" name="Rectangle 6"/>
          <p:cNvSpPr/>
          <p:nvPr/>
        </p:nvSpPr>
        <p:spPr bwMode="auto">
          <a:xfrm>
            <a:off x="566415" y="2088294"/>
            <a:ext cx="8159131" cy="34755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166464264" name="TextBox 7"/>
          <p:cNvSpPr txBox="1"/>
          <p:nvPr/>
        </p:nvSpPr>
        <p:spPr bwMode="auto">
          <a:xfrm>
            <a:off x="1675716" y="2928806"/>
            <a:ext cx="2754897" cy="830997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2400" b="1">
                <a:solidFill>
                  <a:schemeClr val="accent4">
                    <a:lumMod val="50000"/>
                  </a:schemeClr>
                </a:solidFill>
              </a:rPr>
              <a:t>Name</a:t>
            </a:r>
            <a:r>
              <a:rPr lang="en-US" sz="2400" b="1"/>
              <a:t> the function as you see fit</a:t>
            </a:r>
            <a:endParaRPr/>
          </a:p>
        </p:txBody>
      </p:sp>
      <p:cxnSp>
        <p:nvCxnSpPr>
          <p:cNvPr id="1002287644" name="Straight Arrow Connector 9"/>
          <p:cNvCxnSpPr>
            <a:cxnSpLocks noChangeShapeType="1"/>
          </p:cNvCxnSpPr>
          <p:nvPr/>
        </p:nvCxnSpPr>
        <p:spPr bwMode="auto">
          <a:xfrm rot="16199999">
            <a:off x="2596758" y="2498206"/>
            <a:ext cx="914402" cy="1587"/>
          </a:xfrm>
          <a:prstGeom prst="straightConnector1">
            <a:avLst/>
          </a:prstGeom>
          <a:noFill/>
          <a:ln w="73025" algn="ctr">
            <a:solidFill>
              <a:srgbClr val="FF0000"/>
            </a:solidFill>
            <a:round/>
            <a:headEnd/>
            <a:tailEnd type="arrow" w="med" len="med"/>
          </a:ln>
        </p:spPr>
      </p:cxnSp>
      <p:sp>
        <p:nvSpPr>
          <p:cNvPr id="1614150867" name="Rectangle 11"/>
          <p:cNvSpPr/>
          <p:nvPr/>
        </p:nvSpPr>
        <p:spPr bwMode="auto">
          <a:xfrm>
            <a:off x="1906292" y="1662209"/>
            <a:ext cx="2371239" cy="41058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3249407" name="Picture 5" descr="A screenshot of a computer code&#10;&#10;Description automatically generated with low confidence"/>
          <p:cNvPicPr>
            <a:picLocks noChangeAspect="1"/>
          </p:cNvPicPr>
          <p:nvPr/>
        </p:nvPicPr>
        <p:blipFill rotWithShape="1">
          <a:blip r:embed="rId3"/>
          <a:srcRect l="0" t="0" r="24787" b="0"/>
          <a:stretch/>
        </p:blipFill>
        <p:spPr bwMode="auto">
          <a:xfrm>
            <a:off x="566415" y="1615715"/>
            <a:ext cx="8011170" cy="381570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19379348" name="Slide Number Placeholder 1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144BBB-DA99-4FDF-9E1F-B5EEC68D5D7C}" type="slidenum">
              <a:rPr lang="es-ES_tradnl"/>
              <a:t>72</a:t>
            </a:fld>
            <a:endParaRPr lang="es-ES_tradnl"/>
          </a:p>
        </p:txBody>
      </p:sp>
      <p:sp>
        <p:nvSpPr>
          <p:cNvPr id="913223887" name="Title 1"/>
          <p:cNvSpPr txBox="1"/>
          <p:nvPr/>
        </p:nvSpPr>
        <p:spPr bwMode="auto">
          <a:xfrm>
            <a:off x="0" y="1"/>
            <a:ext cx="9144000" cy="1282389"/>
          </a:xfrm>
          <a:prstGeom prst="rect">
            <a:avLst/>
          </a:prstGeom>
          <a:solidFill>
            <a:srgbClr val="FFFFFF"/>
          </a:solidFill>
          <a:ln w="76200">
            <a:solidFill>
              <a:srgbClr val="FF0000"/>
            </a:solidFill>
          </a:ln>
        </p:spPr>
        <p:txBody>
          <a:bodyPr>
            <a:noAutofit/>
          </a:bodyPr>
          <a:lstStyle>
            <a:lvl1pPr algn="ctr" defTabSz="914400" rtl="0">
              <a:lnSpc>
                <a:spcPct val="90000"/>
              </a:lnSpc>
              <a:spcBef>
                <a:spcPts val="0"/>
              </a:spcBef>
              <a:buNone/>
              <a:defRPr sz="44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4100">
                <a:latin typeface="Times New Roman"/>
                <a:cs typeface="Times New Roman"/>
              </a:rPr>
              <a:t>Define a function that calculates GC content</a:t>
            </a:r>
            <a:endParaRPr lang="en-US" sz="4100"/>
          </a:p>
        </p:txBody>
      </p:sp>
      <p:sp>
        <p:nvSpPr>
          <p:cNvPr id="858412328" name="Rectangle 6"/>
          <p:cNvSpPr/>
          <p:nvPr/>
        </p:nvSpPr>
        <p:spPr bwMode="auto">
          <a:xfrm>
            <a:off x="566415" y="2088294"/>
            <a:ext cx="8159131" cy="34755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07843925" name="TextBox 7"/>
          <p:cNvSpPr txBox="1"/>
          <p:nvPr/>
        </p:nvSpPr>
        <p:spPr bwMode="auto">
          <a:xfrm>
            <a:off x="3433822" y="2971700"/>
            <a:ext cx="3454223" cy="3416320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2400" b="1"/>
              <a:t>Identify if the function takes </a:t>
            </a:r>
            <a:r>
              <a:rPr lang="en-US" sz="2400" b="1">
                <a:solidFill>
                  <a:srgbClr val="0000CC"/>
                </a:solidFill>
              </a:rPr>
              <a:t>input. </a:t>
            </a:r>
            <a:r>
              <a:rPr lang="en-US" sz="2400" b="1"/>
              <a:t>Here, our function just needs one </a:t>
            </a:r>
            <a:r>
              <a:rPr lang="en-US" sz="2400" b="1">
                <a:solidFill>
                  <a:srgbClr val="0000CC"/>
                </a:solidFill>
              </a:rPr>
              <a:t>input</a:t>
            </a:r>
            <a:r>
              <a:rPr lang="en-US" sz="2400" b="1"/>
              <a:t>. The function needed as </a:t>
            </a:r>
            <a:r>
              <a:rPr lang="en-US" sz="2400" b="1">
                <a:solidFill>
                  <a:srgbClr val="0000CC"/>
                </a:solidFill>
              </a:rPr>
              <a:t>input</a:t>
            </a:r>
            <a:r>
              <a:rPr lang="en-US" sz="2400" b="1"/>
              <a:t> is a DNA sequence in order to return the GC content. </a:t>
            </a:r>
            <a:r>
              <a:rPr lang="en-US" sz="2400" b="1">
                <a:solidFill>
                  <a:srgbClr val="FF0000"/>
                </a:solidFill>
              </a:rPr>
              <a:t>DON’T FORGET PARENTHESES!</a:t>
            </a:r>
            <a:endParaRPr/>
          </a:p>
        </p:txBody>
      </p:sp>
      <p:cxnSp>
        <p:nvCxnSpPr>
          <p:cNvPr id="524560912" name="Straight Arrow Connector 9"/>
          <p:cNvCxnSpPr>
            <a:cxnSpLocks noChangeShapeType="1"/>
          </p:cNvCxnSpPr>
          <p:nvPr/>
        </p:nvCxnSpPr>
        <p:spPr bwMode="auto">
          <a:xfrm rot="16199999">
            <a:off x="4704527" y="2498206"/>
            <a:ext cx="914402" cy="1587"/>
          </a:xfrm>
          <a:prstGeom prst="straightConnector1">
            <a:avLst/>
          </a:prstGeom>
          <a:noFill/>
          <a:ln w="73025" algn="ctr">
            <a:solidFill>
              <a:srgbClr val="FF0000"/>
            </a:solidFill>
            <a:round/>
            <a:headEnd/>
            <a:tailEnd type="arrow" w="med" len="med"/>
          </a:ln>
        </p:spPr>
      </p:cxnSp>
      <p:sp>
        <p:nvSpPr>
          <p:cNvPr id="570789096" name="Rectangle 11"/>
          <p:cNvSpPr/>
          <p:nvPr/>
        </p:nvSpPr>
        <p:spPr bwMode="auto">
          <a:xfrm>
            <a:off x="4169046" y="1662209"/>
            <a:ext cx="1983782" cy="41058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3117676" name="Picture 5" descr="A screenshot of a computer code&#10;&#10;Description automatically generated with low confidence"/>
          <p:cNvPicPr>
            <a:picLocks noChangeAspect="1"/>
          </p:cNvPicPr>
          <p:nvPr/>
        </p:nvPicPr>
        <p:blipFill rotWithShape="1">
          <a:blip r:embed="rId3"/>
          <a:srcRect l="0" t="0" r="24787" b="0"/>
          <a:stretch/>
        </p:blipFill>
        <p:spPr bwMode="auto">
          <a:xfrm>
            <a:off x="566415" y="1615715"/>
            <a:ext cx="8011170" cy="381570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704279491" name="Slide Number Placeholder 1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144BBB-DA99-4FDF-9E1F-B5EEC68D5D7C}" type="slidenum">
              <a:rPr lang="es-ES_tradnl"/>
              <a:t>73</a:t>
            </a:fld>
            <a:endParaRPr lang="es-ES_tradnl"/>
          </a:p>
        </p:txBody>
      </p:sp>
      <p:sp>
        <p:nvSpPr>
          <p:cNvPr id="1906042391" name="Title 1"/>
          <p:cNvSpPr txBox="1"/>
          <p:nvPr/>
        </p:nvSpPr>
        <p:spPr bwMode="auto">
          <a:xfrm>
            <a:off x="0" y="1"/>
            <a:ext cx="9144000" cy="1282389"/>
          </a:xfrm>
          <a:prstGeom prst="rect">
            <a:avLst/>
          </a:prstGeom>
          <a:solidFill>
            <a:srgbClr val="FFFFFF"/>
          </a:solidFill>
          <a:ln w="76200">
            <a:solidFill>
              <a:srgbClr val="FF0000"/>
            </a:solidFill>
          </a:ln>
        </p:spPr>
        <p:txBody>
          <a:bodyPr>
            <a:noAutofit/>
          </a:bodyPr>
          <a:lstStyle>
            <a:lvl1pPr algn="ctr" defTabSz="914400" rtl="0">
              <a:lnSpc>
                <a:spcPct val="90000"/>
              </a:lnSpc>
              <a:spcBef>
                <a:spcPts val="0"/>
              </a:spcBef>
              <a:buNone/>
              <a:defRPr sz="44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4100">
                <a:latin typeface="Times New Roman"/>
                <a:cs typeface="Times New Roman"/>
              </a:rPr>
              <a:t>Define a function that calculates GC content</a:t>
            </a:r>
            <a:endParaRPr lang="en-US" sz="4100"/>
          </a:p>
        </p:txBody>
      </p:sp>
      <p:sp>
        <p:nvSpPr>
          <p:cNvPr id="1407582847" name="Rectangle 6"/>
          <p:cNvSpPr/>
          <p:nvPr/>
        </p:nvSpPr>
        <p:spPr bwMode="auto">
          <a:xfrm>
            <a:off x="566415" y="2088294"/>
            <a:ext cx="8159131" cy="34755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36434589" name="TextBox 7"/>
          <p:cNvSpPr txBox="1"/>
          <p:nvPr/>
        </p:nvSpPr>
        <p:spPr bwMode="auto">
          <a:xfrm>
            <a:off x="4425714" y="3002696"/>
            <a:ext cx="3454223" cy="461665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2400" b="1"/>
              <a:t>End it with a </a:t>
            </a:r>
            <a:r>
              <a:rPr lang="en-US" sz="2400" b="1">
                <a:solidFill>
                  <a:srgbClr val="FF0000"/>
                </a:solidFill>
              </a:rPr>
              <a:t>colon</a:t>
            </a:r>
            <a:endParaRPr/>
          </a:p>
        </p:txBody>
      </p:sp>
      <p:cxnSp>
        <p:nvCxnSpPr>
          <p:cNvPr id="551618422" name="Straight Arrow Connector 9"/>
          <p:cNvCxnSpPr>
            <a:cxnSpLocks noChangeShapeType="1"/>
          </p:cNvCxnSpPr>
          <p:nvPr/>
        </p:nvCxnSpPr>
        <p:spPr bwMode="auto">
          <a:xfrm rot="16199999">
            <a:off x="5696419" y="2529202"/>
            <a:ext cx="914402" cy="1587"/>
          </a:xfrm>
          <a:prstGeom prst="straightConnector1">
            <a:avLst/>
          </a:prstGeom>
          <a:noFill/>
          <a:ln w="73025" algn="ctr">
            <a:solidFill>
              <a:srgbClr val="FF0000"/>
            </a:solidFill>
            <a:round/>
            <a:headEnd/>
            <a:tailEnd type="arrow" w="med" len="med"/>
          </a:ln>
        </p:spPr>
      </p:cxnSp>
      <p:sp>
        <p:nvSpPr>
          <p:cNvPr id="1225325350" name="Rectangle 11"/>
          <p:cNvSpPr/>
          <p:nvPr/>
        </p:nvSpPr>
        <p:spPr bwMode="auto">
          <a:xfrm>
            <a:off x="6005783" y="1693205"/>
            <a:ext cx="302028" cy="41058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95055441" name="Picture 5" descr="A screenshot of a computer code&#10;&#10;Description automatically generated with low confidence"/>
          <p:cNvPicPr>
            <a:picLocks noChangeAspect="1"/>
          </p:cNvPicPr>
          <p:nvPr/>
        </p:nvPicPr>
        <p:blipFill rotWithShape="1">
          <a:blip r:embed="rId3"/>
          <a:srcRect l="0" t="0" r="24787" b="0"/>
          <a:stretch/>
        </p:blipFill>
        <p:spPr bwMode="auto">
          <a:xfrm>
            <a:off x="566415" y="1615715"/>
            <a:ext cx="8011170" cy="381570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172292003" name="Slide Number Placeholder 1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144BBB-DA99-4FDF-9E1F-B5EEC68D5D7C}" type="slidenum">
              <a:rPr lang="es-ES_tradnl"/>
              <a:t>74</a:t>
            </a:fld>
            <a:endParaRPr lang="es-ES_tradnl"/>
          </a:p>
        </p:txBody>
      </p:sp>
      <p:sp>
        <p:nvSpPr>
          <p:cNvPr id="1270947080" name="Title 1"/>
          <p:cNvSpPr txBox="1"/>
          <p:nvPr/>
        </p:nvSpPr>
        <p:spPr bwMode="auto">
          <a:xfrm>
            <a:off x="0" y="1"/>
            <a:ext cx="9144000" cy="1282389"/>
          </a:xfrm>
          <a:prstGeom prst="rect">
            <a:avLst/>
          </a:prstGeom>
          <a:solidFill>
            <a:srgbClr val="FFFFFF"/>
          </a:solidFill>
          <a:ln w="76200">
            <a:solidFill>
              <a:srgbClr val="FF0000"/>
            </a:solidFill>
          </a:ln>
        </p:spPr>
        <p:txBody>
          <a:bodyPr>
            <a:noAutofit/>
          </a:bodyPr>
          <a:lstStyle>
            <a:lvl1pPr algn="ctr" defTabSz="914400" rtl="0">
              <a:lnSpc>
                <a:spcPct val="90000"/>
              </a:lnSpc>
              <a:spcBef>
                <a:spcPts val="0"/>
              </a:spcBef>
              <a:buNone/>
              <a:defRPr sz="44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4100">
                <a:latin typeface="Times New Roman"/>
                <a:cs typeface="Times New Roman"/>
              </a:rPr>
              <a:t>Define a function that calculates GC content</a:t>
            </a:r>
            <a:endParaRPr lang="en-US" sz="4100"/>
          </a:p>
        </p:txBody>
      </p:sp>
      <p:sp>
        <p:nvSpPr>
          <p:cNvPr id="2101082686" name="Rectangle 2"/>
          <p:cNvSpPr/>
          <p:nvPr/>
        </p:nvSpPr>
        <p:spPr bwMode="auto">
          <a:xfrm>
            <a:off x="566415" y="3429000"/>
            <a:ext cx="8159131" cy="21348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4220302" name="TextBox 6"/>
          <p:cNvSpPr txBox="1"/>
          <p:nvPr/>
        </p:nvSpPr>
        <p:spPr bwMode="auto">
          <a:xfrm>
            <a:off x="3243952" y="4469083"/>
            <a:ext cx="2804055" cy="1569660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2400" b="1"/>
              <a:t>Body of the function defined </a:t>
            </a:r>
            <a:r>
              <a:rPr lang="en-US" sz="2400" b="1">
                <a:solidFill>
                  <a:srgbClr val="0000CC"/>
                </a:solidFill>
              </a:rPr>
              <a:t>dictates </a:t>
            </a:r>
            <a:r>
              <a:rPr lang="en-US" sz="2400" b="1"/>
              <a:t>what the function is doing</a:t>
            </a:r>
            <a:endParaRPr/>
          </a:p>
        </p:txBody>
      </p:sp>
      <p:cxnSp>
        <p:nvCxnSpPr>
          <p:cNvPr id="172534880" name="Straight Arrow Connector 7"/>
          <p:cNvCxnSpPr>
            <a:cxnSpLocks noChangeShapeType="1"/>
          </p:cNvCxnSpPr>
          <p:nvPr/>
        </p:nvCxnSpPr>
        <p:spPr bwMode="auto">
          <a:xfrm rot="16199999">
            <a:off x="4189573" y="3965192"/>
            <a:ext cx="914402" cy="1587"/>
          </a:xfrm>
          <a:prstGeom prst="straightConnector1">
            <a:avLst/>
          </a:prstGeom>
          <a:noFill/>
          <a:ln w="73025" algn="ctr">
            <a:solidFill>
              <a:srgbClr val="FF0000"/>
            </a:solidFill>
            <a:round/>
            <a:headEnd/>
            <a:tailEnd type="arrow" w="med" len="med"/>
          </a:ln>
        </p:spPr>
      </p:cxnSp>
      <p:sp>
        <p:nvSpPr>
          <p:cNvPr id="1608294642" name="Rectangle 8"/>
          <p:cNvSpPr/>
          <p:nvPr/>
        </p:nvSpPr>
        <p:spPr bwMode="auto">
          <a:xfrm>
            <a:off x="1596326" y="1987673"/>
            <a:ext cx="6919023" cy="147997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10811722" name="Picture 5" descr="A screenshot of a computer code&#10;&#10;Description automatically generated with low confidence"/>
          <p:cNvPicPr>
            <a:picLocks noChangeAspect="1"/>
          </p:cNvPicPr>
          <p:nvPr/>
        </p:nvPicPr>
        <p:blipFill rotWithShape="1">
          <a:blip r:embed="rId3"/>
          <a:srcRect l="0" t="0" r="24787" b="0"/>
          <a:stretch/>
        </p:blipFill>
        <p:spPr bwMode="auto">
          <a:xfrm>
            <a:off x="566415" y="1615715"/>
            <a:ext cx="8011170" cy="381570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808588872" name="Slide Number Placeholder 1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144BBB-DA99-4FDF-9E1F-B5EEC68D5D7C}" type="slidenum">
              <a:rPr lang="es-ES_tradnl"/>
              <a:t>75</a:t>
            </a:fld>
            <a:endParaRPr lang="es-ES_tradnl"/>
          </a:p>
        </p:txBody>
      </p:sp>
      <p:sp>
        <p:nvSpPr>
          <p:cNvPr id="250812914" name="Title 1"/>
          <p:cNvSpPr txBox="1"/>
          <p:nvPr/>
        </p:nvSpPr>
        <p:spPr bwMode="auto">
          <a:xfrm>
            <a:off x="0" y="1"/>
            <a:ext cx="9144000" cy="1282389"/>
          </a:xfrm>
          <a:prstGeom prst="rect">
            <a:avLst/>
          </a:prstGeom>
          <a:solidFill>
            <a:srgbClr val="FFFFFF"/>
          </a:solidFill>
          <a:ln w="76200">
            <a:solidFill>
              <a:srgbClr val="FF0000"/>
            </a:solidFill>
          </a:ln>
        </p:spPr>
        <p:txBody>
          <a:bodyPr>
            <a:noAutofit/>
          </a:bodyPr>
          <a:lstStyle>
            <a:lvl1pPr algn="ctr" defTabSz="914400" rtl="0">
              <a:lnSpc>
                <a:spcPct val="90000"/>
              </a:lnSpc>
              <a:spcBef>
                <a:spcPts val="0"/>
              </a:spcBef>
              <a:buNone/>
              <a:defRPr sz="44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4100">
                <a:latin typeface="Times New Roman"/>
                <a:cs typeface="Times New Roman"/>
              </a:rPr>
              <a:t>Define a function that calculates GC content</a:t>
            </a:r>
            <a:endParaRPr lang="en-US" sz="4100"/>
          </a:p>
        </p:txBody>
      </p:sp>
      <p:sp>
        <p:nvSpPr>
          <p:cNvPr id="622789600" name="Rectangle 2"/>
          <p:cNvSpPr/>
          <p:nvPr/>
        </p:nvSpPr>
        <p:spPr bwMode="auto">
          <a:xfrm>
            <a:off x="566415" y="3839602"/>
            <a:ext cx="8159131" cy="17242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215606950" name="TextBox 6"/>
          <p:cNvSpPr txBox="1"/>
          <p:nvPr/>
        </p:nvSpPr>
        <p:spPr bwMode="auto">
          <a:xfrm>
            <a:off x="1077928" y="4779062"/>
            <a:ext cx="3884316" cy="1938992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2400" b="1"/>
              <a:t>Using the </a:t>
            </a:r>
            <a:r>
              <a:rPr lang="en-US" sz="2400" b="1">
                <a:solidFill>
                  <a:srgbClr val="7030A0"/>
                </a:solidFill>
              </a:rPr>
              <a:t>return</a:t>
            </a:r>
            <a:r>
              <a:rPr lang="en-US" sz="2400" b="1"/>
              <a:t> function will give you the result of the function when you run it</a:t>
            </a:r>
            <a:br>
              <a:rPr lang="en-US" sz="2400" b="1"/>
            </a:br>
            <a:r>
              <a:rPr lang="en-US" sz="2400" b="1">
                <a:solidFill>
                  <a:srgbClr val="FF0000"/>
                </a:solidFill>
              </a:rPr>
              <a:t>DON’T FORGET PARENTHESES!</a:t>
            </a:r>
            <a:endParaRPr/>
          </a:p>
        </p:txBody>
      </p:sp>
      <p:cxnSp>
        <p:nvCxnSpPr>
          <p:cNvPr id="1211735617" name="Straight Arrow Connector 7"/>
          <p:cNvCxnSpPr>
            <a:cxnSpLocks noChangeShapeType="1"/>
          </p:cNvCxnSpPr>
          <p:nvPr/>
        </p:nvCxnSpPr>
        <p:spPr bwMode="auto">
          <a:xfrm rot="16199999">
            <a:off x="2526449" y="4306824"/>
            <a:ext cx="914402" cy="1587"/>
          </a:xfrm>
          <a:prstGeom prst="straightConnector1">
            <a:avLst/>
          </a:prstGeom>
          <a:noFill/>
          <a:ln w="73025" algn="ctr">
            <a:solidFill>
              <a:srgbClr val="FF0000"/>
            </a:solidFill>
            <a:round/>
            <a:headEnd/>
            <a:tailEnd type="arrow" w="med" len="med"/>
          </a:ln>
        </p:spPr>
      </p:cxnSp>
      <p:sp>
        <p:nvSpPr>
          <p:cNvPr id="1860505100" name="Rectangle 8"/>
          <p:cNvSpPr/>
          <p:nvPr/>
        </p:nvSpPr>
        <p:spPr bwMode="auto">
          <a:xfrm>
            <a:off x="1549833" y="3413502"/>
            <a:ext cx="2975673" cy="394447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340832673" name="Picture 4" descr="A screenshot of a computer code&#10;&#10;Description automatically generated"/>
          <p:cNvPicPr>
            <a:picLocks noChangeAspect="1"/>
          </p:cNvPicPr>
          <p:nvPr/>
        </p:nvPicPr>
        <p:blipFill rotWithShape="1">
          <a:blip r:embed="rId4"/>
          <a:srcRect l="0" t="11939" r="0" b="43222"/>
          <a:stretch/>
        </p:blipFill>
        <p:spPr bwMode="auto">
          <a:xfrm>
            <a:off x="566416" y="2080100"/>
            <a:ext cx="8011169" cy="17960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34652853" name="Picture 5" descr="A screenshot of a computer code&#10;&#10;Description automatically generated with low confidence"/>
          <p:cNvPicPr>
            <a:picLocks noChangeAspect="1"/>
          </p:cNvPicPr>
          <p:nvPr/>
        </p:nvPicPr>
        <p:blipFill rotWithShape="1">
          <a:blip r:embed="rId3"/>
          <a:srcRect l="0" t="0" r="24787" b="0"/>
          <a:stretch/>
        </p:blipFill>
        <p:spPr bwMode="auto">
          <a:xfrm>
            <a:off x="566415" y="1615715"/>
            <a:ext cx="8011170" cy="381570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696099662" name="Slide Number Placeholder 1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144BBB-DA99-4FDF-9E1F-B5EEC68D5D7C}" type="slidenum">
              <a:rPr lang="es-ES_tradnl"/>
              <a:t>76</a:t>
            </a:fld>
            <a:endParaRPr lang="es-ES_tradnl"/>
          </a:p>
        </p:txBody>
      </p:sp>
      <p:sp>
        <p:nvSpPr>
          <p:cNvPr id="573921152" name="Title 1"/>
          <p:cNvSpPr txBox="1"/>
          <p:nvPr/>
        </p:nvSpPr>
        <p:spPr bwMode="auto">
          <a:xfrm>
            <a:off x="0" y="1"/>
            <a:ext cx="9144000" cy="1282389"/>
          </a:xfrm>
          <a:prstGeom prst="rect">
            <a:avLst/>
          </a:prstGeom>
          <a:solidFill>
            <a:srgbClr val="FFFFFF"/>
          </a:solidFill>
          <a:ln w="76200">
            <a:solidFill>
              <a:srgbClr val="FF0000"/>
            </a:solidFill>
          </a:ln>
        </p:spPr>
        <p:txBody>
          <a:bodyPr>
            <a:noAutofit/>
          </a:bodyPr>
          <a:lstStyle>
            <a:lvl1pPr algn="ctr" defTabSz="914400" rtl="0">
              <a:lnSpc>
                <a:spcPct val="90000"/>
              </a:lnSpc>
              <a:spcBef>
                <a:spcPts val="0"/>
              </a:spcBef>
              <a:buNone/>
              <a:defRPr sz="44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4100">
                <a:latin typeface="Times New Roman"/>
                <a:cs typeface="Times New Roman"/>
              </a:rPr>
              <a:t>Define a function that calculates GC content</a:t>
            </a:r>
            <a:endParaRPr lang="en-US" sz="4100"/>
          </a:p>
        </p:txBody>
      </p:sp>
      <p:sp>
        <p:nvSpPr>
          <p:cNvPr id="99680099" name="TextBox 4"/>
          <p:cNvSpPr txBox="1"/>
          <p:nvPr/>
        </p:nvSpPr>
        <p:spPr bwMode="auto">
          <a:xfrm>
            <a:off x="5310427" y="3536035"/>
            <a:ext cx="2662726" cy="3046988"/>
          </a:xfrm>
          <a:prstGeom prst="rect">
            <a:avLst/>
          </a:prstGeom>
          <a:solidFill>
            <a:schemeClr val="bg1"/>
          </a:solidFill>
          <a:effectLst>
            <a:outerShdw blurRad="50800" dist="76200" dir="2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2400" b="1">
                <a:solidFill>
                  <a:srgbClr val="FF0000"/>
                </a:solidFill>
              </a:rPr>
              <a:t>Tip:</a:t>
            </a:r>
            <a:r>
              <a:rPr lang="en-US" sz="2400" b="1"/>
              <a:t> </a:t>
            </a:r>
            <a:r>
              <a:rPr lang="en-US" sz="2400" b="1">
                <a:solidFill>
                  <a:srgbClr val="0000CC"/>
                </a:solidFill>
              </a:rPr>
              <a:t>Functions</a:t>
            </a:r>
            <a:r>
              <a:rPr lang="en-US" sz="2400" b="1"/>
              <a:t> are a great way to control code when running a repeated block of code more than once on different datatypes</a:t>
            </a:r>
            <a:r>
              <a:rPr lang="en-US" sz="2400" b="1">
                <a:latin typeface="Times New Roman"/>
                <a:cs typeface="Times New Roman"/>
              </a:rPr>
              <a:t>!</a:t>
            </a:r>
            <a:endParaRPr lang="en-US" sz="2400" b="1">
              <a:solidFill>
                <a:srgbClr val="92D050"/>
              </a:solidFill>
            </a:endParaRPr>
          </a:p>
        </p:txBody>
      </p:sp>
      <p:pic>
        <p:nvPicPr>
          <p:cNvPr id="195509701" name="Picture 2" descr="A screenshot of a computer code&#10;&#10;Description automatically generated"/>
          <p:cNvPicPr>
            <a:picLocks noChangeAspect="1"/>
          </p:cNvPicPr>
          <p:nvPr/>
        </p:nvPicPr>
        <p:blipFill rotWithShape="1">
          <a:blip r:embed="rId4"/>
          <a:srcRect l="0" t="11939" r="0" b="43222"/>
          <a:stretch/>
        </p:blipFill>
        <p:spPr bwMode="auto">
          <a:xfrm>
            <a:off x="566416" y="2080100"/>
            <a:ext cx="8011169" cy="17960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4676624" name="Title 1"/>
          <p:cNvSpPr>
            <a:spLocks noGrp="1"/>
          </p:cNvSpPr>
          <p:nvPr>
            <p:ph type="ctrTitle"/>
          </p:nvPr>
        </p:nvSpPr>
        <p:spPr bwMode="auto">
          <a:xfrm>
            <a:off x="685800" y="1104900"/>
            <a:ext cx="7772400" cy="4648200"/>
          </a:xfrm>
        </p:spPr>
        <p:txBody>
          <a:bodyPr anchor="ctr">
            <a:noAutofit/>
          </a:bodyPr>
          <a:lstStyle/>
          <a:p>
            <a:pPr>
              <a:defRPr/>
            </a:pPr>
            <a:r>
              <a:rPr lang="en-US" sz="6600" u="sng"/>
              <a:t>Lesson 1.4.0</a:t>
            </a:r>
            <a:br>
              <a:rPr lang="en-US" sz="6600"/>
            </a:br>
            <a:r>
              <a:rPr lang="en-US" sz="6600"/>
              <a:t>Running into errors</a:t>
            </a:r>
            <a:endParaRPr lang="en-US" sz="6600" b="1"/>
          </a:p>
        </p:txBody>
      </p:sp>
      <p:sp>
        <p:nvSpPr>
          <p:cNvPr id="248379329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3AD70ED5-6128-491B-B98E-94BED0CDCE15}" type="slidenum">
              <a:rPr lang="en-US">
                <a:solidFill>
                  <a:schemeClr val="tx1"/>
                </a:solidFill>
              </a:rPr>
              <a:t>77</a:t>
            </a:fld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6856115" name="Title 1"/>
          <p:cNvSpPr txBox="1"/>
          <p:nvPr/>
        </p:nvSpPr>
        <p:spPr bwMode="auto">
          <a:xfrm>
            <a:off x="1940314" y="0"/>
            <a:ext cx="5553306" cy="1293541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>
              <a:lnSpc>
                <a:spcPct val="90000"/>
              </a:lnSpc>
              <a:spcBef>
                <a:spcPts val="0"/>
              </a:spcBef>
              <a:buNone/>
              <a:defRPr sz="44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4100">
                <a:latin typeface="Times New Roman"/>
                <a:cs typeface="Times New Roman"/>
              </a:rPr>
              <a:t>Uh oh! </a:t>
            </a:r>
            <a:endParaRPr/>
          </a:p>
          <a:p>
            <a:pPr>
              <a:defRPr/>
            </a:pPr>
            <a:r>
              <a:rPr lang="en-US" sz="4100">
                <a:latin typeface="Times New Roman"/>
                <a:cs typeface="Times New Roman"/>
              </a:rPr>
              <a:t>Ran into an error!</a:t>
            </a:r>
            <a:endParaRPr lang="en-US" sz="4100">
              <a:solidFill>
                <a:srgbClr val="92D050"/>
              </a:solidFill>
            </a:endParaRPr>
          </a:p>
        </p:txBody>
      </p:sp>
      <p:pic>
        <p:nvPicPr>
          <p:cNvPr id="1834164314" name="Picture 4" descr="Graphical user interface, text&#10;&#10;Description automatically generated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85800" y="1430143"/>
            <a:ext cx="7772400" cy="4393565"/>
          </a:xfrm>
          <a:prstGeom prst="rect">
            <a:avLst/>
          </a:prstGeom>
        </p:spPr>
      </p:pic>
      <p:sp>
        <p:nvSpPr>
          <p:cNvPr id="335087734" name="TextBox 3"/>
          <p:cNvSpPr txBox="1"/>
          <p:nvPr/>
        </p:nvSpPr>
        <p:spPr bwMode="auto">
          <a:xfrm>
            <a:off x="3240637" y="5882252"/>
            <a:ext cx="2662726" cy="461665"/>
          </a:xfrm>
          <a:prstGeom prst="rect">
            <a:avLst/>
          </a:prstGeom>
          <a:solidFill>
            <a:schemeClr val="bg1"/>
          </a:solidFill>
          <a:effectLst>
            <a:outerShdw blurRad="50800" dist="76200" dir="2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2400" b="1"/>
              <a:t>Where is my </a:t>
            </a:r>
            <a:r>
              <a:rPr lang="en-US" sz="2400" b="1">
                <a:solidFill>
                  <a:srgbClr val="FF0000"/>
                </a:solidFill>
              </a:rPr>
              <a:t>error</a:t>
            </a:r>
            <a:r>
              <a:rPr lang="en-US" sz="2400" b="1"/>
              <a:t>?</a:t>
            </a:r>
            <a:endParaRPr/>
          </a:p>
        </p:txBody>
      </p:sp>
      <p:sp>
        <p:nvSpPr>
          <p:cNvPr id="1910594935" name="Slide Number Placeholder 1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144BBB-DA99-4FDF-9E1F-B5EEC68D5D7C}" type="slidenum">
              <a:rPr lang="es-ES_tradnl"/>
              <a:t>78</a:t>
            </a:fld>
            <a:endParaRPr lang="es-ES_tradnl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9631749" name="Title 1"/>
          <p:cNvSpPr txBox="1"/>
          <p:nvPr/>
        </p:nvSpPr>
        <p:spPr bwMode="auto">
          <a:xfrm>
            <a:off x="1940314" y="0"/>
            <a:ext cx="5553306" cy="1293541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>
              <a:lnSpc>
                <a:spcPct val="90000"/>
              </a:lnSpc>
              <a:spcBef>
                <a:spcPts val="0"/>
              </a:spcBef>
              <a:buNone/>
              <a:defRPr sz="44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4100">
                <a:latin typeface="Times New Roman"/>
                <a:cs typeface="Times New Roman"/>
              </a:rPr>
              <a:t>Debug and rerun program</a:t>
            </a:r>
            <a:endParaRPr lang="en-US" sz="4100">
              <a:solidFill>
                <a:srgbClr val="92D050"/>
              </a:solidFill>
            </a:endParaRPr>
          </a:p>
        </p:txBody>
      </p:sp>
      <p:pic>
        <p:nvPicPr>
          <p:cNvPr id="706425371" name="Picture 4" descr="Graphical user interface, text&#10;&#10;Description automatically generated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85800" y="1430143"/>
            <a:ext cx="7772400" cy="4393565"/>
          </a:xfrm>
          <a:prstGeom prst="rect">
            <a:avLst/>
          </a:prstGeom>
        </p:spPr>
      </p:pic>
      <p:sp>
        <p:nvSpPr>
          <p:cNvPr id="2027485202" name="TextBox 3"/>
          <p:cNvSpPr txBox="1"/>
          <p:nvPr/>
        </p:nvSpPr>
        <p:spPr bwMode="auto">
          <a:xfrm>
            <a:off x="3240637" y="5882252"/>
            <a:ext cx="2662726" cy="461665"/>
          </a:xfrm>
          <a:prstGeom prst="rect">
            <a:avLst/>
          </a:prstGeom>
          <a:solidFill>
            <a:schemeClr val="bg1"/>
          </a:solidFill>
          <a:effectLst>
            <a:outerShdw blurRad="50800" dist="76200" dir="2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2400" b="1"/>
              <a:t>Where is my </a:t>
            </a:r>
            <a:r>
              <a:rPr lang="en-US" sz="2400" b="1">
                <a:solidFill>
                  <a:srgbClr val="FF0000"/>
                </a:solidFill>
              </a:rPr>
              <a:t>error</a:t>
            </a:r>
            <a:r>
              <a:rPr lang="en-US" sz="2400" b="1"/>
              <a:t>?</a:t>
            </a:r>
            <a:endParaRPr/>
          </a:p>
        </p:txBody>
      </p:sp>
      <p:sp>
        <p:nvSpPr>
          <p:cNvPr id="1061512961" name="Rectangle 1"/>
          <p:cNvSpPr/>
          <p:nvPr/>
        </p:nvSpPr>
        <p:spPr bwMode="auto">
          <a:xfrm>
            <a:off x="5473700" y="2730500"/>
            <a:ext cx="1066800" cy="228600"/>
          </a:xfrm>
          <a:prstGeom prst="rect">
            <a:avLst/>
          </a:prstGeom>
          <a:solidFill>
            <a:srgbClr val="FFFF00">
              <a:alpha val="14902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53810159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144BBB-DA99-4FDF-9E1F-B5EEC68D5D7C}" type="slidenum">
              <a:rPr lang="es-ES_tradnl"/>
              <a:t>79</a:t>
            </a:fld>
            <a:endParaRPr lang="es-ES_tradnl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6401389" name="Title 1"/>
          <p:cNvSpPr txBox="1"/>
          <p:nvPr/>
        </p:nvSpPr>
        <p:spPr bwMode="auto">
          <a:xfrm>
            <a:off x="1940314" y="0"/>
            <a:ext cx="5553306" cy="1293541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>
              <a:lnSpc>
                <a:spcPct val="90000"/>
              </a:lnSpc>
              <a:spcBef>
                <a:spcPts val="0"/>
              </a:spcBef>
              <a:buNone/>
              <a:defRPr sz="44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4100">
                <a:latin typeface="Times New Roman"/>
                <a:cs typeface="Times New Roman"/>
              </a:rPr>
              <a:t>Error Corrected</a:t>
            </a:r>
            <a:endParaRPr lang="en-US" sz="4100">
              <a:solidFill>
                <a:srgbClr val="92D050"/>
              </a:solidFill>
            </a:endParaRPr>
          </a:p>
        </p:txBody>
      </p:sp>
      <p:pic>
        <p:nvPicPr>
          <p:cNvPr id="316060489" name="Picture 5" descr="Graphical user interface, text, application&#10;&#10;Description automatically generated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-5288" y="1293540"/>
            <a:ext cx="9083955" cy="2990135"/>
          </a:xfrm>
          <a:prstGeom prst="rect">
            <a:avLst/>
          </a:prstGeom>
        </p:spPr>
      </p:pic>
      <p:sp>
        <p:nvSpPr>
          <p:cNvPr id="1026674831" name="Rectangle 6"/>
          <p:cNvSpPr/>
          <p:nvPr/>
        </p:nvSpPr>
        <p:spPr bwMode="auto">
          <a:xfrm>
            <a:off x="5828613" y="2837935"/>
            <a:ext cx="1255928" cy="228600"/>
          </a:xfrm>
          <a:prstGeom prst="rect">
            <a:avLst/>
          </a:prstGeom>
          <a:solidFill>
            <a:srgbClr val="FFFF00">
              <a:alpha val="14902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62105965" name="Slide Number Placeholder 1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144BBB-DA99-4FDF-9E1F-B5EEC68D5D7C}" type="slidenum">
              <a:rPr lang="es-ES_tradnl"/>
              <a:t>80</a:t>
            </a:fld>
            <a:endParaRPr lang="es-ES_tradnl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6099881" name="Title 1"/>
          <p:cNvSpPr>
            <a:spLocks noGrp="1"/>
          </p:cNvSpPr>
          <p:nvPr>
            <p:ph type="ctrTitle"/>
          </p:nvPr>
        </p:nvSpPr>
        <p:spPr bwMode="auto">
          <a:xfrm>
            <a:off x="685800" y="1617526"/>
            <a:ext cx="7772400" cy="1006476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>
                <a:latin typeface="Times New Roman"/>
                <a:cs typeface="Times New Roman"/>
              </a:rPr>
              <a:t>Proficiency Assessment</a:t>
            </a:r>
            <a:endParaRPr lang="en-US">
              <a:latin typeface="Times New Roman"/>
              <a:cs typeface="Times New Roman"/>
            </a:endParaRPr>
          </a:p>
        </p:txBody>
      </p:sp>
      <p:sp>
        <p:nvSpPr>
          <p:cNvPr id="200405149" name="Content Placeholder 2"/>
          <p:cNvSpPr>
            <a:spLocks noGrp="1"/>
          </p:cNvSpPr>
          <p:nvPr>
            <p:ph type="subTitle" idx="1"/>
          </p:nvPr>
        </p:nvSpPr>
        <p:spPr bwMode="auto">
          <a:xfrm>
            <a:off x="1143000" y="2716077"/>
            <a:ext cx="6858000" cy="165576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2800">
                <a:latin typeface="Times New Roman"/>
                <a:cs typeface="Times New Roman"/>
              </a:rPr>
              <a:t>Show off your new skills </a:t>
            </a:r>
            <a:r>
              <a:rPr lang="en-US" sz="2800">
                <a:latin typeface="Times New Roman"/>
                <a:cs typeface="Times New Roman"/>
              </a:rPr>
              <a:t>using Google COLAB</a:t>
            </a:r>
            <a:r>
              <a:rPr lang="en-US" sz="2800">
                <a:latin typeface="Times New Roman"/>
                <a:cs typeface="Times New Roman"/>
              </a:rPr>
              <a:t> with a proficiency assessment</a:t>
            </a:r>
            <a:endParaRPr/>
          </a:p>
        </p:txBody>
      </p:sp>
      <p:sp>
        <p:nvSpPr>
          <p:cNvPr id="1523346847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144BBB-DA99-4FDF-9E1F-B5EEC68D5D7C}" type="slidenum">
              <a:rPr lang="es-ES_tradnl"/>
              <a:t>81</a:t>
            </a:fld>
            <a:endParaRPr lang="es-ES_tradnl"/>
          </a:p>
        </p:txBody>
      </p:sp>
      <p:pic>
        <p:nvPicPr>
          <p:cNvPr id="158649906" name="Graphic 5" descr="Skateboard outline"/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 bwMode="auto">
          <a:xfrm rot="1607755">
            <a:off x="1336080" y="979354"/>
            <a:ext cx="6471841" cy="647184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97671" name="Title 1"/>
          <p:cNvSpPr txBox="1"/>
          <p:nvPr/>
        </p:nvSpPr>
        <p:spPr bwMode="auto">
          <a:xfrm>
            <a:off x="0" y="1"/>
            <a:ext cx="9144000" cy="1002272"/>
          </a:xfrm>
          <a:prstGeom prst="rect">
            <a:avLst/>
          </a:prstGeom>
          <a:solidFill>
            <a:srgbClr val="FFFFFF"/>
          </a:solidFill>
          <a:ln w="76200">
            <a:solidFill>
              <a:srgbClr val="FF0000"/>
            </a:solidFill>
          </a:ln>
        </p:spPr>
        <p:txBody>
          <a:bodyPr anchor="ctr">
            <a:noAutofit/>
          </a:bodyPr>
          <a:lstStyle>
            <a:lvl1pPr algn="ctr" defTabSz="914400" rtl="0">
              <a:lnSpc>
                <a:spcPct val="90000"/>
              </a:lnSpc>
              <a:spcBef>
                <a:spcPts val="0"/>
              </a:spcBef>
              <a:buNone/>
              <a:defRPr sz="44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5400">
                <a:latin typeface="Times New Roman"/>
                <a:cs typeface="Times New Roman"/>
              </a:rPr>
              <a:t>Develop a block of code</a:t>
            </a:r>
            <a:endParaRPr lang="en-US" sz="5400">
              <a:solidFill>
                <a:srgbClr val="92D050"/>
              </a:solidFill>
            </a:endParaRPr>
          </a:p>
        </p:txBody>
      </p:sp>
      <p:sp>
        <p:nvSpPr>
          <p:cNvPr id="1683160721" name="TextBox 1"/>
          <p:cNvSpPr txBox="1"/>
          <p:nvPr/>
        </p:nvSpPr>
        <p:spPr bwMode="auto">
          <a:xfrm>
            <a:off x="349570" y="1720840"/>
            <a:ext cx="844486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  <a:defRPr/>
            </a:pPr>
            <a:r>
              <a:rPr lang="en-US" sz="2400" b="1"/>
              <a:t>Find a DNA sequence of your interest using </a:t>
            </a:r>
            <a:r>
              <a:rPr lang="en-US" sz="2400" b="1"/>
              <a:t>Uniprot</a:t>
            </a:r>
            <a:r>
              <a:rPr lang="en-US" sz="2400" b="1"/>
              <a:t> and cross referencing a database. Assign your sequence </a:t>
            </a:r>
            <a:r>
              <a:rPr lang="en-US" sz="2400" b="1"/>
              <a:t>a variable.</a:t>
            </a:r>
            <a:br>
              <a:rPr lang="en-US" sz="2400" b="1"/>
            </a:br>
            <a:endParaRPr lang="en-US" sz="2400" b="1"/>
          </a:p>
          <a:p>
            <a:pPr marL="342900" indent="-342900">
              <a:buFont typeface="+mj-lt"/>
              <a:buAutoNum type="arabicPeriod"/>
              <a:defRPr/>
            </a:pPr>
            <a:r>
              <a:rPr lang="en-US" sz="2400" b="1"/>
              <a:t>Define and return the following functions:</a:t>
            </a:r>
            <a:endParaRPr/>
          </a:p>
          <a:p>
            <a:pPr marL="800100" lvl="1" indent="-342900">
              <a:buFont typeface="+mj-lt"/>
              <a:buAutoNum type="arabicPeriod"/>
              <a:defRPr/>
            </a:pPr>
            <a:r>
              <a:rPr lang="en-US" sz="2400" b="1"/>
              <a:t>Total number of Guanines</a:t>
            </a:r>
            <a:endParaRPr/>
          </a:p>
          <a:p>
            <a:pPr marL="800100" lvl="1" indent="-342900">
              <a:buFont typeface="+mj-lt"/>
              <a:buAutoNum type="arabicPeriod"/>
              <a:defRPr/>
            </a:pPr>
            <a:r>
              <a:rPr lang="en-US" sz="2400" b="1"/>
              <a:t>Total number of Cytosines </a:t>
            </a:r>
            <a:endParaRPr/>
          </a:p>
          <a:p>
            <a:pPr marL="800100" lvl="1" indent="-342900">
              <a:buFont typeface="+mj-lt"/>
              <a:buAutoNum type="arabicPeriod"/>
              <a:defRPr/>
            </a:pPr>
            <a:r>
              <a:rPr lang="en-US" sz="2400" b="1"/>
              <a:t>Total number of Adenines </a:t>
            </a:r>
            <a:endParaRPr/>
          </a:p>
          <a:p>
            <a:pPr marL="800100" lvl="1" indent="-342900">
              <a:buFont typeface="+mj-lt"/>
              <a:buAutoNum type="arabicPeriod"/>
              <a:defRPr/>
            </a:pPr>
            <a:r>
              <a:rPr lang="en-US" sz="2400" b="1"/>
              <a:t>Total number of Uridines</a:t>
            </a:r>
            <a:endParaRPr/>
          </a:p>
          <a:p>
            <a:pPr marL="800100" lvl="1" indent="-342900">
              <a:buFont typeface="+mj-lt"/>
              <a:buAutoNum type="arabicPeriod"/>
              <a:defRPr/>
            </a:pPr>
            <a:r>
              <a:rPr lang="en-US" sz="2400" b="1"/>
              <a:t>A+T/G+C ratio</a:t>
            </a:r>
            <a:endParaRPr/>
          </a:p>
        </p:txBody>
      </p:sp>
      <p:sp>
        <p:nvSpPr>
          <p:cNvPr id="978487802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144BBB-DA99-4FDF-9E1F-B5EEC68D5D7C}" type="slidenum">
              <a:rPr lang="es-ES_tradnl"/>
              <a:t>82</a:t>
            </a:fld>
            <a:endParaRPr lang="es-ES_tradnl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5732881" name="Slide Number Placeholder 1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A144BBB-DA99-4FDF-9E1F-B5EEC68D5D7C}" type="slidenum">
              <a:rPr lang="es-ES_tradnl"/>
              <a:t>83</a:t>
            </a:fld>
            <a:endParaRPr lang="es-ES_tradnl"/>
          </a:p>
        </p:txBody>
      </p:sp>
      <p:pic>
        <p:nvPicPr>
          <p:cNvPr id="1404699851" name="Picture 5" descr="A picture containing text, businesscard, screenshot&#10;&#10;Description automatically generated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31096" y="1462980"/>
            <a:ext cx="7772400" cy="3932039"/>
          </a:xfrm>
          <a:prstGeom prst="rect">
            <a:avLst/>
          </a:prstGeom>
        </p:spPr>
      </p:pic>
      <p:sp>
        <p:nvSpPr>
          <p:cNvPr id="2040285639" name="TextBox 6"/>
          <p:cNvSpPr txBox="1"/>
          <p:nvPr/>
        </p:nvSpPr>
        <p:spPr bwMode="auto">
          <a:xfrm>
            <a:off x="1369663" y="5414339"/>
            <a:ext cx="66952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/>
              <a:t>https://</a:t>
            </a:r>
            <a:r>
              <a:rPr lang="en-US"/>
              <a:t>www.oxfordreference.com</a:t>
            </a:r>
            <a:r>
              <a:rPr lang="en-US"/>
              <a:t>/display/10.1093/</a:t>
            </a:r>
            <a:r>
              <a:rPr lang="en-US"/>
              <a:t>acref</a:t>
            </a:r>
            <a:r>
              <a:rPr lang="en-US"/>
              <a:t>/9780198529170.001.0001/acref-9780198529170-e-1681</a:t>
            </a:r>
            <a:endParaRPr/>
          </a:p>
        </p:txBody>
      </p:sp>
      <p:sp>
        <p:nvSpPr>
          <p:cNvPr id="762330648" name="Title 1"/>
          <p:cNvSpPr txBox="1"/>
          <p:nvPr/>
        </p:nvSpPr>
        <p:spPr bwMode="auto">
          <a:xfrm>
            <a:off x="0" y="1"/>
            <a:ext cx="9144000" cy="1318219"/>
          </a:xfrm>
          <a:prstGeom prst="rect">
            <a:avLst/>
          </a:prstGeom>
          <a:solidFill>
            <a:srgbClr val="FFFFFF"/>
          </a:solidFill>
          <a:ln w="76200">
            <a:solidFill>
              <a:srgbClr val="FF0000"/>
            </a:solidFill>
          </a:ln>
        </p:spPr>
        <p:txBody>
          <a:bodyPr anchor="ctr">
            <a:noAutofit/>
          </a:bodyPr>
          <a:lstStyle>
            <a:lvl1pPr algn="ctr" defTabSz="914400" rtl="0">
              <a:lnSpc>
                <a:spcPct val="90000"/>
              </a:lnSpc>
              <a:spcBef>
                <a:spcPts val="0"/>
              </a:spcBef>
              <a:buNone/>
              <a:defRPr sz="44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3600">
                <a:latin typeface="Times New Roman"/>
                <a:cs typeface="Times New Roman"/>
              </a:rPr>
              <a:t>Define a function that calculates the A+T/G+C ratio of your sequence of interest</a:t>
            </a:r>
            <a:endParaRPr lang="en-US" sz="3600">
              <a:solidFill>
                <a:srgbClr val="92D05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ONLYOFFICE/9.2.1.43</Application>
  <PresentationFormat>On-screen Show (4:3)</PresentationFormat>
  <Paragraphs>0</Paragraphs>
  <Slides>83</Slides>
  <Notes>83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83</vt:i4>
      </vt:variant>
    </vt:vector>
  </HeadingPairs>
  <TitlesOfParts>
    <vt:vector size="84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Linux Part 1 – Boqueron Cluster Operating System for Bioinformatics &amp; Computation</dc:title>
  <dc:creator>Luis</dc:creator>
  <cp:lastModifiedBy/>
  <cp:revision>718</cp:revision>
  <dcterms:created xsi:type="dcterms:W3CDTF">2020-04-10T16:54:11Z</dcterms:created>
  <dcterms:modified xsi:type="dcterms:W3CDTF">2026-05-31T12:07:48Z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8623a7f-4aec-4980-abf7-42194908fdf7_Enabled">
    <vt:lpwstr>true</vt:lpwstr>
  </property>
  <property fmtid="{D5CDD505-2E9C-101B-9397-08002B2CF9AE}" pid="3" name="MSIP_Label_e8623a7f-4aec-4980-abf7-42194908fdf7_SetDate">
    <vt:lpwstr>2021-04-20T17:13:23Z</vt:lpwstr>
  </property>
  <property fmtid="{D5CDD505-2E9C-101B-9397-08002B2CF9AE}" pid="4" name="MSIP_Label_e8623a7f-4aec-4980-abf7-42194908fdf7_Method">
    <vt:lpwstr>Privileged</vt:lpwstr>
  </property>
  <property fmtid="{D5CDD505-2E9C-101B-9397-08002B2CF9AE}" pid="5" name="MSIP_Label_e8623a7f-4aec-4980-abf7-42194908fdf7_Name">
    <vt:lpwstr>e8623a7f-4aec-4980-abf7-42194908fdf7</vt:lpwstr>
  </property>
  <property fmtid="{D5CDD505-2E9C-101B-9397-08002B2CF9AE}" pid="6" name="MSIP_Label_e8623a7f-4aec-4980-abf7-42194908fdf7_SiteId">
    <vt:lpwstr>c82f2d55-67d0-4a4a-8820-2f84a18c1cdd</vt:lpwstr>
  </property>
  <property fmtid="{D5CDD505-2E9C-101B-9397-08002B2CF9AE}" pid="7" name="MSIP_Label_e8623a7f-4aec-4980-abf7-42194908fdf7_ActionId">
    <vt:lpwstr>3975b9af-1725-4771-984d-86db00b522ee</vt:lpwstr>
  </property>
  <property fmtid="{D5CDD505-2E9C-101B-9397-08002B2CF9AE}" pid="8" name="MSIP_Label_e8623a7f-4aec-4980-abf7-42194908fdf7_ContentBits">
    <vt:lpwstr>0</vt:lpwstr>
  </property>
</Properties>
</file>